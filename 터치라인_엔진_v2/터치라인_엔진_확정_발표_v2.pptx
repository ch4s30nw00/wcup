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계산식 담당입니다. 지난번에 급하게 만든 확률 엔진 있잖아요, 그걸 이번에 축구 분석 문헌을 근거로 제대로 다시 정리해 왔습니다. 오늘은 어떤 산식을 왜, 어떻게 바꾸는지 공유하고, 특히 데이터·프론트 담당이 뭘 해줘야 하는지까지 정리했어요. 10분이면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결론부터요. 지금 엔진은 곱셈식으로 잘 굴러가긴 하는데, 밸런싱 근거가 없어서 숫자를 감으로 넣고 있었어요. 그래서 6개 메커닉을 검증된 형태로 다시 정의했고, 여기 다섯 개는 확정, 하나는 솔직하게 공백으로 남겼습니다. 슛은 로지스틱 xG로, 패스는 리시버 압박 중심으로, 드리블은 1대1 기하 중심으로, 시퀀스는 판정과 보상을 분리, 매칭은 그대로 두고 σ만 확정. 공백은 FM 능력치 매핑인데 이건 뒤에서 설명할게요. 하나씩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손대냐. 세 가지 갭이 있었어요. 첫째, 베이스라인 이탈. 슛·패스가 곱셈식인데 축구 분석의 xG는 로지스틱이 표준 베이스라인이에요. 그래서 페널티 0.76 같은 앵커에 맞출 지점이 없어 밸런싱이 감이었죠. 둘째, 근거 없는 상수. SHOT_SCALE 2.2, GK 제외 같은 게 다 터져서 또는 짜서 넣은 임의값이었어요. 셋째, 스펙과 구현이 따로 놀았어요. 중요한 건, UI 계약은 안 건드리니까 프론트 화면은 안 깨집니다. 엔진 속만 갈아끼우는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근거는 감이 아니라 딥리서치로 잡았어요. 6개 앵글로 나눠서 26개 소스를 읽고, 108개 주장을 뽑은 다음, 각 주장을 3표 적대적 검증에 돌렸습니다. 2대1로 반박되면 버리는 식으로요. 그래서 23개만 살아남았어요. 핵심 철학은 검증된 형태만 이식한다 — 최신 프로 모델은 복잡한 부스팅이지만 우리는 순수 클라이언트라 그 로지스틱 베이스라인만 가져오고, 계수는 우리 피치에 맞춰 다시 맞췄습니다.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문헌이 뭐라고 했는지 한 표로 정리하면 이렇습니다. 슛은 거리·각도 로지스틱. 패스는 거리보다 리시버 근처 수비가 더 중요하다는 게 핵심 발견이었어요. 드리블은 사실 예측이 잘 안 되고 개인 능력보다 간격·압박이 좌우한다. 시퀀스는 그냥 곱하면 안 되고 가치를 더하는 방식. 매칭은 가우시안 커널. FM 매핑만 근거를 못 찾았어요. 이건 정직하게 공백으로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확정하면서 세 가지 원칙을 잡았어요. 하나, 로그오즈에서 더한다 — 이게 뭔지는 바로 다음 세 장에서 쉽게 설명할게요. 둘, 기하가 능력치를 이긴다 — 스탯보다 위치·간격이 결과를 좌우하게. 셋, 판정과 보상을 분리한다 — 성공 여부는 정직하게, 좋은 설계는 따로 보상. 이 세 개가 뒤에 나올 모든 산식의 뼈대예요.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로그오즈. 이름 어려운데 쉽게 갈게요. 확률은 0에서 100퍼센트라는 좁은 방에 갇혀 있어요. 근데 여기다 스킬 플러스 30, 수비 마이너스 50 이렇게 직접 더하면 120퍼센트나 마이너스가 나와서 벽을 뚫어버려요. 확률은 직접 더하면 안 되는 거죠. 그래서 세 단계로 합니다. 하나, 확률을 무한대로 뻗은 점수판으로 옮겨요 — 이게 로그오즈. 둘, 거기서 거리·각도·스킬·수비를 마음껏 점수로 더하고 빼요. 벽이 없으니까 안 터져요. 셋, 마지막에 S커브가 그 총점을 다시 0에서 100퍼센트로 접어줘요. 한마디로 로그오즈는 계산하려고 잠깐 갈아입는 작업복입니다.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S커브가 이렇게 생겼어요. 가로축이 우리가 더한 총점, 세로축이 실제 골 확률입니다. 세 가지만 보세요. 가운데는 가팔라요 — 총점이 0, 즉 반반일 땐 작은 점수차가 확률을 확 흔들어요. 양끝은 평평해요 — 이미 유리하거나 불리하면 더 밀어도 잘 안 변해요. 그리고 끝에 닿지는 않아요 — 아무리 유리해도 100, 아무리 불리해도 0은 안 돼요. 축구로 보면 페널티는 오른쪽 끝 76퍼센트, 40미터 슛은 왼쪽 끝 3퍼센트, 박스 안 1대1은 딱 가운데 반반인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산식에 β가 잔뜩 나올 텐데, 그 전에 하나만 짚을게요. 우리 숫자는 두 종류예요. 하나는 변수 — 거리, 각도, 슈터 실력, 수비수 위치. 이건 슛마다 매번 바뀝니다. 다른 하나는 계수, 즉 가중치 — 각 요소가 얼마나 중요한지의 규칙이에요. 시험으로 치면, 누가 몇 점 맞았냐는 학생마다 다른 변수고, 이 문제 5점이라는 배점은 모두에게 같은 상수죠. 배점을 학생마다 바꾸면 시험이 아니잖아요. 그래서 β는 고정입니다. 참고로 이 β도 원래는 데이터로 학습하는 값인데 우리는 데이터가 없어서 손으로 맞춰뒀고, 플레이테스트로 조정할 거예요. 수비 반경처럼 원래 선수마다 달라야 하는 건 tackle 스탯 들어오면 변수로 승격할 거고요.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기호가 처음이면 헷갈리니까 하나씩 읽어드릴게요. 왼쪽이 변수예요. D는 골대까지 거리, 멀수록 불리. 세타는 골대가 벌어져 보이는 각도, 정면일수록 커서 유리. S_eff는 슈터 실력. d_i는 수비수가 슛 길에서 얼마나 떨어졌나. 괄호 친 S_gk는 키퍼 실력인데 아직 도입 검토 중이고요. 오른쪽이 계수예요. 베타 제로는 전체 난이도 손잡이. 베타 디스트 마이너스 0.2는 거리 1미터당 깎는 양. 베타 앵글은 각도 보너스. 베타 스킬은 슈터 실력 반영 세기. 베타 블록은 수비가 붙었을 때 깎는 세기. R 블록은 수비가 위협으로 잡히는 반경이에요. 이것만 알면 다음 산식들이 다 읽힙니다.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산식입니다. 슛부터요. 거리, 각도, 슈터 스킬, 블로커를 전부 아까 그 점수판에 더하고 시그모이드 한 번 씌웁니다. 계수는 우리 피치 앵커로 맞췄어요 — 6미터 정면 55퍼센트, 11미터 20퍼센트, 박스 가장자리 6퍼센트, 문헌값이랑 딱 맞아요. 두 가지 정리 포인트. GK를 블로커에서 빼는데, 이건 꼼수가 아니라 로지스틱 xG가 이미 평균 키퍼를 포함한 값이라 이중계산 방지예요. 그리고 SHOT_SCALE은 이제 필요 없어요, 절편이 기본 확률을 직접 정하니까요.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패스. 여기가 리서치에서 제일 크게 배운 부분인데, 완성률을 좌우하는 건 패스 거리가 아니라 받는 사람 근처에 수비가 있냐예요. 그래서 리시버 압박 항에 큰 가중을 줬어요. 무압박 중거리는 75퍼센트인데, 받는 위치에 수비가 딱 붙으면 34퍼센트까지 떨어져요. 곡선 패스는 호가 길어지는 만큼 자연히 페널티가 붙고요.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드리블은 원래 스펙에 아예 없던 걸 새로 정식화했어요. 리서치 보니 1대1은 예측이 잘 안 되고, 개인 능력보다 수비수와의 간격이 결과를 좌우해요. 그래서 노이즈를 크게 두고, 근접 1대1은 딱 반반 정도로 맞췄어요. 능력치는 살짝 얹는 정도. 수비수랑 멀어질수록 성공률이 올라가는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수비 압박은 모든 액션이 공통으로 쓰는 부품이에요. 예전엔 반경 안이냐 밖이냐 이진 판정이었는데, 이제 거리에 따라 부드럽게 줄어드는 연속 함수로 통일했어요. 가까울수록 페널티가 커지는 게 자동 보장돼서, 예전 방향 버그도 이걸로 해결됐고요. 나중에 tackle 스탯 생기면 여기에 곱하면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시퀀스, 아까 원칙 3번이에요. 여러 액션을 이었을 때 그냥 확률을 다 곱하면 긴 전개는 무조건 손해가 돼요. 0.7을 다섯 번 곱하면 17퍼센트밖에 안 되니까요. 그런데 이건 액션들이 서로 독립이라고 가정한 거예요. 실제론 앞 플레이가 성공하면 수비가 흔들려서 다음이 더 쉬워지잖아요. 그래서 수비 붕괴 계수라는 걸 넣었어요. 연속 성공이 쌓일수록 다음 액션 성공률을 조금씩 올려주는 겁니다. 예전처럼 억지로 지수를 씌워 뭉개는 게 아니라, 실제 메커니즘에 묶인 보정이에요. 그리고 좋은 설계에 대한 보상은 따로, xT라는 가치 점수로 줍니다. 전진 가치를 더하는 방식이라 실패해도 잘 만든 전개는 점수를 받아요. 계수 값은 플레이테스트로 조정할 거고요.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궤적 매칭은 정답 궤적이랑 얼마나 비슷한지 채점하는 건데, 표준 가우시안 커널 그대로예요. σ를 3미터로 확정했어요 — 2미터 벗어나면 80점, 5미터 벗어나면 25점 정도. 함수는 이미 짜여 있고 UI 연결만 남았어요. 안정환 골든골 재현 같은 튜토리얼에 쓸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뭘 어떻게 바꾸는지 한 표로. 슛·패스는 재작성, 드리블은 계수 재조정, 수비압박은 통일, 시퀀스는 분리하고 xT 추가, 매칭은 연결, 그리고 전역 클램프 추가. 담당 열 보시면 대부분 계산·프론트 협업이에요. 다음 장에서 담당별로 정리해 드릴게요.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숫자는 이 constants 파일 하나에 모았어요. 매직넘버를 코드 여기저기 흩지 말고 여기서만 만지자는 거고, 전부 밸런싱 대상이라 플레이테스트하면서 조정하면 됩니다. 프론트는 이 값만 가져다 쓰면 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제일 중요한 장이에요. 데이터 담당은 스탯 다섯 개 추가해 주세요 — vision, tackle, technique, finishing과 heading, dribbling. 그리고 아까 얘기 나온 골키핑 스탯도요. 지금은 임시로 다른 스탯 돌려막기 중이라 이것만 들어오면 정식 항이 켜져요. 프론트 담당은 resolve.js 함수 세 개 교체 — 시그니처 안 바뀌니 UI는 그대로고, 매칭 UI 연결이랑 설계 점수 표시. 저는 constants 반영이랑 xT 그리드, 밸런싱 담당할게요. 로드맵은 제출 전 필수, 차기, 데이터 대기로 나눠뒀습니다.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정직하게 남기는 한계. FM 능력치 매핑은 근거를 못 찾아서 하한값은 그냥 게임 디자인 선택으로 뒀어요. 드리블 리그 평균치도 정확한 건 못 구했고, xG 계수도 논문 복붙이 아니라 우리 피치에 맞춘 거라 플레이테스트로 조정해야 해요. 출처는 여기 정리돼 있고 다 3표 검증 통과한 것들입니다. 질문 받을게요.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p:bgPr>
    </p:bg>
    <p:spTree>
      <p:nvGrpSpPr>
        <p:cNvPr id="1" name=""/>
        <p:cNvGrpSpPr/>
        <p:nvPr/>
      </p:nvGrpSpPr>
      <p:grpSpPr>
        <a:xfrm>
          <a:off x="0" y="0"/>
          <a:ext cx="0" cy="0"/>
          <a:chOff x="0" y="0"/>
          <a:chExt cx="0" cy="0"/>
        </a:xfrm>
      </p:grpSpPr>
      <p:sp>
        <p:nvSpPr>
          <p:cNvPr id="3" name="Shape 0"/>
          <p:cNvSpPr/>
          <p:nvPr/>
        </p:nvSpPr>
        <p:spPr>
          <a:xfrm>
            <a:off x="0" y="0"/>
            <a:ext cx="12191695" cy="146304"/>
          </a:xfrm>
          <a:prstGeom prst="rect">
            <a:avLst/>
          </a:prstGeom>
          <a:solidFill>
            <a:srgbClr val="0F6F5C"/>
          </a:solidFill>
          <a:ln/>
        </p:spPr>
      </p:sp>
      <p:sp>
        <p:nvSpPr>
          <p:cNvPr id="4" name="Shape 1"/>
          <p:cNvSpPr/>
          <p:nvPr/>
        </p:nvSpPr>
        <p:spPr>
          <a:xfrm>
            <a:off x="0" y="6711696"/>
            <a:ext cx="12191695" cy="146304"/>
          </a:xfrm>
          <a:prstGeom prst="rect">
            <a:avLst/>
          </a:prstGeom>
          <a:solidFill>
            <a:srgbClr val="0F6F5C"/>
          </a:solidFill>
          <a:ln/>
        </p:spPr>
      </p:sp>
      <p:sp>
        <p:nvSpPr>
          <p:cNvPr id="5" name="Text 2"/>
          <p:cNvSpPr/>
          <p:nvPr/>
        </p:nvSpPr>
        <p:spPr>
          <a:xfrm>
            <a:off x="566928" y="1828800"/>
            <a:ext cx="10972800" cy="365760"/>
          </a:xfrm>
          <a:prstGeom prst="rect">
            <a:avLst/>
          </a:prstGeom>
          <a:noFill/>
          <a:ln/>
        </p:spPr>
        <p:txBody>
          <a:bodyPr wrap="square" rtlCol="0" anchor="ctr"/>
          <a:lstStyle/>
          <a:p>
            <a:pPr indent="0" marL="0">
              <a:buNone/>
            </a:pPr>
            <a:r>
              <a:rPr lang="en-US" sz="1600" b="1" spc="300" kern="0" dirty="0">
                <a:solidFill>
                  <a:srgbClr val="0F6F5C"/>
                </a:solidFill>
                <a:latin typeface="맑은 고딕" pitchFamily="34" charset="0"/>
                <a:ea typeface="맑은 고딕" pitchFamily="34" charset="-122"/>
                <a:cs typeface="맑은 고딕" pitchFamily="34" charset="-120"/>
              </a:rPr>
              <a:t>⚽  터치라인  ·  TOUCHLINE</a:t>
            </a:r>
            <a:endParaRPr lang="en-US" sz="1600" dirty="0"/>
          </a:p>
        </p:txBody>
      </p:sp>
      <p:sp>
        <p:nvSpPr>
          <p:cNvPr id="6" name="Text 3"/>
          <p:cNvSpPr/>
          <p:nvPr/>
        </p:nvSpPr>
        <p:spPr>
          <a:xfrm>
            <a:off x="566928" y="2286000"/>
            <a:ext cx="11155680" cy="914400"/>
          </a:xfrm>
          <a:prstGeom prst="rect">
            <a:avLst/>
          </a:prstGeom>
          <a:noFill/>
          <a:ln/>
        </p:spPr>
        <p:txBody>
          <a:bodyPr wrap="square" rtlCol="0" anchor="ctr"/>
          <a:lstStyle/>
          <a:p>
            <a:pPr indent="0" marL="0">
              <a:buNone/>
            </a:pPr>
            <a:r>
              <a:rPr lang="en-US" sz="4400" b="1" dirty="0">
                <a:solidFill>
                  <a:srgbClr val="FFFFFF"/>
                </a:solidFill>
                <a:latin typeface="맑은 고딕" pitchFamily="34" charset="0"/>
                <a:ea typeface="맑은 고딕" pitchFamily="34" charset="-122"/>
                <a:cs typeface="맑은 고딕" pitchFamily="34" charset="-120"/>
              </a:rPr>
              <a:t>확률 엔진 — 산식 확정</a:t>
            </a:r>
            <a:endParaRPr lang="en-US" sz="4400" dirty="0"/>
          </a:p>
        </p:txBody>
      </p:sp>
      <p:sp>
        <p:nvSpPr>
          <p:cNvPr id="7" name="Text 4"/>
          <p:cNvSpPr/>
          <p:nvPr/>
        </p:nvSpPr>
        <p:spPr>
          <a:xfrm>
            <a:off x="566928" y="3246120"/>
            <a:ext cx="10972800" cy="457200"/>
          </a:xfrm>
          <a:prstGeom prst="rect">
            <a:avLst/>
          </a:prstGeom>
          <a:noFill/>
          <a:ln/>
        </p:spPr>
        <p:txBody>
          <a:bodyPr wrap="square" rtlCol="0" anchor="ctr"/>
          <a:lstStyle/>
          <a:p>
            <a:pPr indent="0" marL="0">
              <a:buNone/>
            </a:pPr>
            <a:r>
              <a:rPr lang="en-US" sz="1800" dirty="0">
                <a:solidFill>
                  <a:srgbClr val="D6E3DE"/>
                </a:solidFill>
                <a:latin typeface="맑은 고딕" pitchFamily="34" charset="0"/>
                <a:ea typeface="맑은 고딕" pitchFamily="34" charset="-122"/>
                <a:cs typeface="맑은 고딕" pitchFamily="34" charset="-120"/>
              </a:rPr>
              <a:t>축구 분석 문헌 기반 재산출  </a:t>
            </a:r>
            <a:pPr indent="0" marL="0">
              <a:buNone/>
            </a:pPr>
            <a:r>
              <a:rPr lang="en-US" sz="1800" b="1" dirty="0">
                <a:solidFill>
                  <a:srgbClr val="0F6F5C"/>
                </a:solidFill>
                <a:latin typeface="맑은 고딕" pitchFamily="34" charset="0"/>
                <a:ea typeface="맑은 고딕" pitchFamily="34" charset="-122"/>
                <a:cs typeface="맑은 고딕" pitchFamily="34" charset="-120"/>
              </a:rPr>
              <a:t>v2</a:t>
            </a:r>
            <a:endParaRPr lang="en-US" sz="1800" dirty="0"/>
          </a:p>
        </p:txBody>
      </p:sp>
      <p:sp>
        <p:nvSpPr>
          <p:cNvPr id="8" name="Text 5"/>
          <p:cNvSpPr/>
          <p:nvPr/>
        </p:nvSpPr>
        <p:spPr>
          <a:xfrm>
            <a:off x="566928" y="3703320"/>
            <a:ext cx="10972800" cy="365760"/>
          </a:xfrm>
          <a:prstGeom prst="rect">
            <a:avLst/>
          </a:prstGeom>
          <a:noFill/>
          <a:ln/>
        </p:spPr>
        <p:txBody>
          <a:bodyPr wrap="square" rtlCol="0" anchor="ctr"/>
          <a:lstStyle/>
          <a:p>
            <a:pPr indent="0" marL="0">
              <a:buNone/>
            </a:pPr>
            <a:r>
              <a:rPr lang="en-US" sz="1300" dirty="0">
                <a:solidFill>
                  <a:srgbClr val="8A94A6"/>
                </a:solidFill>
                <a:latin typeface="맑은 고딕" pitchFamily="34" charset="0"/>
                <a:ea typeface="맑은 고딕" pitchFamily="34" charset="-122"/>
                <a:cs typeface="맑은 고딕" pitchFamily="34" charset="-120"/>
              </a:rPr>
              <a:t>확정 기준: 현 구현 (120×80 가상피치 · 0~100 스탯)</a:t>
            </a:r>
            <a:endParaRPr lang="en-US" sz="1300" dirty="0"/>
          </a:p>
        </p:txBody>
      </p:sp>
      <p:sp>
        <p:nvSpPr>
          <p:cNvPr id="9" name="Shape 6"/>
          <p:cNvSpPr/>
          <p:nvPr/>
        </p:nvSpPr>
        <p:spPr>
          <a:xfrm>
            <a:off x="566928" y="4937760"/>
            <a:ext cx="3657600" cy="0"/>
          </a:xfrm>
          <a:prstGeom prst="line">
            <a:avLst/>
          </a:prstGeom>
          <a:noFill/>
          <a:ln w="12700">
            <a:solidFill>
              <a:srgbClr val="3A4A55"/>
            </a:solidFill>
            <a:prstDash val="solid"/>
          </a:ln>
        </p:spPr>
      </p:sp>
      <p:sp>
        <p:nvSpPr>
          <p:cNvPr id="10" name="Text 7"/>
          <p:cNvSpPr/>
          <p:nvPr/>
        </p:nvSpPr>
        <p:spPr>
          <a:xfrm>
            <a:off x="566928" y="5074920"/>
            <a:ext cx="10972800" cy="640080"/>
          </a:xfrm>
          <a:prstGeom prst="rect">
            <a:avLst/>
          </a:prstGeom>
          <a:noFill/>
          <a:ln/>
        </p:spPr>
        <p:txBody>
          <a:bodyPr wrap="square" rtlCol="0" anchor="ctr"/>
          <a:lstStyle/>
          <a:p>
            <a:pPr indent="0" marL="0">
              <a:buNone/>
            </a:pPr>
            <a:r>
              <a:rPr lang="en-US" sz="1300" b="1" dirty="0">
                <a:solidFill>
                  <a:srgbClr val="D6E3DE"/>
                </a:solidFill>
                <a:latin typeface="맑은 고딕" pitchFamily="34" charset="0"/>
                <a:ea typeface="맑은 고딕" pitchFamily="34" charset="-122"/>
                <a:cs typeface="맑은 고딕" pitchFamily="34" charset="-120"/>
              </a:rPr>
              <a:t>계산식 담당</a:t>
            </a:r>
            <a:endParaRPr lang="en-US" sz="1300" dirty="0"/>
          </a:p>
          <a:p>
            <a:pPr indent="0" marL="0">
              <a:buNone/>
            </a:pPr>
            <a:r>
              <a:rPr lang="en-US" sz="1100" dirty="0">
                <a:solidFill>
                  <a:srgbClr val="8A94A6"/>
                </a:solidFill>
                <a:latin typeface="맑은 고딕" pitchFamily="34" charset="0"/>
                <a:ea typeface="맑은 고딕" pitchFamily="34" charset="-122"/>
                <a:cs typeface="맑은 고딕" pitchFamily="34" charset="-120"/>
              </a:rPr>
              <a:t>2026-07-18  ·  DAKER 월간 해커톤 「내가 축구 감독이라면」</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EXECUTIVE SUMMARY</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한 장 요약 — 확정 5 + 공백 1</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71600"/>
            <a:ext cx="11057839" cy="731520"/>
          </a:xfrm>
          <a:prstGeom prst="rect">
            <a:avLst/>
          </a:prstGeom>
          <a:noFill/>
          <a:ln/>
        </p:spPr>
        <p:txBody>
          <a:bodyPr wrap="square" rtlCol="0" anchor="ctr"/>
          <a:lstStyle/>
          <a:p>
            <a:pPr indent="0" marL="0">
              <a:lnSpc>
                <a:spcPct val="110000"/>
              </a:lnSpc>
              <a:buNone/>
            </a:pPr>
            <a:r>
              <a:rPr lang="en-US" sz="1350" b="1" dirty="0">
                <a:solidFill>
                  <a:srgbClr val="15202B"/>
                </a:solidFill>
                <a:latin typeface="맑은 고딕" pitchFamily="34" charset="0"/>
                <a:ea typeface="맑은 고딕" pitchFamily="34" charset="-122"/>
                <a:cs typeface="맑은 고딕" pitchFamily="34" charset="-120"/>
              </a:rPr>
              <a:t>현 구현은 "곱셈식 임시 엔진"으로 잘 돌아가지만, xG 학계 표준 베이스라인(로지스틱)·분야 공통 출력구조(로그오즈→σ)와 어긋나고 밸런싱 근거가 없다.</a:t>
            </a:r>
            <a:endParaRPr lang="en-US" sz="1350" dirty="0"/>
          </a:p>
          <a:p>
            <a:pPr indent="0" marL="0">
              <a:lnSpc>
                <a:spcPct val="110000"/>
              </a:lnSpc>
              <a:buNone/>
            </a:pPr>
            <a:r>
              <a:rPr lang="en-US" sz="1200" dirty="0">
                <a:solidFill>
                  <a:srgbClr val="5B5B6B"/>
                </a:solidFill>
                <a:latin typeface="맑은 고딕" pitchFamily="34" charset="0"/>
                <a:ea typeface="맑은 고딕" pitchFamily="34" charset="-122"/>
                <a:cs typeface="맑은 고딕" pitchFamily="34" charset="-120"/>
              </a:rPr>
              <a:t>→ 검증된 함수 형태로 6개 메커닉을 재정의하고, 우리 피치·스탯에 맞춰 앵커 캘리브레이션으로 계수를 확정.</a:t>
            </a:r>
            <a:endParaRPr lang="en-US" sz="1350" dirty="0"/>
          </a:p>
        </p:txBody>
      </p:sp>
      <p:sp>
        <p:nvSpPr>
          <p:cNvPr id="7" name="Shape 5"/>
          <p:cNvSpPr/>
          <p:nvPr/>
        </p:nvSpPr>
        <p:spPr>
          <a:xfrm>
            <a:off x="566928" y="2286000"/>
            <a:ext cx="11057839" cy="566928"/>
          </a:xfrm>
          <a:prstGeom prst="rect">
            <a:avLst>
              <a:gd name="adj" fmla="val 12903"/>
            </a:avLst>
          </a:prstGeom>
          <a:solidFill>
            <a:srgbClr val="F4F7F6"/>
          </a:solidFill>
          <a:ln w="12700">
            <a:solidFill>
              <a:srgbClr val="E1E7E4"/>
            </a:solidFill>
            <a:prstDash val="solid"/>
          </a:ln>
        </p:spPr>
      </p:sp>
      <p:sp>
        <p:nvSpPr>
          <p:cNvPr id="8" name="Shape 6"/>
          <p:cNvSpPr/>
          <p:nvPr/>
        </p:nvSpPr>
        <p:spPr>
          <a:xfrm>
            <a:off x="566928" y="2286000"/>
            <a:ext cx="1371600" cy="566928"/>
          </a:xfrm>
          <a:prstGeom prst="rect">
            <a:avLst>
              <a:gd name="adj" fmla="val 12903"/>
            </a:avLst>
          </a:prstGeom>
          <a:solidFill>
            <a:srgbClr val="0F6F5C"/>
          </a:solidFill>
          <a:ln/>
        </p:spPr>
      </p:sp>
      <p:sp>
        <p:nvSpPr>
          <p:cNvPr id="9" name="Text 7"/>
          <p:cNvSpPr/>
          <p:nvPr/>
        </p:nvSpPr>
        <p:spPr>
          <a:xfrm>
            <a:off x="566928" y="2286000"/>
            <a:ext cx="137160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슈팅</a:t>
            </a:r>
            <a:endParaRPr lang="en-US" sz="1300" dirty="0"/>
          </a:p>
        </p:txBody>
      </p:sp>
      <p:sp>
        <p:nvSpPr>
          <p:cNvPr id="10" name="Text 8"/>
          <p:cNvSpPr/>
          <p:nvPr/>
        </p:nvSpPr>
        <p:spPr>
          <a:xfrm>
            <a:off x="2121408" y="2286000"/>
            <a:ext cx="9320479" cy="566928"/>
          </a:xfrm>
          <a:prstGeom prst="rect">
            <a:avLst/>
          </a:prstGeom>
          <a:noFill/>
          <a:ln/>
        </p:spPr>
        <p:txBody>
          <a:bodyPr wrap="square" rtlCol="0" anchor="ctr"/>
          <a:lstStyle/>
          <a:p>
            <a:pPr indent="0" marL="0">
              <a:buNone/>
            </a:pPr>
            <a:r>
              <a:rPr lang="en-US" sz="1150" dirty="0">
                <a:solidFill>
                  <a:srgbClr val="15202B"/>
                </a:solidFill>
                <a:latin typeface="맑은 고딕" pitchFamily="34" charset="0"/>
                <a:ea typeface="맑은 고딕" pitchFamily="34" charset="-122"/>
                <a:cs typeface="맑은 고딕" pitchFamily="34" charset="-120"/>
              </a:rPr>
              <a:t>곱셈식 → 로지스틱 xG. 거리·각도 로그오즈, 페널티 0.76 앵커. SHOT_SCALE·GK 하드코드 제거·근거화.</a:t>
            </a:r>
            <a:endParaRPr lang="en-US" sz="1150" dirty="0"/>
          </a:p>
        </p:txBody>
      </p:sp>
      <p:sp>
        <p:nvSpPr>
          <p:cNvPr id="11" name="Shape 9"/>
          <p:cNvSpPr/>
          <p:nvPr/>
        </p:nvSpPr>
        <p:spPr>
          <a:xfrm>
            <a:off x="566928" y="2926080"/>
            <a:ext cx="11057839" cy="566928"/>
          </a:xfrm>
          <a:prstGeom prst="rect">
            <a:avLst>
              <a:gd name="adj" fmla="val 12903"/>
            </a:avLst>
          </a:prstGeom>
          <a:solidFill>
            <a:srgbClr val="F4F7F6"/>
          </a:solidFill>
          <a:ln w="12700">
            <a:solidFill>
              <a:srgbClr val="E1E7E4"/>
            </a:solidFill>
            <a:prstDash val="solid"/>
          </a:ln>
        </p:spPr>
      </p:sp>
      <p:sp>
        <p:nvSpPr>
          <p:cNvPr id="12" name="Shape 10"/>
          <p:cNvSpPr/>
          <p:nvPr/>
        </p:nvSpPr>
        <p:spPr>
          <a:xfrm>
            <a:off x="566928" y="2926080"/>
            <a:ext cx="1371600" cy="566928"/>
          </a:xfrm>
          <a:prstGeom prst="rect">
            <a:avLst>
              <a:gd name="adj" fmla="val 12903"/>
            </a:avLst>
          </a:prstGeom>
          <a:solidFill>
            <a:srgbClr val="0F6F5C"/>
          </a:solidFill>
          <a:ln/>
        </p:spPr>
      </p:sp>
      <p:sp>
        <p:nvSpPr>
          <p:cNvPr id="13" name="Text 11"/>
          <p:cNvSpPr/>
          <p:nvPr/>
        </p:nvSpPr>
        <p:spPr>
          <a:xfrm>
            <a:off x="566928" y="2926080"/>
            <a:ext cx="137160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패스</a:t>
            </a:r>
            <a:endParaRPr lang="en-US" sz="1300" dirty="0"/>
          </a:p>
        </p:txBody>
      </p:sp>
      <p:sp>
        <p:nvSpPr>
          <p:cNvPr id="14" name="Text 12"/>
          <p:cNvSpPr/>
          <p:nvPr/>
        </p:nvSpPr>
        <p:spPr>
          <a:xfrm>
            <a:off x="2121408" y="2926080"/>
            <a:ext cx="9320479" cy="566928"/>
          </a:xfrm>
          <a:prstGeom prst="rect">
            <a:avLst/>
          </a:prstGeom>
          <a:noFill/>
          <a:ln/>
        </p:spPr>
        <p:txBody>
          <a:bodyPr wrap="square" rtlCol="0" anchor="ctr"/>
          <a:lstStyle/>
          <a:p>
            <a:pPr indent="0" marL="0">
              <a:buNone/>
            </a:pPr>
            <a:r>
              <a:rPr lang="en-US" sz="1150" dirty="0">
                <a:solidFill>
                  <a:srgbClr val="15202B"/>
                </a:solidFill>
                <a:latin typeface="맑은 고딕" pitchFamily="34" charset="0"/>
                <a:ea typeface="맑은 고딕" pitchFamily="34" charset="-122"/>
                <a:cs typeface="맑은 고딕" pitchFamily="34" charset="-120"/>
              </a:rPr>
              <a:t>거리 중심 → 리시버 근접 수비가 지배하는 로그오즈. 무압박 중거리 기준 0.75.</a:t>
            </a:r>
            <a:endParaRPr lang="en-US" sz="1150" dirty="0"/>
          </a:p>
        </p:txBody>
      </p:sp>
      <p:sp>
        <p:nvSpPr>
          <p:cNvPr id="15" name="Shape 13"/>
          <p:cNvSpPr/>
          <p:nvPr/>
        </p:nvSpPr>
        <p:spPr>
          <a:xfrm>
            <a:off x="566928" y="3566160"/>
            <a:ext cx="11057839" cy="566928"/>
          </a:xfrm>
          <a:prstGeom prst="rect">
            <a:avLst>
              <a:gd name="adj" fmla="val 12903"/>
            </a:avLst>
          </a:prstGeom>
          <a:solidFill>
            <a:srgbClr val="F4F7F6"/>
          </a:solidFill>
          <a:ln w="12700">
            <a:solidFill>
              <a:srgbClr val="E1E7E4"/>
            </a:solidFill>
            <a:prstDash val="solid"/>
          </a:ln>
        </p:spPr>
      </p:sp>
      <p:sp>
        <p:nvSpPr>
          <p:cNvPr id="16" name="Shape 14"/>
          <p:cNvSpPr/>
          <p:nvPr/>
        </p:nvSpPr>
        <p:spPr>
          <a:xfrm>
            <a:off x="566928" y="3566160"/>
            <a:ext cx="1371600" cy="566928"/>
          </a:xfrm>
          <a:prstGeom prst="rect">
            <a:avLst>
              <a:gd name="adj" fmla="val 12903"/>
            </a:avLst>
          </a:prstGeom>
          <a:solidFill>
            <a:srgbClr val="0F6F5C"/>
          </a:solidFill>
          <a:ln/>
        </p:spPr>
      </p:sp>
      <p:sp>
        <p:nvSpPr>
          <p:cNvPr id="17" name="Text 15"/>
          <p:cNvSpPr/>
          <p:nvPr/>
        </p:nvSpPr>
        <p:spPr>
          <a:xfrm>
            <a:off x="566928" y="3566160"/>
            <a:ext cx="137160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드리블</a:t>
            </a:r>
            <a:endParaRPr lang="en-US" sz="1300" dirty="0"/>
          </a:p>
        </p:txBody>
      </p:sp>
      <p:sp>
        <p:nvSpPr>
          <p:cNvPr id="18" name="Text 16"/>
          <p:cNvSpPr/>
          <p:nvPr/>
        </p:nvSpPr>
        <p:spPr>
          <a:xfrm>
            <a:off x="2121408" y="3566160"/>
            <a:ext cx="9320479" cy="566928"/>
          </a:xfrm>
          <a:prstGeom prst="rect">
            <a:avLst/>
          </a:prstGeom>
          <a:noFill/>
          <a:ln/>
        </p:spPr>
        <p:txBody>
          <a:bodyPr wrap="square" rtlCol="0" anchor="ctr"/>
          <a:lstStyle/>
          <a:p>
            <a:pPr indent="0" marL="0">
              <a:buNone/>
            </a:pPr>
            <a:r>
              <a:rPr lang="en-US" sz="1150" dirty="0">
                <a:solidFill>
                  <a:srgbClr val="15202B"/>
                </a:solidFill>
                <a:latin typeface="맑은 고딕" pitchFamily="34" charset="0"/>
                <a:ea typeface="맑은 고딕" pitchFamily="34" charset="-122"/>
                <a:cs typeface="맑은 고딕" pitchFamily="34" charset="-120"/>
              </a:rPr>
              <a:t>스펙에 없던 신규 액션 정식화. 1v1 기하 지배, 중립 ~0.5, 능력치는 modifier.</a:t>
            </a:r>
            <a:endParaRPr lang="en-US" sz="1150" dirty="0"/>
          </a:p>
        </p:txBody>
      </p:sp>
      <p:sp>
        <p:nvSpPr>
          <p:cNvPr id="19" name="Shape 17"/>
          <p:cNvSpPr/>
          <p:nvPr/>
        </p:nvSpPr>
        <p:spPr>
          <a:xfrm>
            <a:off x="566928" y="4206240"/>
            <a:ext cx="11057839" cy="566928"/>
          </a:xfrm>
          <a:prstGeom prst="rect">
            <a:avLst>
              <a:gd name="adj" fmla="val 12903"/>
            </a:avLst>
          </a:prstGeom>
          <a:solidFill>
            <a:srgbClr val="F4F7F6"/>
          </a:solidFill>
          <a:ln w="12700">
            <a:solidFill>
              <a:srgbClr val="E1E7E4"/>
            </a:solidFill>
            <a:prstDash val="solid"/>
          </a:ln>
        </p:spPr>
      </p:sp>
      <p:sp>
        <p:nvSpPr>
          <p:cNvPr id="20" name="Shape 18"/>
          <p:cNvSpPr/>
          <p:nvPr/>
        </p:nvSpPr>
        <p:spPr>
          <a:xfrm>
            <a:off x="566928" y="4206240"/>
            <a:ext cx="1371600" cy="566928"/>
          </a:xfrm>
          <a:prstGeom prst="rect">
            <a:avLst>
              <a:gd name="adj" fmla="val 12903"/>
            </a:avLst>
          </a:prstGeom>
          <a:solidFill>
            <a:srgbClr val="0F6F5C"/>
          </a:solidFill>
          <a:ln/>
        </p:spPr>
      </p:sp>
      <p:sp>
        <p:nvSpPr>
          <p:cNvPr id="21" name="Text 19"/>
          <p:cNvSpPr/>
          <p:nvPr/>
        </p:nvSpPr>
        <p:spPr>
          <a:xfrm>
            <a:off x="566928" y="4206240"/>
            <a:ext cx="137160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시퀀스</a:t>
            </a:r>
            <a:endParaRPr lang="en-US" sz="1300" dirty="0"/>
          </a:p>
        </p:txBody>
      </p:sp>
      <p:sp>
        <p:nvSpPr>
          <p:cNvPr id="22" name="Text 20"/>
          <p:cNvSpPr/>
          <p:nvPr/>
        </p:nvSpPr>
        <p:spPr>
          <a:xfrm>
            <a:off x="2121408" y="4206240"/>
            <a:ext cx="9320479" cy="566928"/>
          </a:xfrm>
          <a:prstGeom prst="rect">
            <a:avLst/>
          </a:prstGeom>
          <a:noFill/>
          <a:ln/>
        </p:spPr>
        <p:txBody>
          <a:bodyPr wrap="square" rtlCol="0" anchor="ctr"/>
          <a:lstStyle/>
          <a:p>
            <a:pPr indent="0" marL="0">
              <a:buNone/>
            </a:pPr>
            <a:r>
              <a:rPr lang="en-US" sz="1150" dirty="0">
                <a:solidFill>
                  <a:srgbClr val="15202B"/>
                </a:solidFill>
                <a:latin typeface="맑은 고딕" pitchFamily="34" charset="0"/>
                <a:ea typeface="맑은 고딕" pitchFamily="34" charset="-122"/>
                <a:cs typeface="맑은 고딕" pitchFamily="34" charset="-120"/>
              </a:rPr>
              <a:t>∏P + 수비 붕괴 계수로 조건부 보정, xT 가치 델타로 "설계 보상" 분리. 억지 P^(1/n) 폐기.</a:t>
            </a:r>
            <a:endParaRPr lang="en-US" sz="1150" dirty="0"/>
          </a:p>
        </p:txBody>
      </p:sp>
      <p:sp>
        <p:nvSpPr>
          <p:cNvPr id="23" name="Shape 21"/>
          <p:cNvSpPr/>
          <p:nvPr/>
        </p:nvSpPr>
        <p:spPr>
          <a:xfrm>
            <a:off x="566928" y="4846320"/>
            <a:ext cx="11057839" cy="566928"/>
          </a:xfrm>
          <a:prstGeom prst="rect">
            <a:avLst>
              <a:gd name="adj" fmla="val 12903"/>
            </a:avLst>
          </a:prstGeom>
          <a:solidFill>
            <a:srgbClr val="F4F7F6"/>
          </a:solidFill>
          <a:ln w="12700">
            <a:solidFill>
              <a:srgbClr val="E1E7E4"/>
            </a:solidFill>
            <a:prstDash val="solid"/>
          </a:ln>
        </p:spPr>
      </p:sp>
      <p:sp>
        <p:nvSpPr>
          <p:cNvPr id="24" name="Shape 22"/>
          <p:cNvSpPr/>
          <p:nvPr/>
        </p:nvSpPr>
        <p:spPr>
          <a:xfrm>
            <a:off x="566928" y="4846320"/>
            <a:ext cx="1371600" cy="566928"/>
          </a:xfrm>
          <a:prstGeom prst="rect">
            <a:avLst>
              <a:gd name="adj" fmla="val 12903"/>
            </a:avLst>
          </a:prstGeom>
          <a:solidFill>
            <a:srgbClr val="0F6F5C"/>
          </a:solidFill>
          <a:ln/>
        </p:spPr>
      </p:sp>
      <p:sp>
        <p:nvSpPr>
          <p:cNvPr id="25" name="Text 23"/>
          <p:cNvSpPr/>
          <p:nvPr/>
        </p:nvSpPr>
        <p:spPr>
          <a:xfrm>
            <a:off x="566928" y="4846320"/>
            <a:ext cx="137160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매칭</a:t>
            </a:r>
            <a:endParaRPr lang="en-US" sz="1300" dirty="0"/>
          </a:p>
        </p:txBody>
      </p:sp>
      <p:sp>
        <p:nvSpPr>
          <p:cNvPr id="26" name="Text 24"/>
          <p:cNvSpPr/>
          <p:nvPr/>
        </p:nvSpPr>
        <p:spPr>
          <a:xfrm>
            <a:off x="2121408" y="4846320"/>
            <a:ext cx="9320479" cy="566928"/>
          </a:xfrm>
          <a:prstGeom prst="rect">
            <a:avLst/>
          </a:prstGeom>
          <a:noFill/>
          <a:ln/>
        </p:spPr>
        <p:txBody>
          <a:bodyPr wrap="square" rtlCol="0" anchor="ctr"/>
          <a:lstStyle/>
          <a:p>
            <a:pPr indent="0" marL="0">
              <a:buNone/>
            </a:pPr>
            <a:r>
              <a:rPr lang="en-US" sz="1150" dirty="0">
                <a:solidFill>
                  <a:srgbClr val="15202B"/>
                </a:solidFill>
                <a:latin typeface="맑은 고딕" pitchFamily="34" charset="0"/>
                <a:ea typeface="맑은 고딕" pitchFamily="34" charset="-122"/>
                <a:cs typeface="맑은 고딕" pitchFamily="34" charset="-120"/>
              </a:rPr>
              <a:t>가우시안 커널 exp(-d²/2σ²) 유지, σ=3m 확정, 튜토리얼 UI 연결.</a:t>
            </a:r>
            <a:endParaRPr lang="en-US" sz="1150" dirty="0"/>
          </a:p>
        </p:txBody>
      </p:sp>
      <p:sp>
        <p:nvSpPr>
          <p:cNvPr id="27" name="Shape 25"/>
          <p:cNvSpPr/>
          <p:nvPr/>
        </p:nvSpPr>
        <p:spPr>
          <a:xfrm>
            <a:off x="566928" y="5486400"/>
            <a:ext cx="11057839" cy="457200"/>
          </a:xfrm>
          <a:prstGeom prst="rect">
            <a:avLst>
              <a:gd name="adj" fmla="val 16000"/>
            </a:avLst>
          </a:prstGeom>
          <a:solidFill>
            <a:srgbClr val="F6E9EA"/>
          </a:solidFill>
          <a:ln w="12700">
            <a:solidFill>
              <a:srgbClr val="B23A48"/>
            </a:solidFill>
            <a:prstDash val="solid"/>
          </a:ln>
        </p:spPr>
      </p:sp>
      <p:sp>
        <p:nvSpPr>
          <p:cNvPr id="28" name="Text 26"/>
          <p:cNvSpPr/>
          <p:nvPr/>
        </p:nvSpPr>
        <p:spPr>
          <a:xfrm>
            <a:off x="749808" y="5486400"/>
            <a:ext cx="10692079" cy="457200"/>
          </a:xfrm>
          <a:prstGeom prst="rect">
            <a:avLst/>
          </a:prstGeom>
          <a:noFill/>
          <a:ln/>
        </p:spPr>
        <p:txBody>
          <a:bodyPr wrap="square" rtlCol="0" anchor="ctr"/>
          <a:lstStyle/>
          <a:p>
            <a:pPr indent="0" marL="0">
              <a:buNone/>
            </a:pPr>
            <a:r>
              <a:rPr lang="en-US" sz="1200" b="1" dirty="0">
                <a:solidFill>
                  <a:srgbClr val="B23A48"/>
                </a:solidFill>
                <a:latin typeface="맑은 고딕" pitchFamily="34" charset="0"/>
                <a:ea typeface="맑은 고딕" pitchFamily="34" charset="-122"/>
                <a:cs typeface="맑은 고딕" pitchFamily="34" charset="-120"/>
              </a:rPr>
              <a:t>공백  </a:t>
            </a:r>
            <a:pPr indent="0" marL="0">
              <a:buNone/>
            </a:pPr>
            <a:r>
              <a:rPr lang="en-US" sz="1150" dirty="0">
                <a:solidFill>
                  <a:srgbClr val="15202B"/>
                </a:solidFill>
                <a:latin typeface="맑은 고딕" pitchFamily="34" charset="0"/>
                <a:ea typeface="맑은 고딕" pitchFamily="34" charset="-122"/>
                <a:cs typeface="맑은 고딕" pitchFamily="34" charset="-120"/>
              </a:rPr>
              <a:t>FM 1~20 → 확률 매핑의 공식 근거는 문헌 확보 실패. 하한(floor)은 게임디자인 근거로 유지 (부록).</a:t>
            </a:r>
            <a:endParaRPr lang="en-US" sz="1200" dirty="0"/>
          </a:p>
        </p:txBody>
      </p:sp>
      <p:sp>
        <p:nvSpPr>
          <p:cNvPr id="30" name="Text 27"/>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31" name="Text 28"/>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PROBLEM</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왜 손대는가 — 현 구현의 3대 갭</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554480"/>
            <a:ext cx="3503066" cy="3566160"/>
          </a:xfrm>
          <a:prstGeom prst="rect">
            <a:avLst>
              <a:gd name="adj" fmla="val 2088"/>
            </a:avLst>
          </a:prstGeom>
          <a:solidFill>
            <a:srgbClr val="F4F7F6"/>
          </a:solidFill>
          <a:ln w="12700">
            <a:solidFill>
              <a:srgbClr val="E1E7E4"/>
            </a:solidFill>
            <a:prstDash val="solid"/>
          </a:ln>
        </p:spPr>
      </p:sp>
      <p:sp>
        <p:nvSpPr>
          <p:cNvPr id="7" name="Shape 5"/>
          <p:cNvSpPr/>
          <p:nvPr/>
        </p:nvSpPr>
        <p:spPr>
          <a:xfrm>
            <a:off x="566928" y="1554480"/>
            <a:ext cx="3503066" cy="685800"/>
          </a:xfrm>
          <a:prstGeom prst="rect">
            <a:avLst>
              <a:gd name="adj" fmla="val 10667"/>
            </a:avLst>
          </a:prstGeom>
          <a:solidFill>
            <a:srgbClr val="0F6F5C"/>
          </a:solidFill>
          <a:ln/>
        </p:spPr>
      </p:sp>
      <p:sp>
        <p:nvSpPr>
          <p:cNvPr id="8" name="Text 6"/>
          <p:cNvSpPr/>
          <p:nvPr/>
        </p:nvSpPr>
        <p:spPr>
          <a:xfrm>
            <a:off x="658368" y="1554480"/>
            <a:ext cx="3320186" cy="68580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①  베이스라인 이탈</a:t>
            </a:r>
            <a:endParaRPr lang="en-US" sz="1600" dirty="0"/>
          </a:p>
        </p:txBody>
      </p:sp>
      <p:sp>
        <p:nvSpPr>
          <p:cNvPr id="9" name="Text 7"/>
          <p:cNvSpPr/>
          <p:nvPr/>
        </p:nvSpPr>
        <p:spPr>
          <a:xfrm>
            <a:off x="795528" y="2423160"/>
            <a:ext cx="3045866" cy="2468880"/>
          </a:xfrm>
          <a:prstGeom prst="rect">
            <a:avLst/>
          </a:prstGeom>
          <a:noFill/>
          <a:ln/>
        </p:spPr>
        <p:txBody>
          <a:bodyPr wrap="square" rtlCol="0" anchor="t"/>
          <a:lstStyle/>
          <a:p>
            <a:pPr indent="0" marL="0">
              <a:lnSpc>
                <a:spcPct val="125000"/>
              </a:lnSpc>
              <a:buNone/>
            </a:pPr>
            <a:r>
              <a:rPr lang="en-US" sz="1300" dirty="0">
                <a:solidFill>
                  <a:srgbClr val="15202B"/>
                </a:solidFill>
                <a:latin typeface="맑은 고딕" pitchFamily="34" charset="0"/>
                <a:ea typeface="맑은 고딕" pitchFamily="34" charset="-122"/>
                <a:cs typeface="맑은 고딕" pitchFamily="34" charset="-120"/>
              </a:rPr>
              <a:t>xG는 로지스틱이 학계 표준 베이스라인, 분야 출력구조는 로그오즈→σ(로지스틱·부스팅 공통). 우리 곱셈식은 앵커(페널티 0.76 등)로 캘리브레이션할 지점이 없어 밸런싱이 감(感).</a:t>
            </a:r>
            <a:endParaRPr lang="en-US" sz="1300" dirty="0"/>
          </a:p>
        </p:txBody>
      </p:sp>
      <p:sp>
        <p:nvSpPr>
          <p:cNvPr id="10" name="Shape 8"/>
          <p:cNvSpPr/>
          <p:nvPr/>
        </p:nvSpPr>
        <p:spPr>
          <a:xfrm>
            <a:off x="4344314" y="1554480"/>
            <a:ext cx="3503066" cy="3566160"/>
          </a:xfrm>
          <a:prstGeom prst="rect">
            <a:avLst>
              <a:gd name="adj" fmla="val 2088"/>
            </a:avLst>
          </a:prstGeom>
          <a:solidFill>
            <a:srgbClr val="F4F7F6"/>
          </a:solidFill>
          <a:ln w="12700">
            <a:solidFill>
              <a:srgbClr val="E1E7E4"/>
            </a:solidFill>
            <a:prstDash val="solid"/>
          </a:ln>
        </p:spPr>
      </p:sp>
      <p:sp>
        <p:nvSpPr>
          <p:cNvPr id="11" name="Shape 9"/>
          <p:cNvSpPr/>
          <p:nvPr/>
        </p:nvSpPr>
        <p:spPr>
          <a:xfrm>
            <a:off x="4344314" y="1554480"/>
            <a:ext cx="3503066" cy="685800"/>
          </a:xfrm>
          <a:prstGeom prst="rect">
            <a:avLst>
              <a:gd name="adj" fmla="val 10667"/>
            </a:avLst>
          </a:prstGeom>
          <a:solidFill>
            <a:srgbClr val="0F6F5C"/>
          </a:solidFill>
          <a:ln/>
        </p:spPr>
      </p:sp>
      <p:sp>
        <p:nvSpPr>
          <p:cNvPr id="12" name="Text 10"/>
          <p:cNvSpPr/>
          <p:nvPr/>
        </p:nvSpPr>
        <p:spPr>
          <a:xfrm>
            <a:off x="4435754" y="1554480"/>
            <a:ext cx="3320186" cy="68580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②  근거 없는 상수</a:t>
            </a:r>
            <a:endParaRPr lang="en-US" sz="1600" dirty="0"/>
          </a:p>
        </p:txBody>
      </p:sp>
      <p:sp>
        <p:nvSpPr>
          <p:cNvPr id="13" name="Text 11"/>
          <p:cNvSpPr/>
          <p:nvPr/>
        </p:nvSpPr>
        <p:spPr>
          <a:xfrm>
            <a:off x="4572914" y="2423160"/>
            <a:ext cx="3045866" cy="2468880"/>
          </a:xfrm>
          <a:prstGeom prst="rect">
            <a:avLst/>
          </a:prstGeom>
          <a:noFill/>
          <a:ln/>
        </p:spPr>
        <p:txBody>
          <a:bodyPr wrap="square" rtlCol="0" anchor="t"/>
          <a:lstStyle/>
          <a:p>
            <a:pPr indent="0" marL="0">
              <a:lnSpc>
                <a:spcPct val="125000"/>
              </a:lnSpc>
              <a:buNone/>
            </a:pPr>
            <a:r>
              <a:rPr lang="en-US" sz="1300" dirty="0">
                <a:solidFill>
                  <a:srgbClr val="15202B"/>
                </a:solidFill>
                <a:latin typeface="맑은 고딕" pitchFamily="34" charset="0"/>
                <a:ea typeface="맑은 고딕" pitchFamily="34" charset="-122"/>
                <a:cs typeface="맑은 고딕" pitchFamily="34" charset="-120"/>
              </a:rPr>
              <a:t>SHOT_SCALE=2.2, GK 블로커 제외, DEF_RADIUS=6… 전부 "짜서/터져서" 넣은 임의값. 문서화된 근거 부재.</a:t>
            </a:r>
            <a:endParaRPr lang="en-US" sz="1300" dirty="0"/>
          </a:p>
        </p:txBody>
      </p:sp>
      <p:sp>
        <p:nvSpPr>
          <p:cNvPr id="14" name="Shape 12"/>
          <p:cNvSpPr/>
          <p:nvPr/>
        </p:nvSpPr>
        <p:spPr>
          <a:xfrm>
            <a:off x="8121701" y="1554480"/>
            <a:ext cx="3503066" cy="3566160"/>
          </a:xfrm>
          <a:prstGeom prst="rect">
            <a:avLst>
              <a:gd name="adj" fmla="val 2088"/>
            </a:avLst>
          </a:prstGeom>
          <a:solidFill>
            <a:srgbClr val="F4F7F6"/>
          </a:solidFill>
          <a:ln w="12700">
            <a:solidFill>
              <a:srgbClr val="E1E7E4"/>
            </a:solidFill>
            <a:prstDash val="solid"/>
          </a:ln>
        </p:spPr>
      </p:sp>
      <p:sp>
        <p:nvSpPr>
          <p:cNvPr id="15" name="Shape 13"/>
          <p:cNvSpPr/>
          <p:nvPr/>
        </p:nvSpPr>
        <p:spPr>
          <a:xfrm>
            <a:off x="8121701" y="1554480"/>
            <a:ext cx="3503066" cy="685800"/>
          </a:xfrm>
          <a:prstGeom prst="rect">
            <a:avLst>
              <a:gd name="adj" fmla="val 10667"/>
            </a:avLst>
          </a:prstGeom>
          <a:solidFill>
            <a:srgbClr val="B23A48"/>
          </a:solidFill>
          <a:ln/>
        </p:spPr>
      </p:sp>
      <p:sp>
        <p:nvSpPr>
          <p:cNvPr id="16" name="Text 14"/>
          <p:cNvSpPr/>
          <p:nvPr/>
        </p:nvSpPr>
        <p:spPr>
          <a:xfrm>
            <a:off x="8213141" y="1554480"/>
            <a:ext cx="3320186" cy="68580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③  스펙-구현 표류</a:t>
            </a:r>
            <a:endParaRPr lang="en-US" sz="1600" dirty="0"/>
          </a:p>
        </p:txBody>
      </p:sp>
      <p:sp>
        <p:nvSpPr>
          <p:cNvPr id="17" name="Text 15"/>
          <p:cNvSpPr/>
          <p:nvPr/>
        </p:nvSpPr>
        <p:spPr>
          <a:xfrm>
            <a:off x="8350301" y="2423160"/>
            <a:ext cx="3045866" cy="2468880"/>
          </a:xfrm>
          <a:prstGeom prst="rect">
            <a:avLst/>
          </a:prstGeom>
          <a:noFill/>
          <a:ln/>
        </p:spPr>
        <p:txBody>
          <a:bodyPr wrap="square" rtlCol="0" anchor="t"/>
          <a:lstStyle/>
          <a:p>
            <a:pPr indent="0" marL="0">
              <a:lnSpc>
                <a:spcPct val="125000"/>
              </a:lnSpc>
              <a:buNone/>
            </a:pPr>
            <a:r>
              <a:rPr lang="en-US" sz="1300" dirty="0">
                <a:solidFill>
                  <a:srgbClr val="15202B"/>
                </a:solidFill>
                <a:latin typeface="맑은 고딕" pitchFamily="34" charset="0"/>
                <a:ea typeface="맑은 고딕" pitchFamily="34" charset="-122"/>
                <a:cs typeface="맑은 고딕" pitchFamily="34" charset="-120"/>
              </a:rPr>
              <a:t>M_def 방향버그(프론트가 임시수정), 드리블은 스펙에 아예 없음, ⑤ 보정·clamp 미구현. CALC_SPEC v1이 현실과 불일치.</a:t>
            </a:r>
            <a:endParaRPr lang="en-US" sz="1300" dirty="0"/>
          </a:p>
        </p:txBody>
      </p:sp>
      <p:sp>
        <p:nvSpPr>
          <p:cNvPr id="18" name="Shape 16"/>
          <p:cNvSpPr/>
          <p:nvPr/>
        </p:nvSpPr>
        <p:spPr>
          <a:xfrm>
            <a:off x="566928" y="5440680"/>
            <a:ext cx="11057839" cy="640080"/>
          </a:xfrm>
          <a:prstGeom prst="rect">
            <a:avLst>
              <a:gd name="adj" fmla="val 11429"/>
            </a:avLst>
          </a:prstGeom>
          <a:solidFill>
            <a:srgbClr val="EEF3F1"/>
          </a:solidFill>
          <a:ln/>
        </p:spPr>
      </p:sp>
      <p:sp>
        <p:nvSpPr>
          <p:cNvPr id="19" name="Text 17"/>
          <p:cNvSpPr/>
          <p:nvPr/>
        </p:nvSpPr>
        <p:spPr>
          <a:xfrm>
            <a:off x="749808" y="5440680"/>
            <a:ext cx="10692079" cy="640080"/>
          </a:xfrm>
          <a:prstGeom prst="rect">
            <a:avLst/>
          </a:prstGeom>
          <a:noFill/>
          <a:ln/>
        </p:spPr>
        <p:txBody>
          <a:bodyPr wrap="square" rtlCol="0" anchor="ctr"/>
          <a:lstStyle/>
          <a:p>
            <a:pPr indent="0" marL="0">
              <a:buNone/>
            </a:pPr>
            <a:r>
              <a:rPr lang="en-US" sz="1300" b="1" dirty="0">
                <a:solidFill>
                  <a:srgbClr val="0F6F5C"/>
                </a:solidFill>
                <a:latin typeface="맑은 고딕" pitchFamily="34" charset="0"/>
                <a:ea typeface="맑은 고딕" pitchFamily="34" charset="-122"/>
                <a:cs typeface="맑은 고딕" pitchFamily="34" charset="-120"/>
              </a:rPr>
              <a:t>핵심 원칙  </a:t>
            </a:r>
            <a:pPr indent="0" marL="0">
              <a:buNone/>
            </a:pPr>
            <a:r>
              <a:rPr lang="en-US" sz="1200" dirty="0">
                <a:solidFill>
                  <a:srgbClr val="15202B"/>
                </a:solidFill>
                <a:latin typeface="맑은 고딕" pitchFamily="34" charset="0"/>
                <a:ea typeface="맑은 고딕" pitchFamily="34" charset="-122"/>
                <a:cs typeface="맑은 고딕" pitchFamily="34" charset="-120"/>
              </a:rPr>
              <a:t>UI 계약 resolveSequence(actions, ctx) → { pTotal, outcome, steps, reason, seed } 은 불변. 엔진 내부만 교체하므로 프론트 UI 무손상.</a:t>
            </a:r>
            <a:endParaRPr lang="en-US" sz="1300" dirty="0"/>
          </a:p>
        </p:txBody>
      </p:sp>
      <p:sp>
        <p:nvSpPr>
          <p:cNvPr id="21" name="Text 18"/>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22" name="Text 19"/>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METHOD</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리서치 방법 — 딥리서치 하네스</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600200"/>
            <a:ext cx="1992112" cy="1554480"/>
          </a:xfrm>
          <a:prstGeom prst="rect">
            <a:avLst>
              <a:gd name="adj" fmla="val 4706"/>
            </a:avLst>
          </a:prstGeom>
          <a:solidFill>
            <a:srgbClr val="F4F7F6"/>
          </a:solidFill>
          <a:ln w="12700">
            <a:solidFill>
              <a:srgbClr val="E1E7E4"/>
            </a:solidFill>
            <a:prstDash val="solid"/>
          </a:ln>
        </p:spPr>
      </p:sp>
      <p:sp>
        <p:nvSpPr>
          <p:cNvPr id="7" name="Text 5"/>
          <p:cNvSpPr/>
          <p:nvPr/>
        </p:nvSpPr>
        <p:spPr>
          <a:xfrm>
            <a:off x="566928" y="1737360"/>
            <a:ext cx="1992112" cy="640080"/>
          </a:xfrm>
          <a:prstGeom prst="rect">
            <a:avLst/>
          </a:prstGeom>
          <a:noFill/>
          <a:ln/>
        </p:spPr>
        <p:txBody>
          <a:bodyPr wrap="square" rtlCol="0" anchor="ctr"/>
          <a:lstStyle/>
          <a:p>
            <a:pPr algn="ctr" indent="0" marL="0">
              <a:buNone/>
            </a:pPr>
            <a:r>
              <a:rPr lang="en-US" sz="3000" b="1" dirty="0">
                <a:solidFill>
                  <a:srgbClr val="0F6F5C"/>
                </a:solidFill>
                <a:latin typeface="맑은 고딕" pitchFamily="34" charset="0"/>
                <a:ea typeface="맑은 고딕" pitchFamily="34" charset="-122"/>
                <a:cs typeface="맑은 고딕" pitchFamily="34" charset="-120"/>
              </a:rPr>
              <a:t>6</a:t>
            </a:r>
            <a:endParaRPr lang="en-US" sz="3000" dirty="0"/>
          </a:p>
        </p:txBody>
      </p:sp>
      <p:sp>
        <p:nvSpPr>
          <p:cNvPr id="8" name="Text 6"/>
          <p:cNvSpPr/>
          <p:nvPr/>
        </p:nvSpPr>
        <p:spPr>
          <a:xfrm>
            <a:off x="566928" y="2377440"/>
            <a:ext cx="1992112" cy="274320"/>
          </a:xfrm>
          <a:prstGeom prst="rect">
            <a:avLst/>
          </a:prstGeom>
          <a:noFill/>
          <a:ln/>
        </p:spPr>
        <p:txBody>
          <a:bodyPr wrap="square" rtlCol="0" anchor="ctr"/>
          <a:lstStyle/>
          <a:p>
            <a:pPr algn="ctr" indent="0" marL="0">
              <a:buNone/>
            </a:pPr>
            <a:r>
              <a:rPr lang="en-US" sz="1200" b="1" dirty="0">
                <a:solidFill>
                  <a:srgbClr val="15202B"/>
                </a:solidFill>
                <a:latin typeface="맑은 고딕" pitchFamily="34" charset="0"/>
                <a:ea typeface="맑은 고딕" pitchFamily="34" charset="-122"/>
                <a:cs typeface="맑은 고딕" pitchFamily="34" charset="-120"/>
              </a:rPr>
              <a:t>검색 앵글</a:t>
            </a:r>
            <a:endParaRPr lang="en-US" sz="1200" dirty="0"/>
          </a:p>
        </p:txBody>
      </p:sp>
      <p:sp>
        <p:nvSpPr>
          <p:cNvPr id="9" name="Text 7"/>
          <p:cNvSpPr/>
          <p:nvPr/>
        </p:nvSpPr>
        <p:spPr>
          <a:xfrm>
            <a:off x="612648" y="2651760"/>
            <a:ext cx="1900672" cy="411480"/>
          </a:xfrm>
          <a:prstGeom prst="rect">
            <a:avLst/>
          </a:prstGeom>
          <a:noFill/>
          <a:ln/>
        </p:spPr>
        <p:txBody>
          <a:bodyPr wrap="square" rtlCol="0" anchor="ctr"/>
          <a:lstStyle/>
          <a:p>
            <a:pPr algn="ctr" indent="0" marL="0">
              <a:buNone/>
            </a:pPr>
            <a:r>
              <a:rPr lang="en-US" sz="950" dirty="0">
                <a:solidFill>
                  <a:srgbClr val="5B5B6B"/>
                </a:solidFill>
                <a:latin typeface="맑은 고딕" pitchFamily="34" charset="0"/>
                <a:ea typeface="맑은 고딕" pitchFamily="34" charset="-122"/>
                <a:cs typeface="맑은 고딕" pitchFamily="34" charset="-120"/>
              </a:rPr>
              <a:t>메커닉별 분해</a:t>
            </a:r>
            <a:endParaRPr lang="en-US" sz="950" dirty="0"/>
          </a:p>
        </p:txBody>
      </p:sp>
      <p:sp>
        <p:nvSpPr>
          <p:cNvPr id="10" name="Text 8"/>
          <p:cNvSpPr/>
          <p:nvPr/>
        </p:nvSpPr>
        <p:spPr>
          <a:xfrm>
            <a:off x="2540752" y="1600200"/>
            <a:ext cx="274320" cy="1554480"/>
          </a:xfrm>
          <a:prstGeom prst="rect">
            <a:avLst/>
          </a:prstGeom>
          <a:noFill/>
          <a:ln/>
        </p:spPr>
        <p:txBody>
          <a:bodyPr wrap="square" rtlCol="0" anchor="ctr"/>
          <a:lstStyle/>
          <a:p>
            <a:pPr algn="ctr" indent="0" marL="0">
              <a:buNone/>
            </a:pPr>
            <a:r>
              <a:rPr lang="en-US" sz="1100" dirty="0">
                <a:solidFill>
                  <a:srgbClr val="8A94A6"/>
                </a:solidFill>
                <a:latin typeface="맑은 고딕" pitchFamily="34" charset="0"/>
                <a:ea typeface="맑은 고딕" pitchFamily="34" charset="-122"/>
                <a:cs typeface="맑은 고딕" pitchFamily="34" charset="-120"/>
              </a:rPr>
              <a:t>▶</a:t>
            </a:r>
            <a:endParaRPr lang="en-US" sz="1100" dirty="0"/>
          </a:p>
        </p:txBody>
      </p:sp>
      <p:sp>
        <p:nvSpPr>
          <p:cNvPr id="11" name="Shape 9"/>
          <p:cNvSpPr/>
          <p:nvPr/>
        </p:nvSpPr>
        <p:spPr>
          <a:xfrm>
            <a:off x="2833360" y="1600200"/>
            <a:ext cx="1992112" cy="1554480"/>
          </a:xfrm>
          <a:prstGeom prst="rect">
            <a:avLst>
              <a:gd name="adj" fmla="val 4706"/>
            </a:avLst>
          </a:prstGeom>
          <a:solidFill>
            <a:srgbClr val="F4F7F6"/>
          </a:solidFill>
          <a:ln w="12700">
            <a:solidFill>
              <a:srgbClr val="E1E7E4"/>
            </a:solidFill>
            <a:prstDash val="solid"/>
          </a:ln>
        </p:spPr>
      </p:sp>
      <p:sp>
        <p:nvSpPr>
          <p:cNvPr id="12" name="Text 10"/>
          <p:cNvSpPr/>
          <p:nvPr/>
        </p:nvSpPr>
        <p:spPr>
          <a:xfrm>
            <a:off x="2833360" y="1737360"/>
            <a:ext cx="1992112" cy="640080"/>
          </a:xfrm>
          <a:prstGeom prst="rect">
            <a:avLst/>
          </a:prstGeom>
          <a:noFill/>
          <a:ln/>
        </p:spPr>
        <p:txBody>
          <a:bodyPr wrap="square" rtlCol="0" anchor="ctr"/>
          <a:lstStyle/>
          <a:p>
            <a:pPr algn="ctr" indent="0" marL="0">
              <a:buNone/>
            </a:pPr>
            <a:r>
              <a:rPr lang="en-US" sz="3000" b="1" dirty="0">
                <a:solidFill>
                  <a:srgbClr val="0F6F5C"/>
                </a:solidFill>
                <a:latin typeface="맑은 고딕" pitchFamily="34" charset="0"/>
                <a:ea typeface="맑은 고딕" pitchFamily="34" charset="-122"/>
                <a:cs typeface="맑은 고딕" pitchFamily="34" charset="-120"/>
              </a:rPr>
              <a:t>26</a:t>
            </a:r>
            <a:endParaRPr lang="en-US" sz="3000" dirty="0"/>
          </a:p>
        </p:txBody>
      </p:sp>
      <p:sp>
        <p:nvSpPr>
          <p:cNvPr id="13" name="Text 11"/>
          <p:cNvSpPr/>
          <p:nvPr/>
        </p:nvSpPr>
        <p:spPr>
          <a:xfrm>
            <a:off x="2833360" y="2377440"/>
            <a:ext cx="1992112" cy="274320"/>
          </a:xfrm>
          <a:prstGeom prst="rect">
            <a:avLst/>
          </a:prstGeom>
          <a:noFill/>
          <a:ln/>
        </p:spPr>
        <p:txBody>
          <a:bodyPr wrap="square" rtlCol="0" anchor="ctr"/>
          <a:lstStyle/>
          <a:p>
            <a:pPr algn="ctr" indent="0" marL="0">
              <a:buNone/>
            </a:pPr>
            <a:r>
              <a:rPr lang="en-US" sz="1200" b="1" dirty="0">
                <a:solidFill>
                  <a:srgbClr val="15202B"/>
                </a:solidFill>
                <a:latin typeface="맑은 고딕" pitchFamily="34" charset="0"/>
                <a:ea typeface="맑은 고딕" pitchFamily="34" charset="-122"/>
                <a:cs typeface="맑은 고딕" pitchFamily="34" charset="-120"/>
              </a:rPr>
              <a:t>소스 페치</a:t>
            </a:r>
            <a:endParaRPr lang="en-US" sz="1200" dirty="0"/>
          </a:p>
        </p:txBody>
      </p:sp>
      <p:sp>
        <p:nvSpPr>
          <p:cNvPr id="14" name="Text 12"/>
          <p:cNvSpPr/>
          <p:nvPr/>
        </p:nvSpPr>
        <p:spPr>
          <a:xfrm>
            <a:off x="2879080" y="2651760"/>
            <a:ext cx="1900672" cy="411480"/>
          </a:xfrm>
          <a:prstGeom prst="rect">
            <a:avLst/>
          </a:prstGeom>
          <a:noFill/>
          <a:ln/>
        </p:spPr>
        <p:txBody>
          <a:bodyPr wrap="square" rtlCol="0" anchor="ctr"/>
          <a:lstStyle/>
          <a:p>
            <a:pPr algn="ctr" indent="0" marL="0">
              <a:buNone/>
            </a:pPr>
            <a:r>
              <a:rPr lang="en-US" sz="950" dirty="0">
                <a:solidFill>
                  <a:srgbClr val="5B5B6B"/>
                </a:solidFill>
                <a:latin typeface="맑은 고딕" pitchFamily="34" charset="0"/>
                <a:ea typeface="맑은 고딕" pitchFamily="34" charset="-122"/>
                <a:cs typeface="맑은 고딕" pitchFamily="34" charset="-120"/>
              </a:rPr>
              <a:t>논문·분석블로그·문서</a:t>
            </a:r>
            <a:endParaRPr lang="en-US" sz="950" dirty="0"/>
          </a:p>
        </p:txBody>
      </p:sp>
      <p:sp>
        <p:nvSpPr>
          <p:cNvPr id="15" name="Text 13"/>
          <p:cNvSpPr/>
          <p:nvPr/>
        </p:nvSpPr>
        <p:spPr>
          <a:xfrm>
            <a:off x="4807184" y="1600200"/>
            <a:ext cx="274320" cy="1554480"/>
          </a:xfrm>
          <a:prstGeom prst="rect">
            <a:avLst/>
          </a:prstGeom>
          <a:noFill/>
          <a:ln/>
        </p:spPr>
        <p:txBody>
          <a:bodyPr wrap="square" rtlCol="0" anchor="ctr"/>
          <a:lstStyle/>
          <a:p>
            <a:pPr algn="ctr" indent="0" marL="0">
              <a:buNone/>
            </a:pPr>
            <a:r>
              <a:rPr lang="en-US" sz="1100" dirty="0">
                <a:solidFill>
                  <a:srgbClr val="8A94A6"/>
                </a:solidFill>
                <a:latin typeface="맑은 고딕" pitchFamily="34" charset="0"/>
                <a:ea typeface="맑은 고딕" pitchFamily="34" charset="-122"/>
                <a:cs typeface="맑은 고딕" pitchFamily="34" charset="-120"/>
              </a:rPr>
              <a:t>▶</a:t>
            </a:r>
            <a:endParaRPr lang="en-US" sz="1100" dirty="0"/>
          </a:p>
        </p:txBody>
      </p:sp>
      <p:sp>
        <p:nvSpPr>
          <p:cNvPr id="16" name="Shape 14"/>
          <p:cNvSpPr/>
          <p:nvPr/>
        </p:nvSpPr>
        <p:spPr>
          <a:xfrm>
            <a:off x="5099792" y="1600200"/>
            <a:ext cx="1992112" cy="1554480"/>
          </a:xfrm>
          <a:prstGeom prst="rect">
            <a:avLst>
              <a:gd name="adj" fmla="val 4706"/>
            </a:avLst>
          </a:prstGeom>
          <a:solidFill>
            <a:srgbClr val="F4F7F6"/>
          </a:solidFill>
          <a:ln w="12700">
            <a:solidFill>
              <a:srgbClr val="E1E7E4"/>
            </a:solidFill>
            <a:prstDash val="solid"/>
          </a:ln>
        </p:spPr>
      </p:sp>
      <p:sp>
        <p:nvSpPr>
          <p:cNvPr id="17" name="Text 15"/>
          <p:cNvSpPr/>
          <p:nvPr/>
        </p:nvSpPr>
        <p:spPr>
          <a:xfrm>
            <a:off x="5099792" y="1737360"/>
            <a:ext cx="1992112" cy="640080"/>
          </a:xfrm>
          <a:prstGeom prst="rect">
            <a:avLst/>
          </a:prstGeom>
          <a:noFill/>
          <a:ln/>
        </p:spPr>
        <p:txBody>
          <a:bodyPr wrap="square" rtlCol="0" anchor="ctr"/>
          <a:lstStyle/>
          <a:p>
            <a:pPr algn="ctr" indent="0" marL="0">
              <a:buNone/>
            </a:pPr>
            <a:r>
              <a:rPr lang="en-US" sz="3000" b="1" dirty="0">
                <a:solidFill>
                  <a:srgbClr val="0F6F5C"/>
                </a:solidFill>
                <a:latin typeface="맑은 고딕" pitchFamily="34" charset="0"/>
                <a:ea typeface="맑은 고딕" pitchFamily="34" charset="-122"/>
                <a:cs typeface="맑은 고딕" pitchFamily="34" charset="-120"/>
              </a:rPr>
              <a:t>108</a:t>
            </a:r>
            <a:endParaRPr lang="en-US" sz="3000" dirty="0"/>
          </a:p>
        </p:txBody>
      </p:sp>
      <p:sp>
        <p:nvSpPr>
          <p:cNvPr id="18" name="Text 16"/>
          <p:cNvSpPr/>
          <p:nvPr/>
        </p:nvSpPr>
        <p:spPr>
          <a:xfrm>
            <a:off x="5099792" y="2377440"/>
            <a:ext cx="1992112" cy="274320"/>
          </a:xfrm>
          <a:prstGeom prst="rect">
            <a:avLst/>
          </a:prstGeom>
          <a:noFill/>
          <a:ln/>
        </p:spPr>
        <p:txBody>
          <a:bodyPr wrap="square" rtlCol="0" anchor="ctr"/>
          <a:lstStyle/>
          <a:p>
            <a:pPr algn="ctr" indent="0" marL="0">
              <a:buNone/>
            </a:pPr>
            <a:r>
              <a:rPr lang="en-US" sz="1200" b="1" dirty="0">
                <a:solidFill>
                  <a:srgbClr val="15202B"/>
                </a:solidFill>
                <a:latin typeface="맑은 고딕" pitchFamily="34" charset="0"/>
                <a:ea typeface="맑은 고딕" pitchFamily="34" charset="-122"/>
                <a:cs typeface="맑은 고딕" pitchFamily="34" charset="-120"/>
              </a:rPr>
              <a:t>주장 추출</a:t>
            </a:r>
            <a:endParaRPr lang="en-US" sz="1200" dirty="0"/>
          </a:p>
        </p:txBody>
      </p:sp>
      <p:sp>
        <p:nvSpPr>
          <p:cNvPr id="19" name="Text 17"/>
          <p:cNvSpPr/>
          <p:nvPr/>
        </p:nvSpPr>
        <p:spPr>
          <a:xfrm>
            <a:off x="5145512" y="2651760"/>
            <a:ext cx="1900672" cy="411480"/>
          </a:xfrm>
          <a:prstGeom prst="rect">
            <a:avLst/>
          </a:prstGeom>
          <a:noFill/>
          <a:ln/>
        </p:spPr>
        <p:txBody>
          <a:bodyPr wrap="square" rtlCol="0" anchor="ctr"/>
          <a:lstStyle/>
          <a:p>
            <a:pPr algn="ctr" indent="0" marL="0">
              <a:buNone/>
            </a:pPr>
            <a:r>
              <a:rPr lang="en-US" sz="950" dirty="0">
                <a:solidFill>
                  <a:srgbClr val="5B5B6B"/>
                </a:solidFill>
                <a:latin typeface="맑은 고딕" pitchFamily="34" charset="0"/>
                <a:ea typeface="맑은 고딕" pitchFamily="34" charset="-122"/>
                <a:cs typeface="맑은 고딕" pitchFamily="34" charset="-120"/>
              </a:rPr>
              <a:t>falsifiable claims</a:t>
            </a:r>
            <a:endParaRPr lang="en-US" sz="950" dirty="0"/>
          </a:p>
        </p:txBody>
      </p:sp>
      <p:sp>
        <p:nvSpPr>
          <p:cNvPr id="20" name="Text 18"/>
          <p:cNvSpPr/>
          <p:nvPr/>
        </p:nvSpPr>
        <p:spPr>
          <a:xfrm>
            <a:off x="7073616" y="1600200"/>
            <a:ext cx="274320" cy="1554480"/>
          </a:xfrm>
          <a:prstGeom prst="rect">
            <a:avLst/>
          </a:prstGeom>
          <a:noFill/>
          <a:ln/>
        </p:spPr>
        <p:txBody>
          <a:bodyPr wrap="square" rtlCol="0" anchor="ctr"/>
          <a:lstStyle/>
          <a:p>
            <a:pPr algn="ctr" indent="0" marL="0">
              <a:buNone/>
            </a:pPr>
            <a:r>
              <a:rPr lang="en-US" sz="1100" dirty="0">
                <a:solidFill>
                  <a:srgbClr val="8A94A6"/>
                </a:solidFill>
                <a:latin typeface="맑은 고딕" pitchFamily="34" charset="0"/>
                <a:ea typeface="맑은 고딕" pitchFamily="34" charset="-122"/>
                <a:cs typeface="맑은 고딕" pitchFamily="34" charset="-120"/>
              </a:rPr>
              <a:t>▶</a:t>
            </a:r>
            <a:endParaRPr lang="en-US" sz="1100" dirty="0"/>
          </a:p>
        </p:txBody>
      </p:sp>
      <p:sp>
        <p:nvSpPr>
          <p:cNvPr id="21" name="Shape 19"/>
          <p:cNvSpPr/>
          <p:nvPr/>
        </p:nvSpPr>
        <p:spPr>
          <a:xfrm>
            <a:off x="7366224" y="1600200"/>
            <a:ext cx="1992112" cy="1554480"/>
          </a:xfrm>
          <a:prstGeom prst="rect">
            <a:avLst>
              <a:gd name="adj" fmla="val 4706"/>
            </a:avLst>
          </a:prstGeom>
          <a:solidFill>
            <a:srgbClr val="F4F7F6"/>
          </a:solidFill>
          <a:ln w="12700">
            <a:solidFill>
              <a:srgbClr val="E1E7E4"/>
            </a:solidFill>
            <a:prstDash val="solid"/>
          </a:ln>
        </p:spPr>
      </p:sp>
      <p:sp>
        <p:nvSpPr>
          <p:cNvPr id="22" name="Text 20"/>
          <p:cNvSpPr/>
          <p:nvPr/>
        </p:nvSpPr>
        <p:spPr>
          <a:xfrm>
            <a:off x="7366224" y="1737360"/>
            <a:ext cx="1992112" cy="640080"/>
          </a:xfrm>
          <a:prstGeom prst="rect">
            <a:avLst/>
          </a:prstGeom>
          <a:noFill/>
          <a:ln/>
        </p:spPr>
        <p:txBody>
          <a:bodyPr wrap="square" rtlCol="0" anchor="ctr"/>
          <a:lstStyle/>
          <a:p>
            <a:pPr algn="ctr" indent="0" marL="0">
              <a:buNone/>
            </a:pPr>
            <a:r>
              <a:rPr lang="en-US" sz="3000" b="1" dirty="0">
                <a:solidFill>
                  <a:srgbClr val="0F6F5C"/>
                </a:solidFill>
                <a:latin typeface="맑은 고딕" pitchFamily="34" charset="0"/>
                <a:ea typeface="맑은 고딕" pitchFamily="34" charset="-122"/>
                <a:cs typeface="맑은 고딕" pitchFamily="34" charset="-120"/>
              </a:rPr>
              <a:t>3표</a:t>
            </a:r>
            <a:endParaRPr lang="en-US" sz="3000" dirty="0"/>
          </a:p>
        </p:txBody>
      </p:sp>
      <p:sp>
        <p:nvSpPr>
          <p:cNvPr id="23" name="Text 21"/>
          <p:cNvSpPr/>
          <p:nvPr/>
        </p:nvSpPr>
        <p:spPr>
          <a:xfrm>
            <a:off x="7366224" y="2377440"/>
            <a:ext cx="1992112" cy="274320"/>
          </a:xfrm>
          <a:prstGeom prst="rect">
            <a:avLst/>
          </a:prstGeom>
          <a:noFill/>
          <a:ln/>
        </p:spPr>
        <p:txBody>
          <a:bodyPr wrap="square" rtlCol="0" anchor="ctr"/>
          <a:lstStyle/>
          <a:p>
            <a:pPr algn="ctr" indent="0" marL="0">
              <a:buNone/>
            </a:pPr>
            <a:r>
              <a:rPr lang="en-US" sz="1200" b="1" dirty="0">
                <a:solidFill>
                  <a:srgbClr val="15202B"/>
                </a:solidFill>
                <a:latin typeface="맑은 고딕" pitchFamily="34" charset="0"/>
                <a:ea typeface="맑은 고딕" pitchFamily="34" charset="-122"/>
                <a:cs typeface="맑은 고딕" pitchFamily="34" charset="-120"/>
              </a:rPr>
              <a:t>적대적 검증</a:t>
            </a:r>
            <a:endParaRPr lang="en-US" sz="1200" dirty="0"/>
          </a:p>
        </p:txBody>
      </p:sp>
      <p:sp>
        <p:nvSpPr>
          <p:cNvPr id="24" name="Text 22"/>
          <p:cNvSpPr/>
          <p:nvPr/>
        </p:nvSpPr>
        <p:spPr>
          <a:xfrm>
            <a:off x="7411944" y="2651760"/>
            <a:ext cx="1900672" cy="411480"/>
          </a:xfrm>
          <a:prstGeom prst="rect">
            <a:avLst/>
          </a:prstGeom>
          <a:noFill/>
          <a:ln/>
        </p:spPr>
        <p:txBody>
          <a:bodyPr wrap="square" rtlCol="0" anchor="ctr"/>
          <a:lstStyle/>
          <a:p>
            <a:pPr algn="ctr" indent="0" marL="0">
              <a:buNone/>
            </a:pPr>
            <a:r>
              <a:rPr lang="en-US" sz="950" dirty="0">
                <a:solidFill>
                  <a:srgbClr val="5B5B6B"/>
                </a:solidFill>
                <a:latin typeface="맑은 고딕" pitchFamily="34" charset="0"/>
                <a:ea typeface="맑은 고딕" pitchFamily="34" charset="-122"/>
                <a:cs typeface="맑은 고딕" pitchFamily="34" charset="-120"/>
              </a:rPr>
              <a:t>2/3 반박 시 기각</a:t>
            </a:r>
            <a:endParaRPr lang="en-US" sz="950" dirty="0"/>
          </a:p>
        </p:txBody>
      </p:sp>
      <p:sp>
        <p:nvSpPr>
          <p:cNvPr id="25" name="Text 23"/>
          <p:cNvSpPr/>
          <p:nvPr/>
        </p:nvSpPr>
        <p:spPr>
          <a:xfrm>
            <a:off x="9340047" y="1600200"/>
            <a:ext cx="274320" cy="1554480"/>
          </a:xfrm>
          <a:prstGeom prst="rect">
            <a:avLst/>
          </a:prstGeom>
          <a:noFill/>
          <a:ln/>
        </p:spPr>
        <p:txBody>
          <a:bodyPr wrap="square" rtlCol="0" anchor="ctr"/>
          <a:lstStyle/>
          <a:p>
            <a:pPr algn="ctr" indent="0" marL="0">
              <a:buNone/>
            </a:pPr>
            <a:r>
              <a:rPr lang="en-US" sz="1100" dirty="0">
                <a:solidFill>
                  <a:srgbClr val="8A94A6"/>
                </a:solidFill>
                <a:latin typeface="맑은 고딕" pitchFamily="34" charset="0"/>
                <a:ea typeface="맑은 고딕" pitchFamily="34" charset="-122"/>
                <a:cs typeface="맑은 고딕" pitchFamily="34" charset="-120"/>
              </a:rPr>
              <a:t>▶</a:t>
            </a:r>
            <a:endParaRPr lang="en-US" sz="1100" dirty="0"/>
          </a:p>
        </p:txBody>
      </p:sp>
      <p:sp>
        <p:nvSpPr>
          <p:cNvPr id="26" name="Shape 24"/>
          <p:cNvSpPr/>
          <p:nvPr/>
        </p:nvSpPr>
        <p:spPr>
          <a:xfrm>
            <a:off x="9632655" y="1600200"/>
            <a:ext cx="1992112" cy="1554480"/>
          </a:xfrm>
          <a:prstGeom prst="rect">
            <a:avLst>
              <a:gd name="adj" fmla="val 4706"/>
            </a:avLst>
          </a:prstGeom>
          <a:solidFill>
            <a:srgbClr val="F4F7F6"/>
          </a:solidFill>
          <a:ln w="12700">
            <a:solidFill>
              <a:srgbClr val="E1E7E4"/>
            </a:solidFill>
            <a:prstDash val="solid"/>
          </a:ln>
        </p:spPr>
      </p:sp>
      <p:sp>
        <p:nvSpPr>
          <p:cNvPr id="27" name="Text 25"/>
          <p:cNvSpPr/>
          <p:nvPr/>
        </p:nvSpPr>
        <p:spPr>
          <a:xfrm>
            <a:off x="9632655" y="1737360"/>
            <a:ext cx="1992112" cy="640080"/>
          </a:xfrm>
          <a:prstGeom prst="rect">
            <a:avLst/>
          </a:prstGeom>
          <a:noFill/>
          <a:ln/>
        </p:spPr>
        <p:txBody>
          <a:bodyPr wrap="square" rtlCol="0" anchor="ctr"/>
          <a:lstStyle/>
          <a:p>
            <a:pPr algn="ctr" indent="0" marL="0">
              <a:buNone/>
            </a:pPr>
            <a:r>
              <a:rPr lang="en-US" sz="3000" b="1" dirty="0">
                <a:solidFill>
                  <a:srgbClr val="0F6F5C"/>
                </a:solidFill>
                <a:latin typeface="맑은 고딕" pitchFamily="34" charset="0"/>
                <a:ea typeface="맑은 고딕" pitchFamily="34" charset="-122"/>
                <a:cs typeface="맑은 고딕" pitchFamily="34" charset="-120"/>
              </a:rPr>
              <a:t>23</a:t>
            </a:r>
            <a:endParaRPr lang="en-US" sz="3000" dirty="0"/>
          </a:p>
        </p:txBody>
      </p:sp>
      <p:sp>
        <p:nvSpPr>
          <p:cNvPr id="28" name="Text 26"/>
          <p:cNvSpPr/>
          <p:nvPr/>
        </p:nvSpPr>
        <p:spPr>
          <a:xfrm>
            <a:off x="9632655" y="2377440"/>
            <a:ext cx="1992112" cy="274320"/>
          </a:xfrm>
          <a:prstGeom prst="rect">
            <a:avLst/>
          </a:prstGeom>
          <a:noFill/>
          <a:ln/>
        </p:spPr>
        <p:txBody>
          <a:bodyPr wrap="square" rtlCol="0" anchor="ctr"/>
          <a:lstStyle/>
          <a:p>
            <a:pPr algn="ctr" indent="0" marL="0">
              <a:buNone/>
            </a:pPr>
            <a:r>
              <a:rPr lang="en-US" sz="1200" b="1" dirty="0">
                <a:solidFill>
                  <a:srgbClr val="15202B"/>
                </a:solidFill>
                <a:latin typeface="맑은 고딕" pitchFamily="34" charset="0"/>
                <a:ea typeface="맑은 고딕" pitchFamily="34" charset="-122"/>
                <a:cs typeface="맑은 고딕" pitchFamily="34" charset="-120"/>
              </a:rPr>
              <a:t>확정 주장</a:t>
            </a:r>
            <a:endParaRPr lang="en-US" sz="1200" dirty="0"/>
          </a:p>
        </p:txBody>
      </p:sp>
      <p:sp>
        <p:nvSpPr>
          <p:cNvPr id="29" name="Text 27"/>
          <p:cNvSpPr/>
          <p:nvPr/>
        </p:nvSpPr>
        <p:spPr>
          <a:xfrm>
            <a:off x="9678375" y="2651760"/>
            <a:ext cx="1900672" cy="411480"/>
          </a:xfrm>
          <a:prstGeom prst="rect">
            <a:avLst/>
          </a:prstGeom>
          <a:noFill/>
          <a:ln/>
        </p:spPr>
        <p:txBody>
          <a:bodyPr wrap="square" rtlCol="0" anchor="ctr"/>
          <a:lstStyle/>
          <a:p>
            <a:pPr algn="ctr" indent="0" marL="0">
              <a:buNone/>
            </a:pPr>
            <a:r>
              <a:rPr lang="en-US" sz="950" dirty="0">
                <a:solidFill>
                  <a:srgbClr val="5B5B6B"/>
                </a:solidFill>
                <a:latin typeface="맑은 고딕" pitchFamily="34" charset="0"/>
                <a:ea typeface="맑은 고딕" pitchFamily="34" charset="-122"/>
                <a:cs typeface="맑은 고딕" pitchFamily="34" charset="-120"/>
              </a:rPr>
              <a:t>2 기각 · 12 종합</a:t>
            </a:r>
            <a:endParaRPr lang="en-US" sz="950" dirty="0"/>
          </a:p>
        </p:txBody>
      </p:sp>
      <p:sp>
        <p:nvSpPr>
          <p:cNvPr id="30" name="Text 28"/>
          <p:cNvSpPr/>
          <p:nvPr/>
        </p:nvSpPr>
        <p:spPr>
          <a:xfrm>
            <a:off x="566928" y="3337560"/>
            <a:ext cx="10972800" cy="274320"/>
          </a:xfrm>
          <a:prstGeom prst="rect">
            <a:avLst/>
          </a:prstGeom>
          <a:noFill/>
          <a:ln/>
        </p:spPr>
        <p:txBody>
          <a:bodyPr wrap="square" rtlCol="0" anchor="ctr"/>
          <a:lstStyle/>
          <a:p>
            <a:pPr indent="0" marL="0">
              <a:buNone/>
            </a:pPr>
            <a:r>
              <a:rPr lang="en-US" sz="1100" i="1" dirty="0">
                <a:solidFill>
                  <a:srgbClr val="5B5B6B"/>
                </a:solidFill>
                <a:latin typeface="맑은 고딕" pitchFamily="34" charset="0"/>
                <a:ea typeface="맑은 고딕" pitchFamily="34" charset="-122"/>
                <a:cs typeface="맑은 고딕" pitchFamily="34" charset="-120"/>
              </a:rPr>
              <a:t>처리량: 109개 서브에이전트 · 4.3M 토큰 · 약 33분 병렬 실행</a:t>
            </a:r>
            <a:endParaRPr lang="en-US" sz="1100" dirty="0"/>
          </a:p>
        </p:txBody>
      </p:sp>
      <p:sp>
        <p:nvSpPr>
          <p:cNvPr id="31" name="Shape 29"/>
          <p:cNvSpPr/>
          <p:nvPr/>
        </p:nvSpPr>
        <p:spPr>
          <a:xfrm>
            <a:off x="566928" y="3840480"/>
            <a:ext cx="11057839" cy="2194560"/>
          </a:xfrm>
          <a:prstGeom prst="rect">
            <a:avLst>
              <a:gd name="adj" fmla="val 3333"/>
            </a:avLst>
          </a:prstGeom>
          <a:solidFill>
            <a:srgbClr val="EEF3F1"/>
          </a:solidFill>
          <a:ln w="12700">
            <a:solidFill>
              <a:srgbClr val="E1E7E4"/>
            </a:solidFill>
            <a:prstDash val="solid"/>
          </a:ln>
        </p:spPr>
      </p:sp>
      <p:sp>
        <p:nvSpPr>
          <p:cNvPr id="32" name="Text 30"/>
          <p:cNvSpPr/>
          <p:nvPr/>
        </p:nvSpPr>
        <p:spPr>
          <a:xfrm>
            <a:off x="841248" y="3977640"/>
            <a:ext cx="10058400" cy="365760"/>
          </a:xfrm>
          <a:prstGeom prst="rect">
            <a:avLst/>
          </a:prstGeom>
          <a:noFill/>
          <a:ln/>
        </p:spPr>
        <p:txBody>
          <a:bodyPr wrap="square" rtlCol="0" anchor="ctr"/>
          <a:lstStyle/>
          <a:p>
            <a:pPr indent="0" marL="0">
              <a:buNone/>
            </a:pPr>
            <a:r>
              <a:rPr lang="en-US" sz="1400" b="1" dirty="0">
                <a:solidFill>
                  <a:srgbClr val="0F6F5C"/>
                </a:solidFill>
                <a:latin typeface="맑은 고딕" pitchFamily="34" charset="0"/>
                <a:ea typeface="맑은 고딕" pitchFamily="34" charset="-122"/>
                <a:cs typeface="맑은 고딕" pitchFamily="34" charset="-120"/>
              </a:rPr>
              <a:t>설계 철학: "검증된 형태만 이식한다"</a:t>
            </a:r>
            <a:endParaRPr lang="en-US" sz="1400" dirty="0"/>
          </a:p>
        </p:txBody>
      </p:sp>
      <p:sp>
        <p:nvSpPr>
          <p:cNvPr id="33" name="Text 31"/>
          <p:cNvSpPr/>
          <p:nvPr/>
        </p:nvSpPr>
        <p:spPr>
          <a:xfrm>
            <a:off x="841248" y="4389120"/>
            <a:ext cx="10509199" cy="1554480"/>
          </a:xfrm>
          <a:prstGeom prst="rect">
            <a:avLst/>
          </a:prstGeom>
          <a:noFill/>
          <a:ln/>
        </p:spPr>
        <p:txBody>
          <a:bodyPr wrap="square" rtlCol="0" anchor="t"/>
          <a:lstStyle/>
          <a:p>
            <a:pPr indent="0" marL="0">
              <a:lnSpc>
                <a:spcPct val="120000"/>
              </a:lnSpc>
              <a:buNone/>
            </a:pPr>
            <a:r>
              <a:rPr lang="en-US" sz="1250" dirty="0">
                <a:solidFill>
                  <a:srgbClr val="15202B"/>
                </a:solidFill>
                <a:latin typeface="맑은 고딕" pitchFamily="34" charset="0"/>
                <a:ea typeface="맑은 고딕" pitchFamily="34" charset="-122"/>
                <a:cs typeface="맑은 고딕" pitchFamily="34" charset="-120"/>
              </a:rPr>
              <a:t>· 프로덕션 모델(그래디언트 부스팅)이 아니라 그 </a:t>
            </a:r>
            <a:pPr indent="0" marL="0">
              <a:lnSpc>
                <a:spcPct val="120000"/>
              </a:lnSpc>
              <a:buNone/>
            </a:pPr>
            <a:r>
              <a:rPr lang="en-US" sz="1250" b="1" dirty="0">
                <a:solidFill>
                  <a:srgbClr val="15202B"/>
                </a:solidFill>
                <a:latin typeface="맑은 고딕" pitchFamily="34" charset="0"/>
                <a:ea typeface="맑은 고딕" pitchFamily="34" charset="-122"/>
                <a:cs typeface="맑은 고딕" pitchFamily="34" charset="-120"/>
              </a:rPr>
              <a:t>로지스틱 베이스라인</a:t>
            </a:r>
            <a:endParaRPr lang="en-US" sz="1250" dirty="0"/>
          </a:p>
          <a:p>
            <a:pPr indent="0" marL="0">
              <a:lnSpc>
                <a:spcPct val="120000"/>
              </a:lnSpc>
              <a:buNone/>
            </a:pPr>
            <a:r>
              <a:rPr lang="en-US" sz="1150" dirty="0">
                <a:solidFill>
                  <a:srgbClr val="5B5B6B"/>
                </a:solidFill>
                <a:latin typeface="맑은 고딕" pitchFamily="34" charset="0"/>
                <a:ea typeface="맑은 고딕" pitchFamily="34" charset="-122"/>
                <a:cs typeface="맑은 고딕" pitchFamily="34" charset="-120"/>
              </a:rPr>
              <a:t>을 채택 — 순수 클라이언트·결정론 엔진에 맞는 이식 가능한 형태.</a:t>
            </a:r>
            <a:endParaRPr lang="en-US" sz="1250" dirty="0"/>
          </a:p>
          <a:p>
            <a:pPr indent="0" marL="0">
              <a:lnSpc>
                <a:spcPct val="120000"/>
              </a:lnSpc>
              <a:buNone/>
            </a:pPr>
            <a:r>
              <a:rPr lang="en-US" sz="1250" dirty="0">
                <a:solidFill>
                  <a:srgbClr val="15202B"/>
                </a:solidFill>
                <a:latin typeface="맑은 고딕" pitchFamily="34" charset="0"/>
                <a:ea typeface="맑은 고딕" pitchFamily="34" charset="-122"/>
                <a:cs typeface="맑은 고딕" pitchFamily="34" charset="-120"/>
              </a:rPr>
              <a:t>· 계수는 논문 복붙이 아니라 </a:t>
            </a:r>
            <a:pPr indent="0" marL="0">
              <a:lnSpc>
                <a:spcPct val="120000"/>
              </a:lnSpc>
              <a:buNone/>
            </a:pPr>
            <a:r>
              <a:rPr lang="en-US" sz="1250" b="1" dirty="0">
                <a:solidFill>
                  <a:srgbClr val="15202B"/>
                </a:solidFill>
                <a:latin typeface="맑은 고딕" pitchFamily="34" charset="0"/>
                <a:ea typeface="맑은 고딕" pitchFamily="34" charset="-122"/>
                <a:cs typeface="맑은 고딕" pitchFamily="34" charset="-120"/>
              </a:rPr>
              <a:t>우리 피치(120×80) 앵커로 재fit + node 검증</a:t>
            </a:r>
            <a:endParaRPr lang="en-US" sz="1250" dirty="0"/>
          </a:p>
          <a:p>
            <a:pPr indent="0" marL="0">
              <a:lnSpc>
                <a:spcPct val="120000"/>
              </a:lnSpc>
              <a:buNone/>
            </a:pPr>
            <a:r>
              <a:rPr lang="en-US" sz="1150" dirty="0">
                <a:solidFill>
                  <a:srgbClr val="5B5B6B"/>
                </a:solidFill>
                <a:latin typeface="맑은 고딕" pitchFamily="34" charset="0"/>
                <a:ea typeface="맑은 고딕" pitchFamily="34" charset="-122"/>
                <a:cs typeface="맑은 고딕" pitchFamily="34" charset="-120"/>
              </a:rPr>
              <a:t>  (페널티 0.76, 6m 정면, 박스 가장자리).</a:t>
            </a:r>
            <a:endParaRPr lang="en-US" sz="1250" dirty="0"/>
          </a:p>
          <a:p>
            <a:pPr indent="0" marL="0">
              <a:lnSpc>
                <a:spcPct val="120000"/>
              </a:lnSpc>
              <a:buNone/>
            </a:pPr>
            <a:r>
              <a:rPr lang="en-US" sz="1250" dirty="0">
                <a:solidFill>
                  <a:srgbClr val="15202B"/>
                </a:solidFill>
                <a:latin typeface="맑은 고딕" pitchFamily="34" charset="0"/>
                <a:ea typeface="맑은 고딕" pitchFamily="34" charset="-122"/>
                <a:cs typeface="맑은 고딕" pitchFamily="34" charset="-120"/>
              </a:rPr>
              <a:t>· 기각된 주장은 배제 — 예: "볼컨트롤 λ=4.30/s"(0-3 기각).</a:t>
            </a:r>
            <a:endParaRPr lang="en-US" sz="1250" dirty="0"/>
          </a:p>
        </p:txBody>
      </p:sp>
      <p:sp>
        <p:nvSpPr>
          <p:cNvPr id="35" name="Text 32"/>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36" name="Text 33"/>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FINDINGS</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메커닉별 문헌 합의 (검증 통과)</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7839" cy="914400"/>
        </p:xfrm>
        <a:graphic>
          <a:graphicData uri="http://schemas.openxmlformats.org/drawingml/2006/table">
            <a:tbl>
              <a:tblPr/>
              <a:tblGrid>
                <a:gridCol w="1600200"/>
                <a:gridCol w="6720840"/>
                <a:gridCol w="2734056"/>
              </a:tblGrid>
              <a:tr h="292608">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메커닉</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문헌 합의</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대표 출처</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슈팅 xG</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거리·각도 이항 로지스틱 xG=σ(β0+β1D+β2θ). 거리계수 음수, 페널티≈0.76.</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Wikipedia · mckayjohns</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패스</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지배 레버는 거리 아닌 리시버 근처 수비 기하. 기준 완성률 ~75%. 연속 소프트 프레셔.</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ASA · StatsBomb · Anzer-Bauer</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드리블</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1v1은 중간 예측력(AUC≈0.69). 개별 능력치보다 상호작용(간격·압박) 지배.</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Oonk 2025 (J.Sports Sci.)</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시퀀스</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순수 곱 ∏P 명시적 기각 → 가법·재귀 가치(xT 벨만, EPV 기대값). 크레딧=xT 델타.</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Karun Singh xT · Fernández EPV</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매칭</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exp(-d²/2σ²) = 표준 가우시안/RBF 커널. σ↑ 관대, σ↓ 엄격.</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$1 Recognizer · RBF</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FM 매핑</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공식 근거 미확보(공백). 1~20 비선형이라는 정성 정보만(12→14 큰 격차).</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(정성) assman · fmscout</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bl>
          </a:graphicData>
        </a:graphic>
      </p:graphicFrame>
      <p:sp>
        <p:nvSpPr>
          <p:cNvPr id="7" name="Shape 4"/>
          <p:cNvSpPr/>
          <p:nvPr/>
        </p:nvSpPr>
        <p:spPr>
          <a:xfrm>
            <a:off x="566928" y="5074920"/>
            <a:ext cx="11057839" cy="914400"/>
          </a:xfrm>
          <a:prstGeom prst="rect">
            <a:avLst>
              <a:gd name="adj" fmla="val 8000"/>
            </a:avLst>
          </a:prstGeom>
          <a:solidFill>
            <a:srgbClr val="F6E9EA"/>
          </a:solidFill>
          <a:ln w="12700">
            <a:solidFill>
              <a:srgbClr val="B23A48"/>
            </a:solidFill>
            <a:prstDash val="solid"/>
          </a:ln>
        </p:spPr>
      </p:sp>
      <p:sp>
        <p:nvSpPr>
          <p:cNvPr id="8" name="Text 5"/>
          <p:cNvSpPr/>
          <p:nvPr/>
        </p:nvSpPr>
        <p:spPr>
          <a:xfrm>
            <a:off x="749808" y="5138928"/>
            <a:ext cx="10692079" cy="822960"/>
          </a:xfrm>
          <a:prstGeom prst="rect">
            <a:avLst/>
          </a:prstGeom>
          <a:noFill/>
          <a:ln/>
        </p:spPr>
        <p:txBody>
          <a:bodyPr wrap="square" rtlCol="0" anchor="ctr"/>
          <a:lstStyle/>
          <a:p>
            <a:pPr indent="0" marL="0">
              <a:lnSpc>
                <a:spcPct val="110000"/>
              </a:lnSpc>
              <a:buNone/>
            </a:pPr>
            <a:r>
              <a:rPr lang="en-US" sz="1200" b="1" dirty="0">
                <a:solidFill>
                  <a:srgbClr val="B23A48"/>
                </a:solidFill>
                <a:latin typeface="맑은 고딕" pitchFamily="34" charset="0"/>
                <a:ea typeface="맑은 고딕" pitchFamily="34" charset="-122"/>
                <a:cs typeface="맑은 고딕" pitchFamily="34" charset="-120"/>
              </a:rPr>
              <a:t>반면교사 (채택 안 함)  </a:t>
            </a:r>
            <a:endParaRPr lang="en-US" sz="1200" dirty="0"/>
          </a:p>
          <a:p>
            <a:pPr indent="0" marL="0">
              <a:lnSpc>
                <a:spcPct val="110000"/>
              </a:lnSpc>
              <a:buNone/>
            </a:pPr>
            <a:r>
              <a:rPr lang="en-US" sz="1150" dirty="0">
                <a:solidFill>
                  <a:srgbClr val="15202B"/>
                </a:solidFill>
                <a:latin typeface="맑은 고딕" pitchFamily="34" charset="0"/>
                <a:ea typeface="맑은 고딕" pitchFamily="34" charset="-122"/>
                <a:cs typeface="맑은 고딕" pitchFamily="34" charset="-120"/>
              </a:rPr>
              <a:t>· "볼 컨트롤 P=1−e^(−λt), λ=4.30/s"  →  0-3 기각</a:t>
            </a:r>
            <a:endParaRPr lang="en-US" sz="1200" dirty="0"/>
          </a:p>
          <a:p>
            <a:pPr indent="0" marL="0">
              <a:lnSpc>
                <a:spcPct val="110000"/>
              </a:lnSpc>
              <a:buNone/>
            </a:pPr>
            <a:r>
              <a:rPr lang="en-US" sz="1150" dirty="0">
                <a:solidFill>
                  <a:srgbClr val="15202B"/>
                </a:solidFill>
                <a:latin typeface="맑은 고딕" pitchFamily="34" charset="0"/>
                <a:ea typeface="맑은 고딕" pitchFamily="34" charset="-122"/>
                <a:cs typeface="맑은 고딕" pitchFamily="34" charset="-120"/>
              </a:rPr>
              <a:t>· "xG 최소 특징집합에 수비수 1m 여부 포함"  →  0-3 기각</a:t>
            </a:r>
            <a:endParaRPr lang="en-US" sz="1200" dirty="0"/>
          </a:p>
        </p:txBody>
      </p:sp>
      <p:sp>
        <p:nvSpPr>
          <p:cNvPr id="10" name="Text 6"/>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1" name="Text 7"/>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PRINCIPLES</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확정 설계 3원칙</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554480"/>
            <a:ext cx="11057839" cy="1417320"/>
          </a:xfrm>
          <a:prstGeom prst="rect">
            <a:avLst>
              <a:gd name="adj" fmla="val 5161"/>
            </a:avLst>
          </a:prstGeom>
          <a:solidFill>
            <a:srgbClr val="F4F7F6"/>
          </a:solidFill>
          <a:ln w="12700">
            <a:solidFill>
              <a:srgbClr val="E1E7E4"/>
            </a:solidFill>
            <a:prstDash val="solid"/>
          </a:ln>
        </p:spPr>
      </p:sp>
      <p:sp>
        <p:nvSpPr>
          <p:cNvPr id="7" name="Shape 5"/>
          <p:cNvSpPr/>
          <p:nvPr/>
        </p:nvSpPr>
        <p:spPr>
          <a:xfrm>
            <a:off x="566928" y="1554480"/>
            <a:ext cx="822960" cy="1417320"/>
          </a:xfrm>
          <a:prstGeom prst="rect">
            <a:avLst>
              <a:gd name="adj" fmla="val 8889"/>
            </a:avLst>
          </a:prstGeom>
          <a:solidFill>
            <a:srgbClr val="0F6F5C"/>
          </a:solidFill>
          <a:ln/>
        </p:spPr>
      </p:sp>
      <p:sp>
        <p:nvSpPr>
          <p:cNvPr id="8" name="Text 6"/>
          <p:cNvSpPr/>
          <p:nvPr/>
        </p:nvSpPr>
        <p:spPr>
          <a:xfrm>
            <a:off x="566928" y="1554480"/>
            <a:ext cx="822960" cy="1417320"/>
          </a:xfrm>
          <a:prstGeom prst="rect">
            <a:avLst/>
          </a:prstGeom>
          <a:noFill/>
          <a:ln/>
        </p:spPr>
        <p:txBody>
          <a:bodyPr wrap="square" rtlCol="0" anchor="ctr"/>
          <a:lstStyle/>
          <a:p>
            <a:pPr algn="ctr" indent="0" marL="0">
              <a:buNone/>
            </a:pPr>
            <a:r>
              <a:rPr lang="en-US" sz="3400" b="1" dirty="0">
                <a:solidFill>
                  <a:srgbClr val="FFFFFF"/>
                </a:solidFill>
                <a:latin typeface="맑은 고딕" pitchFamily="34" charset="0"/>
                <a:ea typeface="맑은 고딕" pitchFamily="34" charset="-122"/>
                <a:cs typeface="맑은 고딕" pitchFamily="34" charset="-120"/>
              </a:rPr>
              <a:t>1</a:t>
            </a:r>
            <a:endParaRPr lang="en-US" sz="3400" dirty="0"/>
          </a:p>
        </p:txBody>
      </p:sp>
      <p:sp>
        <p:nvSpPr>
          <p:cNvPr id="9" name="Text 7"/>
          <p:cNvSpPr/>
          <p:nvPr/>
        </p:nvSpPr>
        <p:spPr>
          <a:xfrm>
            <a:off x="1572768" y="1682496"/>
            <a:ext cx="6400800" cy="365760"/>
          </a:xfrm>
          <a:prstGeom prst="rect">
            <a:avLst/>
          </a:prstGeom>
          <a:noFill/>
          <a:ln/>
        </p:spPr>
        <p:txBody>
          <a:bodyPr wrap="square" rtlCol="0" anchor="ctr"/>
          <a:lstStyle/>
          <a:p>
            <a:pPr indent="0" marL="0">
              <a:buNone/>
            </a:pPr>
            <a:r>
              <a:rPr lang="en-US" sz="1600" b="1" dirty="0">
                <a:solidFill>
                  <a:srgbClr val="15202B"/>
                </a:solidFill>
                <a:latin typeface="맑은 고딕" pitchFamily="34" charset="0"/>
                <a:ea typeface="맑은 고딕" pitchFamily="34" charset="-122"/>
                <a:cs typeface="맑은 고딕" pitchFamily="34" charset="-120"/>
              </a:rPr>
              <a:t>로그오즈에서 가법</a:t>
            </a:r>
            <a:endParaRPr lang="en-US" sz="1600" dirty="0"/>
          </a:p>
        </p:txBody>
      </p:sp>
      <p:sp>
        <p:nvSpPr>
          <p:cNvPr id="10" name="Text 8"/>
          <p:cNvSpPr/>
          <p:nvPr/>
        </p:nvSpPr>
        <p:spPr>
          <a:xfrm>
            <a:off x="1572768" y="2084832"/>
            <a:ext cx="6583680" cy="822960"/>
          </a:xfrm>
          <a:prstGeom prst="rect">
            <a:avLst/>
          </a:prstGeom>
          <a:noFill/>
          <a:ln/>
        </p:spPr>
        <p:txBody>
          <a:bodyPr wrap="square" rtlCol="0" anchor="ctr"/>
          <a:lstStyle/>
          <a:p>
            <a:pPr indent="0" marL="0">
              <a:lnSpc>
                <a:spcPct val="112000"/>
              </a:lnSpc>
              <a:buNone/>
            </a:pPr>
            <a:r>
              <a:rPr lang="en-US" sz="1150" dirty="0">
                <a:solidFill>
                  <a:srgbClr val="5B5B6B"/>
                </a:solidFill>
                <a:latin typeface="맑은 고딕" pitchFamily="34" charset="0"/>
                <a:ea typeface="맑은 고딕" pitchFamily="34" charset="-122"/>
                <a:cs typeface="맑은 고딕" pitchFamily="34" charset="-120"/>
              </a:rPr>
              <a:t>모든 항(거리·각도·스킬·압박)을 z에 더하고 마지막에 σ(z) 1회. 곱셈식보다 앵커 캘리브레이션과 확률 안전범위가 명확.</a:t>
            </a:r>
            <a:endParaRPr lang="en-US" sz="1150" dirty="0"/>
          </a:p>
        </p:txBody>
      </p:sp>
      <p:sp>
        <p:nvSpPr>
          <p:cNvPr id="11" name="Shape 9"/>
          <p:cNvSpPr/>
          <p:nvPr/>
        </p:nvSpPr>
        <p:spPr>
          <a:xfrm>
            <a:off x="8339328" y="1847088"/>
            <a:ext cx="2880360" cy="822960"/>
          </a:xfrm>
          <a:prstGeom prst="rect">
            <a:avLst>
              <a:gd name="adj" fmla="val 6667"/>
            </a:avLst>
          </a:prstGeom>
          <a:solidFill>
            <a:srgbClr val="15202B"/>
          </a:solidFill>
          <a:ln/>
        </p:spPr>
      </p:sp>
      <p:sp>
        <p:nvSpPr>
          <p:cNvPr id="12" name="Text 10"/>
          <p:cNvSpPr/>
          <p:nvPr/>
        </p:nvSpPr>
        <p:spPr>
          <a:xfrm>
            <a:off x="8385048" y="1847088"/>
            <a:ext cx="2788920" cy="822960"/>
          </a:xfrm>
          <a:prstGeom prst="rect">
            <a:avLst/>
          </a:prstGeom>
          <a:noFill/>
          <a:ln/>
        </p:spPr>
        <p:txBody>
          <a:bodyPr wrap="square" rtlCol="0" anchor="ctr"/>
          <a:lstStyle/>
          <a:p>
            <a:pPr algn="ctr" indent="0" marL="0">
              <a:buNone/>
            </a:pPr>
            <a:r>
              <a:rPr lang="en-US" sz="1200" dirty="0">
                <a:solidFill>
                  <a:srgbClr val="E8EEEA"/>
                </a:solidFill>
                <a:latin typeface="Consolas" pitchFamily="34" charset="0"/>
                <a:ea typeface="Consolas" pitchFamily="34" charset="-122"/>
                <a:cs typeface="Consolas" pitchFamily="34" charset="-120"/>
              </a:rPr>
              <a:t>σ(z) = 1 / (1+e^−z)</a:t>
            </a:r>
            <a:endParaRPr lang="en-US" sz="1200" dirty="0"/>
          </a:p>
        </p:txBody>
      </p:sp>
      <p:sp>
        <p:nvSpPr>
          <p:cNvPr id="13" name="Shape 11"/>
          <p:cNvSpPr/>
          <p:nvPr/>
        </p:nvSpPr>
        <p:spPr>
          <a:xfrm>
            <a:off x="566928" y="3127248"/>
            <a:ext cx="11057839" cy="1417320"/>
          </a:xfrm>
          <a:prstGeom prst="rect">
            <a:avLst>
              <a:gd name="adj" fmla="val 5161"/>
            </a:avLst>
          </a:prstGeom>
          <a:solidFill>
            <a:srgbClr val="F4F7F6"/>
          </a:solidFill>
          <a:ln w="12700">
            <a:solidFill>
              <a:srgbClr val="E1E7E4"/>
            </a:solidFill>
            <a:prstDash val="solid"/>
          </a:ln>
        </p:spPr>
      </p:sp>
      <p:sp>
        <p:nvSpPr>
          <p:cNvPr id="14" name="Shape 12"/>
          <p:cNvSpPr/>
          <p:nvPr/>
        </p:nvSpPr>
        <p:spPr>
          <a:xfrm>
            <a:off x="566928" y="3127248"/>
            <a:ext cx="822960" cy="1417320"/>
          </a:xfrm>
          <a:prstGeom prst="rect">
            <a:avLst>
              <a:gd name="adj" fmla="val 8889"/>
            </a:avLst>
          </a:prstGeom>
          <a:solidFill>
            <a:srgbClr val="0F6F5C"/>
          </a:solidFill>
          <a:ln/>
        </p:spPr>
      </p:sp>
      <p:sp>
        <p:nvSpPr>
          <p:cNvPr id="15" name="Text 13"/>
          <p:cNvSpPr/>
          <p:nvPr/>
        </p:nvSpPr>
        <p:spPr>
          <a:xfrm>
            <a:off x="566928" y="3127248"/>
            <a:ext cx="822960" cy="1417320"/>
          </a:xfrm>
          <a:prstGeom prst="rect">
            <a:avLst/>
          </a:prstGeom>
          <a:noFill/>
          <a:ln/>
        </p:spPr>
        <p:txBody>
          <a:bodyPr wrap="square" rtlCol="0" anchor="ctr"/>
          <a:lstStyle/>
          <a:p>
            <a:pPr algn="ctr" indent="0" marL="0">
              <a:buNone/>
            </a:pPr>
            <a:r>
              <a:rPr lang="en-US" sz="3400" b="1" dirty="0">
                <a:solidFill>
                  <a:srgbClr val="FFFFFF"/>
                </a:solidFill>
                <a:latin typeface="맑은 고딕" pitchFamily="34" charset="0"/>
                <a:ea typeface="맑은 고딕" pitchFamily="34" charset="-122"/>
                <a:cs typeface="맑은 고딕" pitchFamily="34" charset="-120"/>
              </a:rPr>
              <a:t>2</a:t>
            </a:r>
            <a:endParaRPr lang="en-US" sz="3400" dirty="0"/>
          </a:p>
        </p:txBody>
      </p:sp>
      <p:sp>
        <p:nvSpPr>
          <p:cNvPr id="16" name="Text 14"/>
          <p:cNvSpPr/>
          <p:nvPr/>
        </p:nvSpPr>
        <p:spPr>
          <a:xfrm>
            <a:off x="1572768" y="3255264"/>
            <a:ext cx="6400800" cy="365760"/>
          </a:xfrm>
          <a:prstGeom prst="rect">
            <a:avLst/>
          </a:prstGeom>
          <a:noFill/>
          <a:ln/>
        </p:spPr>
        <p:txBody>
          <a:bodyPr wrap="square" rtlCol="0" anchor="ctr"/>
          <a:lstStyle/>
          <a:p>
            <a:pPr indent="0" marL="0">
              <a:buNone/>
            </a:pPr>
            <a:r>
              <a:rPr lang="en-US" sz="1600" b="1" dirty="0">
                <a:solidFill>
                  <a:srgbClr val="15202B"/>
                </a:solidFill>
                <a:latin typeface="맑은 고딕" pitchFamily="34" charset="0"/>
                <a:ea typeface="맑은 고딕" pitchFamily="34" charset="-122"/>
                <a:cs typeface="맑은 고딕" pitchFamily="34" charset="-120"/>
              </a:rPr>
              <a:t>기하가 능력치를 이긴다</a:t>
            </a:r>
            <a:endParaRPr lang="en-US" sz="1600" dirty="0"/>
          </a:p>
        </p:txBody>
      </p:sp>
      <p:sp>
        <p:nvSpPr>
          <p:cNvPr id="17" name="Text 15"/>
          <p:cNvSpPr/>
          <p:nvPr/>
        </p:nvSpPr>
        <p:spPr>
          <a:xfrm>
            <a:off x="1572768" y="3657600"/>
            <a:ext cx="6583680" cy="822960"/>
          </a:xfrm>
          <a:prstGeom prst="rect">
            <a:avLst/>
          </a:prstGeom>
          <a:noFill/>
          <a:ln/>
        </p:spPr>
        <p:txBody>
          <a:bodyPr wrap="square" rtlCol="0" anchor="ctr"/>
          <a:lstStyle/>
          <a:p>
            <a:pPr indent="0" marL="0">
              <a:lnSpc>
                <a:spcPct val="112000"/>
              </a:lnSpc>
              <a:buNone/>
            </a:pPr>
            <a:r>
              <a:rPr lang="en-US" sz="1150" dirty="0">
                <a:solidFill>
                  <a:srgbClr val="5B5B6B"/>
                </a:solidFill>
                <a:latin typeface="맑은 고딕" pitchFamily="34" charset="0"/>
                <a:ea typeface="맑은 고딕" pitchFamily="34" charset="-122"/>
                <a:cs typeface="맑은 고딕" pitchFamily="34" charset="-120"/>
              </a:rPr>
              <a:t>패스는 리시버 압박, 드리블은 대면 간격이 결과를 좌우. 능력치는 modifier로 약하게. 노이즈를 크게 유지 = 리서치의 낮은 예측력과 일치.</a:t>
            </a:r>
            <a:endParaRPr lang="en-US" sz="1150" dirty="0"/>
          </a:p>
        </p:txBody>
      </p:sp>
      <p:sp>
        <p:nvSpPr>
          <p:cNvPr id="18" name="Shape 16"/>
          <p:cNvSpPr/>
          <p:nvPr/>
        </p:nvSpPr>
        <p:spPr>
          <a:xfrm>
            <a:off x="8339328" y="3419856"/>
            <a:ext cx="2880360" cy="822960"/>
          </a:xfrm>
          <a:prstGeom prst="rect">
            <a:avLst>
              <a:gd name="adj" fmla="val 6667"/>
            </a:avLst>
          </a:prstGeom>
          <a:solidFill>
            <a:srgbClr val="15202B"/>
          </a:solidFill>
          <a:ln/>
        </p:spPr>
      </p:sp>
      <p:sp>
        <p:nvSpPr>
          <p:cNvPr id="19" name="Text 17"/>
          <p:cNvSpPr/>
          <p:nvPr/>
        </p:nvSpPr>
        <p:spPr>
          <a:xfrm>
            <a:off x="8385048" y="3419856"/>
            <a:ext cx="2788920" cy="822960"/>
          </a:xfrm>
          <a:prstGeom prst="rect">
            <a:avLst/>
          </a:prstGeom>
          <a:noFill/>
          <a:ln/>
        </p:spPr>
        <p:txBody>
          <a:bodyPr wrap="square" rtlCol="0" anchor="ctr"/>
          <a:lstStyle/>
          <a:p>
            <a:pPr algn="ctr" indent="0" marL="0">
              <a:buNone/>
            </a:pPr>
            <a:r>
              <a:rPr lang="en-US" sz="1200" dirty="0">
                <a:solidFill>
                  <a:srgbClr val="E8EEEA"/>
                </a:solidFill>
                <a:latin typeface="Consolas" pitchFamily="34" charset="0"/>
                <a:ea typeface="Consolas" pitchFamily="34" charset="-122"/>
                <a:cs typeface="Consolas" pitchFamily="34" charset="-120"/>
              </a:rPr>
              <a:t>pressure = e^(−d/R)</a:t>
            </a:r>
            <a:endParaRPr lang="en-US" sz="1200" dirty="0"/>
          </a:p>
        </p:txBody>
      </p:sp>
      <p:sp>
        <p:nvSpPr>
          <p:cNvPr id="20" name="Shape 18"/>
          <p:cNvSpPr/>
          <p:nvPr/>
        </p:nvSpPr>
        <p:spPr>
          <a:xfrm>
            <a:off x="566928" y="4700016"/>
            <a:ext cx="11057839" cy="1417320"/>
          </a:xfrm>
          <a:prstGeom prst="rect">
            <a:avLst>
              <a:gd name="adj" fmla="val 5161"/>
            </a:avLst>
          </a:prstGeom>
          <a:solidFill>
            <a:srgbClr val="F4F7F6"/>
          </a:solidFill>
          <a:ln w="12700">
            <a:solidFill>
              <a:srgbClr val="E1E7E4"/>
            </a:solidFill>
            <a:prstDash val="solid"/>
          </a:ln>
        </p:spPr>
      </p:sp>
      <p:sp>
        <p:nvSpPr>
          <p:cNvPr id="21" name="Shape 19"/>
          <p:cNvSpPr/>
          <p:nvPr/>
        </p:nvSpPr>
        <p:spPr>
          <a:xfrm>
            <a:off x="566928" y="4700016"/>
            <a:ext cx="822960" cy="1417320"/>
          </a:xfrm>
          <a:prstGeom prst="rect">
            <a:avLst>
              <a:gd name="adj" fmla="val 8889"/>
            </a:avLst>
          </a:prstGeom>
          <a:solidFill>
            <a:srgbClr val="0F6F5C"/>
          </a:solidFill>
          <a:ln/>
        </p:spPr>
      </p:sp>
      <p:sp>
        <p:nvSpPr>
          <p:cNvPr id="22" name="Text 20"/>
          <p:cNvSpPr/>
          <p:nvPr/>
        </p:nvSpPr>
        <p:spPr>
          <a:xfrm>
            <a:off x="566928" y="4700016"/>
            <a:ext cx="822960" cy="1417320"/>
          </a:xfrm>
          <a:prstGeom prst="rect">
            <a:avLst/>
          </a:prstGeom>
          <a:noFill/>
          <a:ln/>
        </p:spPr>
        <p:txBody>
          <a:bodyPr wrap="square" rtlCol="0" anchor="ctr"/>
          <a:lstStyle/>
          <a:p>
            <a:pPr algn="ctr" indent="0" marL="0">
              <a:buNone/>
            </a:pPr>
            <a:r>
              <a:rPr lang="en-US" sz="3400" b="1" dirty="0">
                <a:solidFill>
                  <a:srgbClr val="FFFFFF"/>
                </a:solidFill>
                <a:latin typeface="맑은 고딕" pitchFamily="34" charset="0"/>
                <a:ea typeface="맑은 고딕" pitchFamily="34" charset="-122"/>
                <a:cs typeface="맑은 고딕" pitchFamily="34" charset="-120"/>
              </a:rPr>
              <a:t>3</a:t>
            </a:r>
            <a:endParaRPr lang="en-US" sz="3400" dirty="0"/>
          </a:p>
        </p:txBody>
      </p:sp>
      <p:sp>
        <p:nvSpPr>
          <p:cNvPr id="23" name="Text 21"/>
          <p:cNvSpPr/>
          <p:nvPr/>
        </p:nvSpPr>
        <p:spPr>
          <a:xfrm>
            <a:off x="1572768" y="4828032"/>
            <a:ext cx="6400800" cy="365760"/>
          </a:xfrm>
          <a:prstGeom prst="rect">
            <a:avLst/>
          </a:prstGeom>
          <a:noFill/>
          <a:ln/>
        </p:spPr>
        <p:txBody>
          <a:bodyPr wrap="square" rtlCol="0" anchor="ctr"/>
          <a:lstStyle/>
          <a:p>
            <a:pPr indent="0" marL="0">
              <a:buNone/>
            </a:pPr>
            <a:r>
              <a:rPr lang="en-US" sz="1600" b="1" dirty="0">
                <a:solidFill>
                  <a:srgbClr val="15202B"/>
                </a:solidFill>
                <a:latin typeface="맑은 고딕" pitchFamily="34" charset="0"/>
                <a:ea typeface="맑은 고딕" pitchFamily="34" charset="-122"/>
                <a:cs typeface="맑은 고딕" pitchFamily="34" charset="-120"/>
              </a:rPr>
              <a:t>판정과 가치를 분리</a:t>
            </a:r>
            <a:endParaRPr lang="en-US" sz="1600" dirty="0"/>
          </a:p>
        </p:txBody>
      </p:sp>
      <p:sp>
        <p:nvSpPr>
          <p:cNvPr id="24" name="Text 22"/>
          <p:cNvSpPr/>
          <p:nvPr/>
        </p:nvSpPr>
        <p:spPr>
          <a:xfrm>
            <a:off x="1572768" y="5230368"/>
            <a:ext cx="6583680" cy="822960"/>
          </a:xfrm>
          <a:prstGeom prst="rect">
            <a:avLst/>
          </a:prstGeom>
          <a:noFill/>
          <a:ln/>
        </p:spPr>
        <p:txBody>
          <a:bodyPr wrap="square" rtlCol="0" anchor="ctr"/>
          <a:lstStyle/>
          <a:p>
            <a:pPr indent="0" marL="0">
              <a:lnSpc>
                <a:spcPct val="112000"/>
              </a:lnSpc>
              <a:buNone/>
            </a:pPr>
            <a:r>
              <a:rPr lang="en-US" sz="1150" dirty="0">
                <a:solidFill>
                  <a:srgbClr val="5B5B6B"/>
                </a:solidFill>
                <a:latin typeface="맑은 고딕" pitchFamily="34" charset="0"/>
                <a:ea typeface="맑은 고딕" pitchFamily="34" charset="-122"/>
                <a:cs typeface="맑은 고딕" pitchFamily="34" charset="-120"/>
              </a:rPr>
              <a:t>성공 여부는 정직한 ∏(순차 롤). "긴 전개 보상"은 별도 xT 가치 델타로. 억지 보정식(P^1/n) 폐기.</a:t>
            </a:r>
            <a:endParaRPr lang="en-US" sz="1150" dirty="0"/>
          </a:p>
        </p:txBody>
      </p:sp>
      <p:sp>
        <p:nvSpPr>
          <p:cNvPr id="25" name="Shape 23"/>
          <p:cNvSpPr/>
          <p:nvPr/>
        </p:nvSpPr>
        <p:spPr>
          <a:xfrm>
            <a:off x="8339328" y="4992624"/>
            <a:ext cx="2880360" cy="822960"/>
          </a:xfrm>
          <a:prstGeom prst="rect">
            <a:avLst>
              <a:gd name="adj" fmla="val 6667"/>
            </a:avLst>
          </a:prstGeom>
          <a:solidFill>
            <a:srgbClr val="15202B"/>
          </a:solidFill>
          <a:ln/>
        </p:spPr>
      </p:sp>
      <p:sp>
        <p:nvSpPr>
          <p:cNvPr id="26" name="Text 24"/>
          <p:cNvSpPr/>
          <p:nvPr/>
        </p:nvSpPr>
        <p:spPr>
          <a:xfrm>
            <a:off x="8385048" y="4992624"/>
            <a:ext cx="2788920" cy="822960"/>
          </a:xfrm>
          <a:prstGeom prst="rect">
            <a:avLst/>
          </a:prstGeom>
          <a:noFill/>
          <a:ln/>
        </p:spPr>
        <p:txBody>
          <a:bodyPr wrap="square" rtlCol="0" anchor="ctr"/>
          <a:lstStyle/>
          <a:p>
            <a:pPr algn="ctr" indent="0" marL="0">
              <a:buNone/>
            </a:pPr>
            <a:r>
              <a:rPr lang="en-US" sz="1200" dirty="0">
                <a:solidFill>
                  <a:srgbClr val="E8EEEA"/>
                </a:solidFill>
                <a:latin typeface="Consolas" pitchFamily="34" charset="0"/>
                <a:ea typeface="Consolas" pitchFamily="34" charset="-122"/>
                <a:cs typeface="Consolas" pitchFamily="34" charset="-120"/>
              </a:rPr>
              <a:t>credit = xT[도착]−xT[출발]</a:t>
            </a:r>
            <a:endParaRPr lang="en-US" sz="1200" dirty="0"/>
          </a:p>
        </p:txBody>
      </p:sp>
      <p:sp>
        <p:nvSpPr>
          <p:cNvPr id="28" name="Text 25"/>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29" name="Text 26"/>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PRIMER 1/2</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로그오즈? — 쉽게 말하면</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298448"/>
            <a:ext cx="11057839" cy="960120"/>
          </a:xfrm>
          <a:prstGeom prst="rect">
            <a:avLst>
              <a:gd name="adj" fmla="val 7619"/>
            </a:avLst>
          </a:prstGeom>
          <a:solidFill>
            <a:srgbClr val="F6E9EA"/>
          </a:solidFill>
          <a:ln w="12700">
            <a:solidFill>
              <a:srgbClr val="B23A48"/>
            </a:solidFill>
            <a:prstDash val="solid"/>
          </a:ln>
        </p:spPr>
      </p:sp>
      <p:sp>
        <p:nvSpPr>
          <p:cNvPr id="7" name="Text 5"/>
          <p:cNvSpPr/>
          <p:nvPr/>
        </p:nvSpPr>
        <p:spPr>
          <a:xfrm>
            <a:off x="795528" y="1389888"/>
            <a:ext cx="10600639" cy="777240"/>
          </a:xfrm>
          <a:prstGeom prst="rect">
            <a:avLst/>
          </a:prstGeom>
          <a:noFill/>
          <a:ln/>
        </p:spPr>
        <p:txBody>
          <a:bodyPr wrap="square" rtlCol="0" anchor="ctr"/>
          <a:lstStyle/>
          <a:p>
            <a:pPr indent="0" marL="0">
              <a:lnSpc>
                <a:spcPct val="115000"/>
              </a:lnSpc>
              <a:buNone/>
            </a:pPr>
            <a:r>
              <a:rPr lang="en-US" sz="1500" b="1" dirty="0">
                <a:solidFill>
                  <a:srgbClr val="B23A48"/>
                </a:solidFill>
                <a:latin typeface="맑은 고딕" pitchFamily="34" charset="0"/>
                <a:ea typeface="맑은 고딕" pitchFamily="34" charset="-122"/>
                <a:cs typeface="맑은 고딕" pitchFamily="34" charset="-120"/>
              </a:rPr>
              <a:t>확률은 0~100%라는 "좁은 방"에 갇혀 있다.  </a:t>
            </a:r>
            <a:pPr indent="0" marL="0">
              <a:lnSpc>
                <a:spcPct val="115000"/>
              </a:lnSpc>
              <a:buNone/>
            </a:pPr>
            <a:r>
              <a:rPr lang="en-US" sz="1300" dirty="0">
                <a:solidFill>
                  <a:srgbClr val="15202B"/>
                </a:solidFill>
                <a:latin typeface="맑은 고딕" pitchFamily="34" charset="0"/>
                <a:ea typeface="맑은 고딕" pitchFamily="34" charset="-122"/>
                <a:cs typeface="맑은 고딕" pitchFamily="34" charset="-120"/>
              </a:rPr>
              <a:t>슛 성공률에 "스킬 +30%p, 수비 −50%p"를 그냥 더하면? → 120%나 −5% 같은 말도 안 되는 값으로 벽을 뚫는다. 확률은 직접 더하거나 곱하면 안 된다.</a:t>
            </a:r>
            <a:endParaRPr lang="en-US" sz="1500" dirty="0"/>
          </a:p>
        </p:txBody>
      </p:sp>
      <p:sp>
        <p:nvSpPr>
          <p:cNvPr id="8" name="Text 6"/>
          <p:cNvSpPr/>
          <p:nvPr/>
        </p:nvSpPr>
        <p:spPr>
          <a:xfrm>
            <a:off x="566928" y="2395728"/>
            <a:ext cx="7315200" cy="274320"/>
          </a:xfrm>
          <a:prstGeom prst="rect">
            <a:avLst/>
          </a:prstGeom>
          <a:noFill/>
          <a:ln/>
        </p:spPr>
        <p:txBody>
          <a:bodyPr wrap="square" rtlCol="0" anchor="ctr"/>
          <a:lstStyle/>
          <a:p>
            <a:pPr indent="0" marL="0">
              <a:buNone/>
            </a:pPr>
            <a:r>
              <a:rPr lang="en-US" sz="1300" b="1" dirty="0">
                <a:solidFill>
                  <a:srgbClr val="0F6F5C"/>
                </a:solidFill>
                <a:latin typeface="맑은 고딕" pitchFamily="34" charset="0"/>
                <a:ea typeface="맑은 고딕" pitchFamily="34" charset="-122"/>
                <a:cs typeface="맑은 고딕" pitchFamily="34" charset="-120"/>
              </a:rPr>
              <a:t>해결: 세 단계로 "안 터지게" 계산한다</a:t>
            </a:r>
            <a:endParaRPr lang="en-US" sz="1300" dirty="0"/>
          </a:p>
        </p:txBody>
      </p:sp>
      <p:sp>
        <p:nvSpPr>
          <p:cNvPr id="9" name="Shape 7"/>
          <p:cNvSpPr/>
          <p:nvPr/>
        </p:nvSpPr>
        <p:spPr>
          <a:xfrm>
            <a:off x="566928" y="2697480"/>
            <a:ext cx="3350666" cy="1737360"/>
          </a:xfrm>
          <a:prstGeom prst="rect">
            <a:avLst>
              <a:gd name="adj" fmla="val 4211"/>
            </a:avLst>
          </a:prstGeom>
          <a:solidFill>
            <a:srgbClr val="F4F7F6"/>
          </a:solidFill>
          <a:ln w="12700">
            <a:solidFill>
              <a:srgbClr val="E1E7E4"/>
            </a:solidFill>
            <a:prstDash val="solid"/>
          </a:ln>
        </p:spPr>
      </p:sp>
      <p:sp>
        <p:nvSpPr>
          <p:cNvPr id="10" name="Shape 8"/>
          <p:cNvSpPr/>
          <p:nvPr/>
        </p:nvSpPr>
        <p:spPr>
          <a:xfrm>
            <a:off x="1986229" y="2834640"/>
            <a:ext cx="512064" cy="512064"/>
          </a:xfrm>
          <a:prstGeom prst="ellipse">
            <a:avLst/>
          </a:prstGeom>
          <a:solidFill>
            <a:srgbClr val="0F6F5C"/>
          </a:solidFill>
          <a:ln/>
        </p:spPr>
      </p:sp>
      <p:sp>
        <p:nvSpPr>
          <p:cNvPr id="11" name="Text 9"/>
          <p:cNvSpPr/>
          <p:nvPr/>
        </p:nvSpPr>
        <p:spPr>
          <a:xfrm>
            <a:off x="1986229" y="2834640"/>
            <a:ext cx="512064" cy="512064"/>
          </a:xfrm>
          <a:prstGeom prst="rect">
            <a:avLst/>
          </a:prstGeom>
          <a:noFill/>
          <a:ln/>
        </p:spPr>
        <p:txBody>
          <a:bodyPr wrap="square"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12" name="Text 10"/>
          <p:cNvSpPr/>
          <p:nvPr/>
        </p:nvSpPr>
        <p:spPr>
          <a:xfrm>
            <a:off x="704088" y="3456432"/>
            <a:ext cx="3076346" cy="320040"/>
          </a:xfrm>
          <a:prstGeom prst="rect">
            <a:avLst/>
          </a:prstGeom>
          <a:noFill/>
          <a:ln/>
        </p:spPr>
        <p:txBody>
          <a:bodyPr wrap="square" rtlCol="0" anchor="ctr"/>
          <a:lstStyle/>
          <a:p>
            <a:pPr algn="ctr" indent="0" marL="0">
              <a:buNone/>
            </a:pPr>
            <a:r>
              <a:rPr lang="en-US" sz="1350" b="1" dirty="0">
                <a:solidFill>
                  <a:srgbClr val="15202B"/>
                </a:solidFill>
                <a:latin typeface="맑은 고딕" pitchFamily="34" charset="0"/>
                <a:ea typeface="맑은 고딕" pitchFamily="34" charset="-122"/>
                <a:cs typeface="맑은 고딕" pitchFamily="34" charset="-120"/>
              </a:rPr>
              <a:t>점수판으로 갈아입기</a:t>
            </a:r>
            <a:endParaRPr lang="en-US" sz="1350" dirty="0"/>
          </a:p>
        </p:txBody>
      </p:sp>
      <p:sp>
        <p:nvSpPr>
          <p:cNvPr id="13" name="Text 11"/>
          <p:cNvSpPr/>
          <p:nvPr/>
        </p:nvSpPr>
        <p:spPr>
          <a:xfrm>
            <a:off x="749808" y="3803904"/>
            <a:ext cx="2984906" cy="566928"/>
          </a:xfrm>
          <a:prstGeom prst="rect">
            <a:avLst/>
          </a:prstGeom>
          <a:noFill/>
          <a:ln/>
        </p:spPr>
        <p:txBody>
          <a:bodyPr wrap="square" rtlCol="0" anchor="ctr"/>
          <a:lstStyle/>
          <a:p>
            <a:pPr algn="ctr" indent="0" marL="0">
              <a:lnSpc>
                <a:spcPct val="110000"/>
              </a:lnSpc>
              <a:buNone/>
            </a:pPr>
            <a:r>
              <a:rPr lang="en-US" sz="1080" dirty="0">
                <a:solidFill>
                  <a:srgbClr val="5B5B6B"/>
                </a:solidFill>
                <a:latin typeface="맑은 고딕" pitchFamily="34" charset="0"/>
                <a:ea typeface="맑은 고딕" pitchFamily="34" charset="-122"/>
                <a:cs typeface="맑은 고딕" pitchFamily="34" charset="-120"/>
              </a:rPr>
              <a:t>확률(0~100%)을 −∞~+∞ 무한 점수판으로 옮긴다. 이 점수판이 "로그오즈".</a:t>
            </a:r>
            <a:endParaRPr lang="en-US" sz="1080" dirty="0"/>
          </a:p>
        </p:txBody>
      </p:sp>
      <p:sp>
        <p:nvSpPr>
          <p:cNvPr id="14" name="Text 12"/>
          <p:cNvSpPr/>
          <p:nvPr/>
        </p:nvSpPr>
        <p:spPr>
          <a:xfrm>
            <a:off x="3963314" y="2697480"/>
            <a:ext cx="411480" cy="1737360"/>
          </a:xfrm>
          <a:prstGeom prst="rect">
            <a:avLst/>
          </a:prstGeom>
          <a:noFill/>
          <a:ln/>
        </p:spPr>
        <p:txBody>
          <a:bodyPr wrap="square" rtlCol="0" anchor="ctr"/>
          <a:lstStyle/>
          <a:p>
            <a:pPr algn="ctr" indent="0" marL="0">
              <a:buNone/>
            </a:pPr>
            <a:r>
              <a:rPr lang="en-US" sz="1600" dirty="0">
                <a:solidFill>
                  <a:srgbClr val="0F6F5C"/>
                </a:solidFill>
                <a:latin typeface="맑은 고딕" pitchFamily="34" charset="0"/>
                <a:ea typeface="맑은 고딕" pitchFamily="34" charset="-122"/>
                <a:cs typeface="맑은 고딕" pitchFamily="34" charset="-120"/>
              </a:rPr>
              <a:t>▶</a:t>
            </a:r>
            <a:endParaRPr lang="en-US" sz="1600" dirty="0"/>
          </a:p>
        </p:txBody>
      </p:sp>
      <p:sp>
        <p:nvSpPr>
          <p:cNvPr id="15" name="Shape 13"/>
          <p:cNvSpPr/>
          <p:nvPr/>
        </p:nvSpPr>
        <p:spPr>
          <a:xfrm>
            <a:off x="4420514" y="2697480"/>
            <a:ext cx="3350666" cy="1737360"/>
          </a:xfrm>
          <a:prstGeom prst="rect">
            <a:avLst>
              <a:gd name="adj" fmla="val 4211"/>
            </a:avLst>
          </a:prstGeom>
          <a:solidFill>
            <a:srgbClr val="F4F7F6"/>
          </a:solidFill>
          <a:ln w="12700">
            <a:solidFill>
              <a:srgbClr val="E1E7E4"/>
            </a:solidFill>
            <a:prstDash val="solid"/>
          </a:ln>
        </p:spPr>
      </p:sp>
      <p:sp>
        <p:nvSpPr>
          <p:cNvPr id="16" name="Shape 14"/>
          <p:cNvSpPr/>
          <p:nvPr/>
        </p:nvSpPr>
        <p:spPr>
          <a:xfrm>
            <a:off x="5839816" y="2834640"/>
            <a:ext cx="512064" cy="512064"/>
          </a:xfrm>
          <a:prstGeom prst="ellipse">
            <a:avLst/>
          </a:prstGeom>
          <a:solidFill>
            <a:srgbClr val="0F6F5C"/>
          </a:solidFill>
          <a:ln/>
        </p:spPr>
      </p:sp>
      <p:sp>
        <p:nvSpPr>
          <p:cNvPr id="17" name="Text 15"/>
          <p:cNvSpPr/>
          <p:nvPr/>
        </p:nvSpPr>
        <p:spPr>
          <a:xfrm>
            <a:off x="5839816" y="2834640"/>
            <a:ext cx="512064" cy="512064"/>
          </a:xfrm>
          <a:prstGeom prst="rect">
            <a:avLst/>
          </a:prstGeom>
          <a:noFill/>
          <a:ln/>
        </p:spPr>
        <p:txBody>
          <a:bodyPr wrap="square"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8" name="Text 16"/>
          <p:cNvSpPr/>
          <p:nvPr/>
        </p:nvSpPr>
        <p:spPr>
          <a:xfrm>
            <a:off x="4557674" y="3456432"/>
            <a:ext cx="3076346" cy="320040"/>
          </a:xfrm>
          <a:prstGeom prst="rect">
            <a:avLst/>
          </a:prstGeom>
          <a:noFill/>
          <a:ln/>
        </p:spPr>
        <p:txBody>
          <a:bodyPr wrap="square" rtlCol="0" anchor="ctr"/>
          <a:lstStyle/>
          <a:p>
            <a:pPr algn="ctr" indent="0" marL="0">
              <a:buNone/>
            </a:pPr>
            <a:r>
              <a:rPr lang="en-US" sz="1350" b="1" dirty="0">
                <a:solidFill>
                  <a:srgbClr val="15202B"/>
                </a:solidFill>
                <a:latin typeface="맑은 고딕" pitchFamily="34" charset="0"/>
                <a:ea typeface="맑은 고딕" pitchFamily="34" charset="-122"/>
                <a:cs typeface="맑은 고딕" pitchFamily="34" charset="-120"/>
              </a:rPr>
              <a:t>자유롭게 더하고 빼기</a:t>
            </a:r>
            <a:endParaRPr lang="en-US" sz="1350" dirty="0"/>
          </a:p>
        </p:txBody>
      </p:sp>
      <p:sp>
        <p:nvSpPr>
          <p:cNvPr id="19" name="Text 17"/>
          <p:cNvSpPr/>
          <p:nvPr/>
        </p:nvSpPr>
        <p:spPr>
          <a:xfrm>
            <a:off x="4603394" y="3803904"/>
            <a:ext cx="2984906" cy="566928"/>
          </a:xfrm>
          <a:prstGeom prst="rect">
            <a:avLst/>
          </a:prstGeom>
          <a:noFill/>
          <a:ln/>
        </p:spPr>
        <p:txBody>
          <a:bodyPr wrap="square" rtlCol="0" anchor="ctr"/>
          <a:lstStyle/>
          <a:p>
            <a:pPr algn="ctr" indent="0" marL="0">
              <a:lnSpc>
                <a:spcPct val="110000"/>
              </a:lnSpc>
              <a:buNone/>
            </a:pPr>
            <a:r>
              <a:rPr lang="en-US" sz="1080" dirty="0">
                <a:solidFill>
                  <a:srgbClr val="5B5B6B"/>
                </a:solidFill>
                <a:latin typeface="맑은 고딕" pitchFamily="34" charset="0"/>
                <a:ea typeface="맑은 고딕" pitchFamily="34" charset="-122"/>
                <a:cs typeface="맑은 고딕" pitchFamily="34" charset="-120"/>
              </a:rPr>
              <a:t>거리·각도·스킬·수비를 점수로 가감. 벽이 없어 아무리 더해도 안 터진다.</a:t>
            </a:r>
            <a:endParaRPr lang="en-US" sz="1080" dirty="0"/>
          </a:p>
        </p:txBody>
      </p:sp>
      <p:sp>
        <p:nvSpPr>
          <p:cNvPr id="20" name="Text 18"/>
          <p:cNvSpPr/>
          <p:nvPr/>
        </p:nvSpPr>
        <p:spPr>
          <a:xfrm>
            <a:off x="7816901" y="2697480"/>
            <a:ext cx="411480" cy="1737360"/>
          </a:xfrm>
          <a:prstGeom prst="rect">
            <a:avLst/>
          </a:prstGeom>
          <a:noFill/>
          <a:ln/>
        </p:spPr>
        <p:txBody>
          <a:bodyPr wrap="square" rtlCol="0" anchor="ctr"/>
          <a:lstStyle/>
          <a:p>
            <a:pPr algn="ctr" indent="0" marL="0">
              <a:buNone/>
            </a:pPr>
            <a:r>
              <a:rPr lang="en-US" sz="1600" dirty="0">
                <a:solidFill>
                  <a:srgbClr val="0F6F5C"/>
                </a:solidFill>
                <a:latin typeface="맑은 고딕" pitchFamily="34" charset="0"/>
                <a:ea typeface="맑은 고딕" pitchFamily="34" charset="-122"/>
                <a:cs typeface="맑은 고딕" pitchFamily="34" charset="-120"/>
              </a:rPr>
              <a:t>▶</a:t>
            </a:r>
            <a:endParaRPr lang="en-US" sz="1600" dirty="0"/>
          </a:p>
        </p:txBody>
      </p:sp>
      <p:sp>
        <p:nvSpPr>
          <p:cNvPr id="21" name="Shape 19"/>
          <p:cNvSpPr/>
          <p:nvPr/>
        </p:nvSpPr>
        <p:spPr>
          <a:xfrm>
            <a:off x="8274101" y="2697480"/>
            <a:ext cx="3350666" cy="1737360"/>
          </a:xfrm>
          <a:prstGeom prst="rect">
            <a:avLst>
              <a:gd name="adj" fmla="val 4211"/>
            </a:avLst>
          </a:prstGeom>
          <a:solidFill>
            <a:srgbClr val="F4F7F6"/>
          </a:solidFill>
          <a:ln w="12700">
            <a:solidFill>
              <a:srgbClr val="E1E7E4"/>
            </a:solidFill>
            <a:prstDash val="solid"/>
          </a:ln>
        </p:spPr>
      </p:sp>
      <p:sp>
        <p:nvSpPr>
          <p:cNvPr id="22" name="Shape 20"/>
          <p:cNvSpPr/>
          <p:nvPr/>
        </p:nvSpPr>
        <p:spPr>
          <a:xfrm>
            <a:off x="9693402" y="2834640"/>
            <a:ext cx="512064" cy="512064"/>
          </a:xfrm>
          <a:prstGeom prst="ellipse">
            <a:avLst/>
          </a:prstGeom>
          <a:solidFill>
            <a:srgbClr val="0F6F5C"/>
          </a:solidFill>
          <a:ln/>
        </p:spPr>
      </p:sp>
      <p:sp>
        <p:nvSpPr>
          <p:cNvPr id="23" name="Text 21"/>
          <p:cNvSpPr/>
          <p:nvPr/>
        </p:nvSpPr>
        <p:spPr>
          <a:xfrm>
            <a:off x="9693402" y="2834640"/>
            <a:ext cx="512064" cy="512064"/>
          </a:xfrm>
          <a:prstGeom prst="rect">
            <a:avLst/>
          </a:prstGeom>
          <a:noFill/>
          <a:ln/>
        </p:spPr>
        <p:txBody>
          <a:bodyPr wrap="square"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24" name="Text 22"/>
          <p:cNvSpPr/>
          <p:nvPr/>
        </p:nvSpPr>
        <p:spPr>
          <a:xfrm>
            <a:off x="8411261" y="3456432"/>
            <a:ext cx="3076346" cy="320040"/>
          </a:xfrm>
          <a:prstGeom prst="rect">
            <a:avLst/>
          </a:prstGeom>
          <a:noFill/>
          <a:ln/>
        </p:spPr>
        <p:txBody>
          <a:bodyPr wrap="square" rtlCol="0" anchor="ctr"/>
          <a:lstStyle/>
          <a:p>
            <a:pPr algn="ctr" indent="0" marL="0">
              <a:buNone/>
            </a:pPr>
            <a:r>
              <a:rPr lang="en-US" sz="1350" b="1" dirty="0">
                <a:solidFill>
                  <a:srgbClr val="15202B"/>
                </a:solidFill>
                <a:latin typeface="맑은 고딕" pitchFamily="34" charset="0"/>
                <a:ea typeface="맑은 고딕" pitchFamily="34" charset="-122"/>
                <a:cs typeface="맑은 고딕" pitchFamily="34" charset="-120"/>
              </a:rPr>
              <a:t>S커브로 되접기</a:t>
            </a:r>
            <a:endParaRPr lang="en-US" sz="1350" dirty="0"/>
          </a:p>
        </p:txBody>
      </p:sp>
      <p:sp>
        <p:nvSpPr>
          <p:cNvPr id="25" name="Text 23"/>
          <p:cNvSpPr/>
          <p:nvPr/>
        </p:nvSpPr>
        <p:spPr>
          <a:xfrm>
            <a:off x="8456981" y="3803904"/>
            <a:ext cx="2984906" cy="566928"/>
          </a:xfrm>
          <a:prstGeom prst="rect">
            <a:avLst/>
          </a:prstGeom>
          <a:noFill/>
          <a:ln/>
        </p:spPr>
        <p:txBody>
          <a:bodyPr wrap="square" rtlCol="0" anchor="ctr"/>
          <a:lstStyle/>
          <a:p>
            <a:pPr algn="ctr" indent="0" marL="0">
              <a:lnSpc>
                <a:spcPct val="110000"/>
              </a:lnSpc>
              <a:buNone/>
            </a:pPr>
            <a:r>
              <a:rPr lang="en-US" sz="1080" dirty="0">
                <a:solidFill>
                  <a:srgbClr val="5B5B6B"/>
                </a:solidFill>
                <a:latin typeface="맑은 고딕" pitchFamily="34" charset="0"/>
                <a:ea typeface="맑은 고딕" pitchFamily="34" charset="-122"/>
                <a:cs typeface="맑은 고딕" pitchFamily="34" charset="-120"/>
              </a:rPr>
              <a:t>총점을 S커브(로지스틱)에 넣어 다시 0~100% 확률로. 절대 안 터짐.</a:t>
            </a:r>
            <a:endParaRPr lang="en-US" sz="1080" dirty="0"/>
          </a:p>
        </p:txBody>
      </p:sp>
      <p:sp>
        <p:nvSpPr>
          <p:cNvPr id="26" name="Shape 24"/>
          <p:cNvSpPr/>
          <p:nvPr/>
        </p:nvSpPr>
        <p:spPr>
          <a:xfrm>
            <a:off x="566928" y="4617720"/>
            <a:ext cx="11057839" cy="658368"/>
          </a:xfrm>
          <a:prstGeom prst="rect">
            <a:avLst>
              <a:gd name="adj" fmla="val 11111"/>
            </a:avLst>
          </a:prstGeom>
          <a:solidFill>
            <a:srgbClr val="15202B"/>
          </a:solidFill>
          <a:ln/>
        </p:spPr>
      </p:sp>
      <p:sp>
        <p:nvSpPr>
          <p:cNvPr id="27" name="Text 25"/>
          <p:cNvSpPr/>
          <p:nvPr/>
        </p:nvSpPr>
        <p:spPr>
          <a:xfrm>
            <a:off x="795528" y="4617720"/>
            <a:ext cx="10600639" cy="658368"/>
          </a:xfrm>
          <a:prstGeom prst="rect">
            <a:avLst/>
          </a:prstGeom>
          <a:noFill/>
          <a:ln/>
        </p:spPr>
        <p:txBody>
          <a:bodyPr wrap="square" rtlCol="0" anchor="ctr"/>
          <a:lstStyle/>
          <a:p>
            <a:pPr indent="0" marL="0">
              <a:buNone/>
            </a:pPr>
            <a:r>
              <a:rPr lang="en-US" sz="1350" b="1" dirty="0">
                <a:solidFill>
                  <a:srgbClr val="0F6F5C"/>
                </a:solidFill>
                <a:latin typeface="맑은 고딕" pitchFamily="34" charset="0"/>
                <a:ea typeface="맑은 고딕" pitchFamily="34" charset="-122"/>
                <a:cs typeface="맑은 고딕" pitchFamily="34" charset="-120"/>
              </a:rPr>
              <a:t>한 줄로:  </a:t>
            </a:r>
            <a:pPr indent="0" marL="0">
              <a:buNone/>
            </a:pPr>
            <a:r>
              <a:rPr lang="en-US" sz="1300" dirty="0">
                <a:solidFill>
                  <a:srgbClr val="FFFFFF"/>
                </a:solidFill>
                <a:latin typeface="맑은 고딕" pitchFamily="34" charset="0"/>
                <a:ea typeface="맑은 고딕" pitchFamily="34" charset="-122"/>
                <a:cs typeface="맑은 고딕" pitchFamily="34" charset="-120"/>
              </a:rPr>
              <a:t>로그오즈 = 확률을 마음껏 계산하려고 잠깐 갈아입는 "작업복". 계산이 끝나면 S커브가 다시 확률 옷으로 갈아입혀 준다.</a:t>
            </a:r>
            <a:endParaRPr lang="en-US" sz="1350" dirty="0"/>
          </a:p>
        </p:txBody>
      </p:sp>
      <p:sp>
        <p:nvSpPr>
          <p:cNvPr id="28" name="Text 26"/>
          <p:cNvSpPr/>
          <p:nvPr/>
        </p:nvSpPr>
        <p:spPr>
          <a:xfrm>
            <a:off x="566928" y="5440680"/>
            <a:ext cx="11057839" cy="457200"/>
          </a:xfrm>
          <a:prstGeom prst="rect">
            <a:avLst/>
          </a:prstGeom>
          <a:noFill/>
          <a:ln/>
        </p:spPr>
        <p:txBody>
          <a:bodyPr wrap="square" rtlCol="0" anchor="ctr"/>
          <a:lstStyle/>
          <a:p>
            <a:pPr indent="0" marL="0">
              <a:buNone/>
            </a:pPr>
            <a:r>
              <a:rPr lang="en-US" sz="1150" b="1" dirty="0">
                <a:solidFill>
                  <a:srgbClr val="B23A48"/>
                </a:solidFill>
                <a:latin typeface="맑은 고딕" pitchFamily="34" charset="0"/>
                <a:ea typeface="맑은 고딕" pitchFamily="34" charset="-122"/>
                <a:cs typeface="맑은 고딕" pitchFamily="34" charset="-120"/>
              </a:rPr>
              <a:t>헷갈리지 말 것:  </a:t>
            </a:r>
            <a:pPr indent="0" marL="0">
              <a:buNone/>
            </a:pPr>
            <a:r>
              <a:rPr lang="en-US" sz="1150" dirty="0">
                <a:solidFill>
                  <a:srgbClr val="5B5B6B"/>
                </a:solidFill>
                <a:latin typeface="맑은 고딕" pitchFamily="34" charset="0"/>
                <a:ea typeface="맑은 고딕" pitchFamily="34" charset="-122"/>
                <a:cs typeface="맑은 고딕" pitchFamily="34" charset="-120"/>
              </a:rPr>
              <a:t>스탯(1~20)을 숫자로 바꾸는 건 딴 일(norm — 그냥 사이즈 조정). 로그오즈는 그 숫자들을 "합치는" 자리다.</a:t>
            </a:r>
            <a:endParaRPr lang="en-US" sz="1150" dirty="0"/>
          </a:p>
        </p:txBody>
      </p:sp>
      <p:sp>
        <p:nvSpPr>
          <p:cNvPr id="30" name="Text 27"/>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31" name="Text 28"/>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PRIMER 2/2</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S커브가 하는 일 — 총점을 확률로 "접는다"</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1097280" y="5029200"/>
            <a:ext cx="5715000" cy="0"/>
          </a:xfrm>
          <a:prstGeom prst="line">
            <a:avLst/>
          </a:prstGeom>
          <a:noFill/>
          <a:ln w="12700">
            <a:solidFill>
              <a:srgbClr val="9AA6A1"/>
            </a:solidFill>
            <a:prstDash val="solid"/>
          </a:ln>
        </p:spPr>
      </p:sp>
      <p:sp>
        <p:nvSpPr>
          <p:cNvPr id="7" name="Shape 5"/>
          <p:cNvSpPr/>
          <p:nvPr/>
        </p:nvSpPr>
        <p:spPr>
          <a:xfrm>
            <a:off x="1097280" y="2011680"/>
            <a:ext cx="0" cy="3017520"/>
          </a:xfrm>
          <a:prstGeom prst="line">
            <a:avLst/>
          </a:prstGeom>
          <a:noFill/>
          <a:ln w="12700">
            <a:solidFill>
              <a:srgbClr val="9AA6A1"/>
            </a:solidFill>
            <a:prstDash val="solid"/>
          </a:ln>
        </p:spPr>
      </p:sp>
      <p:sp>
        <p:nvSpPr>
          <p:cNvPr id="8" name="Shape 6"/>
          <p:cNvSpPr/>
          <p:nvPr/>
        </p:nvSpPr>
        <p:spPr>
          <a:xfrm>
            <a:off x="1097280" y="3520440"/>
            <a:ext cx="5715000" cy="0"/>
          </a:xfrm>
          <a:prstGeom prst="line">
            <a:avLst/>
          </a:prstGeom>
          <a:noFill/>
          <a:ln w="9525">
            <a:solidFill>
              <a:srgbClr val="C9D3CE"/>
            </a:solidFill>
            <a:prstDash val="dash"/>
          </a:ln>
        </p:spPr>
      </p:sp>
      <p:sp>
        <p:nvSpPr>
          <p:cNvPr id="9" name="Shape 7"/>
          <p:cNvSpPr/>
          <p:nvPr/>
        </p:nvSpPr>
        <p:spPr>
          <a:xfrm>
            <a:off x="3954780" y="2011680"/>
            <a:ext cx="0" cy="3017520"/>
          </a:xfrm>
          <a:prstGeom prst="line">
            <a:avLst/>
          </a:prstGeom>
          <a:noFill/>
          <a:ln w="9525">
            <a:solidFill>
              <a:srgbClr val="C9D3CE"/>
            </a:solidFill>
            <a:prstDash val="dash"/>
          </a:ln>
        </p:spPr>
      </p:sp>
      <p:sp>
        <p:nvSpPr>
          <p:cNvPr id="10" name="Shape 8"/>
          <p:cNvSpPr/>
          <p:nvPr/>
        </p:nvSpPr>
        <p:spPr>
          <a:xfrm flipV="1">
            <a:off x="1097280" y="5017762"/>
            <a:ext cx="204107" cy="3977"/>
          </a:xfrm>
          <a:prstGeom prst="line">
            <a:avLst/>
          </a:prstGeom>
          <a:noFill/>
          <a:ln w="34925">
            <a:solidFill>
              <a:srgbClr val="0F6F5C"/>
            </a:solidFill>
            <a:prstDash val="solid"/>
          </a:ln>
        </p:spPr>
      </p:sp>
      <p:sp>
        <p:nvSpPr>
          <p:cNvPr id="11" name="Shape 9"/>
          <p:cNvSpPr/>
          <p:nvPr/>
        </p:nvSpPr>
        <p:spPr>
          <a:xfrm flipV="1">
            <a:off x="1301387" y="5011677"/>
            <a:ext cx="204107" cy="6085"/>
          </a:xfrm>
          <a:prstGeom prst="line">
            <a:avLst/>
          </a:prstGeom>
          <a:noFill/>
          <a:ln w="34925">
            <a:solidFill>
              <a:srgbClr val="0F6F5C"/>
            </a:solidFill>
            <a:prstDash val="solid"/>
          </a:ln>
        </p:spPr>
      </p:sp>
      <p:sp>
        <p:nvSpPr>
          <p:cNvPr id="12" name="Shape 10"/>
          <p:cNvSpPr/>
          <p:nvPr/>
        </p:nvSpPr>
        <p:spPr>
          <a:xfrm flipV="1">
            <a:off x="1505494" y="5002385"/>
            <a:ext cx="204107" cy="9293"/>
          </a:xfrm>
          <a:prstGeom prst="line">
            <a:avLst/>
          </a:prstGeom>
          <a:noFill/>
          <a:ln w="34925">
            <a:solidFill>
              <a:srgbClr val="0F6F5C"/>
            </a:solidFill>
            <a:prstDash val="solid"/>
          </a:ln>
        </p:spPr>
      </p:sp>
      <p:sp>
        <p:nvSpPr>
          <p:cNvPr id="13" name="Shape 11"/>
          <p:cNvSpPr/>
          <p:nvPr/>
        </p:nvSpPr>
        <p:spPr>
          <a:xfrm flipV="1">
            <a:off x="1709601" y="4988231"/>
            <a:ext cx="204107" cy="14153"/>
          </a:xfrm>
          <a:prstGeom prst="line">
            <a:avLst/>
          </a:prstGeom>
          <a:noFill/>
          <a:ln w="34925">
            <a:solidFill>
              <a:srgbClr val="0F6F5C"/>
            </a:solidFill>
            <a:prstDash val="solid"/>
          </a:ln>
        </p:spPr>
      </p:sp>
      <p:sp>
        <p:nvSpPr>
          <p:cNvPr id="14" name="Shape 12"/>
          <p:cNvSpPr/>
          <p:nvPr/>
        </p:nvSpPr>
        <p:spPr>
          <a:xfrm flipV="1">
            <a:off x="1913709" y="4966764"/>
            <a:ext cx="204107" cy="21467"/>
          </a:xfrm>
          <a:prstGeom prst="line">
            <a:avLst/>
          </a:prstGeom>
          <a:noFill/>
          <a:ln w="34925">
            <a:solidFill>
              <a:srgbClr val="0F6F5C"/>
            </a:solidFill>
            <a:prstDash val="solid"/>
          </a:ln>
        </p:spPr>
      </p:sp>
      <p:sp>
        <p:nvSpPr>
          <p:cNvPr id="15" name="Shape 13"/>
          <p:cNvSpPr/>
          <p:nvPr/>
        </p:nvSpPr>
        <p:spPr>
          <a:xfrm flipV="1">
            <a:off x="2117816" y="4934407"/>
            <a:ext cx="204107" cy="32358"/>
          </a:xfrm>
          <a:prstGeom prst="line">
            <a:avLst/>
          </a:prstGeom>
          <a:noFill/>
          <a:ln w="34925">
            <a:solidFill>
              <a:srgbClr val="0F6F5C"/>
            </a:solidFill>
            <a:prstDash val="solid"/>
          </a:ln>
        </p:spPr>
      </p:sp>
      <p:sp>
        <p:nvSpPr>
          <p:cNvPr id="16" name="Shape 14"/>
          <p:cNvSpPr/>
          <p:nvPr/>
        </p:nvSpPr>
        <p:spPr>
          <a:xfrm flipV="1">
            <a:off x="2321923" y="4886091"/>
            <a:ext cx="204107" cy="48315"/>
          </a:xfrm>
          <a:prstGeom prst="line">
            <a:avLst/>
          </a:prstGeom>
          <a:noFill/>
          <a:ln w="34925">
            <a:solidFill>
              <a:srgbClr val="0F6F5C"/>
            </a:solidFill>
            <a:prstDash val="solid"/>
          </a:ln>
        </p:spPr>
      </p:sp>
      <p:sp>
        <p:nvSpPr>
          <p:cNvPr id="17" name="Shape 15"/>
          <p:cNvSpPr/>
          <p:nvPr/>
        </p:nvSpPr>
        <p:spPr>
          <a:xfrm flipV="1">
            <a:off x="2526030" y="4814956"/>
            <a:ext cx="204107" cy="71135"/>
          </a:xfrm>
          <a:prstGeom prst="line">
            <a:avLst/>
          </a:prstGeom>
          <a:noFill/>
          <a:ln w="34925">
            <a:solidFill>
              <a:srgbClr val="0F6F5C"/>
            </a:solidFill>
            <a:prstDash val="solid"/>
          </a:ln>
        </p:spPr>
      </p:sp>
      <p:sp>
        <p:nvSpPr>
          <p:cNvPr id="18" name="Shape 16"/>
          <p:cNvSpPr/>
          <p:nvPr/>
        </p:nvSpPr>
        <p:spPr>
          <a:xfrm flipV="1">
            <a:off x="2730137" y="4712359"/>
            <a:ext cx="204107" cy="102597"/>
          </a:xfrm>
          <a:prstGeom prst="line">
            <a:avLst/>
          </a:prstGeom>
          <a:noFill/>
          <a:ln w="34925">
            <a:solidFill>
              <a:srgbClr val="0F6F5C"/>
            </a:solidFill>
            <a:prstDash val="solid"/>
          </a:ln>
        </p:spPr>
      </p:sp>
      <p:sp>
        <p:nvSpPr>
          <p:cNvPr id="19" name="Shape 17"/>
          <p:cNvSpPr/>
          <p:nvPr/>
        </p:nvSpPr>
        <p:spPr>
          <a:xfrm flipV="1">
            <a:off x="2934244" y="4568700"/>
            <a:ext cx="204107" cy="143658"/>
          </a:xfrm>
          <a:prstGeom prst="line">
            <a:avLst/>
          </a:prstGeom>
          <a:noFill/>
          <a:ln w="34925">
            <a:solidFill>
              <a:srgbClr val="0F6F5C"/>
            </a:solidFill>
            <a:prstDash val="solid"/>
          </a:ln>
        </p:spPr>
      </p:sp>
      <p:sp>
        <p:nvSpPr>
          <p:cNvPr id="20" name="Shape 18"/>
          <p:cNvSpPr/>
          <p:nvPr/>
        </p:nvSpPr>
        <p:spPr>
          <a:xfrm flipV="1">
            <a:off x="3138351" y="4375668"/>
            <a:ext cx="204107" cy="193032"/>
          </a:xfrm>
          <a:prstGeom prst="line">
            <a:avLst/>
          </a:prstGeom>
          <a:noFill/>
          <a:ln w="34925">
            <a:solidFill>
              <a:srgbClr val="0F6F5C"/>
            </a:solidFill>
            <a:prstDash val="solid"/>
          </a:ln>
        </p:spPr>
      </p:sp>
      <p:sp>
        <p:nvSpPr>
          <p:cNvPr id="21" name="Shape 19"/>
          <p:cNvSpPr/>
          <p:nvPr/>
        </p:nvSpPr>
        <p:spPr>
          <a:xfrm flipV="1">
            <a:off x="3342459" y="4130170"/>
            <a:ext cx="204107" cy="245498"/>
          </a:xfrm>
          <a:prstGeom prst="line">
            <a:avLst/>
          </a:prstGeom>
          <a:noFill/>
          <a:ln w="34925">
            <a:solidFill>
              <a:srgbClr val="0F6F5C"/>
            </a:solidFill>
            <a:prstDash val="solid"/>
          </a:ln>
        </p:spPr>
      </p:sp>
      <p:sp>
        <p:nvSpPr>
          <p:cNvPr id="22" name="Shape 20"/>
          <p:cNvSpPr/>
          <p:nvPr/>
        </p:nvSpPr>
        <p:spPr>
          <a:xfrm flipV="1">
            <a:off x="3546566" y="3838886"/>
            <a:ext cx="204107" cy="291284"/>
          </a:xfrm>
          <a:prstGeom prst="line">
            <a:avLst/>
          </a:prstGeom>
          <a:noFill/>
          <a:ln w="34925">
            <a:solidFill>
              <a:srgbClr val="0F6F5C"/>
            </a:solidFill>
            <a:prstDash val="solid"/>
          </a:ln>
        </p:spPr>
      </p:sp>
      <p:sp>
        <p:nvSpPr>
          <p:cNvPr id="23" name="Shape 21"/>
          <p:cNvSpPr/>
          <p:nvPr/>
        </p:nvSpPr>
        <p:spPr>
          <a:xfrm flipV="1">
            <a:off x="3750673" y="3520440"/>
            <a:ext cx="204107" cy="318446"/>
          </a:xfrm>
          <a:prstGeom prst="line">
            <a:avLst/>
          </a:prstGeom>
          <a:noFill/>
          <a:ln w="34925">
            <a:solidFill>
              <a:srgbClr val="0F6F5C"/>
            </a:solidFill>
            <a:prstDash val="solid"/>
          </a:ln>
        </p:spPr>
      </p:sp>
      <p:sp>
        <p:nvSpPr>
          <p:cNvPr id="24" name="Shape 22"/>
          <p:cNvSpPr/>
          <p:nvPr/>
        </p:nvSpPr>
        <p:spPr>
          <a:xfrm flipV="1">
            <a:off x="3954780" y="3201994"/>
            <a:ext cx="204107" cy="318446"/>
          </a:xfrm>
          <a:prstGeom prst="line">
            <a:avLst/>
          </a:prstGeom>
          <a:noFill/>
          <a:ln w="34925">
            <a:solidFill>
              <a:srgbClr val="0F6F5C"/>
            </a:solidFill>
            <a:prstDash val="solid"/>
          </a:ln>
        </p:spPr>
      </p:sp>
      <p:sp>
        <p:nvSpPr>
          <p:cNvPr id="25" name="Shape 23"/>
          <p:cNvSpPr/>
          <p:nvPr/>
        </p:nvSpPr>
        <p:spPr>
          <a:xfrm flipV="1">
            <a:off x="4158887" y="2910710"/>
            <a:ext cx="204107" cy="291284"/>
          </a:xfrm>
          <a:prstGeom prst="line">
            <a:avLst/>
          </a:prstGeom>
          <a:noFill/>
          <a:ln w="34925">
            <a:solidFill>
              <a:srgbClr val="0F6F5C"/>
            </a:solidFill>
            <a:prstDash val="solid"/>
          </a:ln>
        </p:spPr>
      </p:sp>
      <p:sp>
        <p:nvSpPr>
          <p:cNvPr id="26" name="Shape 24"/>
          <p:cNvSpPr/>
          <p:nvPr/>
        </p:nvSpPr>
        <p:spPr>
          <a:xfrm flipV="1">
            <a:off x="4362994" y="2665212"/>
            <a:ext cx="204107" cy="245498"/>
          </a:xfrm>
          <a:prstGeom prst="line">
            <a:avLst/>
          </a:prstGeom>
          <a:noFill/>
          <a:ln w="34925">
            <a:solidFill>
              <a:srgbClr val="0F6F5C"/>
            </a:solidFill>
            <a:prstDash val="solid"/>
          </a:ln>
        </p:spPr>
      </p:sp>
      <p:sp>
        <p:nvSpPr>
          <p:cNvPr id="27" name="Shape 25"/>
          <p:cNvSpPr/>
          <p:nvPr/>
        </p:nvSpPr>
        <p:spPr>
          <a:xfrm flipV="1">
            <a:off x="4567101" y="2472180"/>
            <a:ext cx="204107" cy="193032"/>
          </a:xfrm>
          <a:prstGeom prst="line">
            <a:avLst/>
          </a:prstGeom>
          <a:noFill/>
          <a:ln w="34925">
            <a:solidFill>
              <a:srgbClr val="0F6F5C"/>
            </a:solidFill>
            <a:prstDash val="solid"/>
          </a:ln>
        </p:spPr>
      </p:sp>
      <p:sp>
        <p:nvSpPr>
          <p:cNvPr id="28" name="Shape 26"/>
          <p:cNvSpPr/>
          <p:nvPr/>
        </p:nvSpPr>
        <p:spPr>
          <a:xfrm flipV="1">
            <a:off x="4771209" y="2328521"/>
            <a:ext cx="204107" cy="143658"/>
          </a:xfrm>
          <a:prstGeom prst="line">
            <a:avLst/>
          </a:prstGeom>
          <a:noFill/>
          <a:ln w="34925">
            <a:solidFill>
              <a:srgbClr val="0F6F5C"/>
            </a:solidFill>
            <a:prstDash val="solid"/>
          </a:ln>
        </p:spPr>
      </p:sp>
      <p:sp>
        <p:nvSpPr>
          <p:cNvPr id="29" name="Shape 27"/>
          <p:cNvSpPr/>
          <p:nvPr/>
        </p:nvSpPr>
        <p:spPr>
          <a:xfrm flipV="1">
            <a:off x="4975316" y="2225924"/>
            <a:ext cx="204107" cy="102597"/>
          </a:xfrm>
          <a:prstGeom prst="line">
            <a:avLst/>
          </a:prstGeom>
          <a:noFill/>
          <a:ln w="34925">
            <a:solidFill>
              <a:srgbClr val="0F6F5C"/>
            </a:solidFill>
            <a:prstDash val="solid"/>
          </a:ln>
        </p:spPr>
      </p:sp>
      <p:sp>
        <p:nvSpPr>
          <p:cNvPr id="30" name="Shape 28"/>
          <p:cNvSpPr/>
          <p:nvPr/>
        </p:nvSpPr>
        <p:spPr>
          <a:xfrm flipV="1">
            <a:off x="5179423" y="2154789"/>
            <a:ext cx="204107" cy="71135"/>
          </a:xfrm>
          <a:prstGeom prst="line">
            <a:avLst/>
          </a:prstGeom>
          <a:noFill/>
          <a:ln w="34925">
            <a:solidFill>
              <a:srgbClr val="0F6F5C"/>
            </a:solidFill>
            <a:prstDash val="solid"/>
          </a:ln>
        </p:spPr>
      </p:sp>
      <p:sp>
        <p:nvSpPr>
          <p:cNvPr id="31" name="Shape 29"/>
          <p:cNvSpPr/>
          <p:nvPr/>
        </p:nvSpPr>
        <p:spPr>
          <a:xfrm flipV="1">
            <a:off x="5383530" y="2106473"/>
            <a:ext cx="204107" cy="48315"/>
          </a:xfrm>
          <a:prstGeom prst="line">
            <a:avLst/>
          </a:prstGeom>
          <a:noFill/>
          <a:ln w="34925">
            <a:solidFill>
              <a:srgbClr val="0F6F5C"/>
            </a:solidFill>
            <a:prstDash val="solid"/>
          </a:ln>
        </p:spPr>
      </p:sp>
      <p:sp>
        <p:nvSpPr>
          <p:cNvPr id="32" name="Shape 30"/>
          <p:cNvSpPr/>
          <p:nvPr/>
        </p:nvSpPr>
        <p:spPr>
          <a:xfrm flipV="1">
            <a:off x="5587637" y="2074116"/>
            <a:ext cx="204107" cy="32358"/>
          </a:xfrm>
          <a:prstGeom prst="line">
            <a:avLst/>
          </a:prstGeom>
          <a:noFill/>
          <a:ln w="34925">
            <a:solidFill>
              <a:srgbClr val="0F6F5C"/>
            </a:solidFill>
            <a:prstDash val="solid"/>
          </a:ln>
        </p:spPr>
      </p:sp>
      <p:sp>
        <p:nvSpPr>
          <p:cNvPr id="33" name="Shape 31"/>
          <p:cNvSpPr/>
          <p:nvPr/>
        </p:nvSpPr>
        <p:spPr>
          <a:xfrm flipV="1">
            <a:off x="5791744" y="2052649"/>
            <a:ext cx="204107" cy="21467"/>
          </a:xfrm>
          <a:prstGeom prst="line">
            <a:avLst/>
          </a:prstGeom>
          <a:noFill/>
          <a:ln w="34925">
            <a:solidFill>
              <a:srgbClr val="0F6F5C"/>
            </a:solidFill>
            <a:prstDash val="solid"/>
          </a:ln>
        </p:spPr>
      </p:sp>
      <p:sp>
        <p:nvSpPr>
          <p:cNvPr id="34" name="Shape 32"/>
          <p:cNvSpPr/>
          <p:nvPr/>
        </p:nvSpPr>
        <p:spPr>
          <a:xfrm flipV="1">
            <a:off x="5995851" y="2038495"/>
            <a:ext cx="204107" cy="14153"/>
          </a:xfrm>
          <a:prstGeom prst="line">
            <a:avLst/>
          </a:prstGeom>
          <a:noFill/>
          <a:ln w="34925">
            <a:solidFill>
              <a:srgbClr val="0F6F5C"/>
            </a:solidFill>
            <a:prstDash val="solid"/>
          </a:ln>
        </p:spPr>
      </p:sp>
      <p:sp>
        <p:nvSpPr>
          <p:cNvPr id="35" name="Shape 33"/>
          <p:cNvSpPr/>
          <p:nvPr/>
        </p:nvSpPr>
        <p:spPr>
          <a:xfrm flipV="1">
            <a:off x="6199959" y="2029203"/>
            <a:ext cx="204107" cy="9293"/>
          </a:xfrm>
          <a:prstGeom prst="line">
            <a:avLst/>
          </a:prstGeom>
          <a:noFill/>
          <a:ln w="34925">
            <a:solidFill>
              <a:srgbClr val="0F6F5C"/>
            </a:solidFill>
            <a:prstDash val="solid"/>
          </a:ln>
        </p:spPr>
      </p:sp>
      <p:sp>
        <p:nvSpPr>
          <p:cNvPr id="36" name="Shape 34"/>
          <p:cNvSpPr/>
          <p:nvPr/>
        </p:nvSpPr>
        <p:spPr>
          <a:xfrm flipV="1">
            <a:off x="6404066" y="2023118"/>
            <a:ext cx="204107" cy="6085"/>
          </a:xfrm>
          <a:prstGeom prst="line">
            <a:avLst/>
          </a:prstGeom>
          <a:noFill/>
          <a:ln w="34925">
            <a:solidFill>
              <a:srgbClr val="0F6F5C"/>
            </a:solidFill>
            <a:prstDash val="solid"/>
          </a:ln>
        </p:spPr>
      </p:sp>
      <p:sp>
        <p:nvSpPr>
          <p:cNvPr id="37" name="Shape 35"/>
          <p:cNvSpPr/>
          <p:nvPr/>
        </p:nvSpPr>
        <p:spPr>
          <a:xfrm flipV="1">
            <a:off x="6608173" y="2019141"/>
            <a:ext cx="204107" cy="3977"/>
          </a:xfrm>
          <a:prstGeom prst="line">
            <a:avLst/>
          </a:prstGeom>
          <a:noFill/>
          <a:ln w="34925">
            <a:solidFill>
              <a:srgbClr val="0F6F5C"/>
            </a:solidFill>
            <a:prstDash val="solid"/>
          </a:ln>
        </p:spPr>
      </p:sp>
      <p:sp>
        <p:nvSpPr>
          <p:cNvPr id="38" name="Shape 36"/>
          <p:cNvSpPr/>
          <p:nvPr/>
        </p:nvSpPr>
        <p:spPr>
          <a:xfrm>
            <a:off x="3872484" y="3438144"/>
            <a:ext cx="164592" cy="164592"/>
          </a:xfrm>
          <a:prstGeom prst="ellipse">
            <a:avLst/>
          </a:prstGeom>
          <a:solidFill>
            <a:srgbClr val="B23A48"/>
          </a:solidFill>
          <a:ln/>
        </p:spPr>
      </p:sp>
      <p:sp>
        <p:nvSpPr>
          <p:cNvPr id="39" name="Text 37"/>
          <p:cNvSpPr/>
          <p:nvPr/>
        </p:nvSpPr>
        <p:spPr>
          <a:xfrm>
            <a:off x="411480" y="1901952"/>
            <a:ext cx="603504" cy="228600"/>
          </a:xfrm>
          <a:prstGeom prst="rect">
            <a:avLst/>
          </a:prstGeom>
          <a:noFill/>
          <a:ln/>
        </p:spPr>
        <p:txBody>
          <a:bodyPr wrap="square" rtlCol="0" anchor="ctr"/>
          <a:lstStyle/>
          <a:p>
            <a:pPr algn="r" indent="0" marL="0">
              <a:buNone/>
            </a:pPr>
            <a:r>
              <a:rPr lang="en-US" sz="900" dirty="0">
                <a:solidFill>
                  <a:srgbClr val="5B5B6B"/>
                </a:solidFill>
                <a:latin typeface="맑은 고딕" pitchFamily="34" charset="0"/>
                <a:ea typeface="맑은 고딕" pitchFamily="34" charset="-122"/>
                <a:cs typeface="맑은 고딕" pitchFamily="34" charset="-120"/>
              </a:rPr>
              <a:t>100%</a:t>
            </a:r>
            <a:endParaRPr lang="en-US" sz="900" dirty="0"/>
          </a:p>
        </p:txBody>
      </p:sp>
      <p:sp>
        <p:nvSpPr>
          <p:cNvPr id="40" name="Text 38"/>
          <p:cNvSpPr/>
          <p:nvPr/>
        </p:nvSpPr>
        <p:spPr>
          <a:xfrm>
            <a:off x="411480" y="3410712"/>
            <a:ext cx="603504" cy="228600"/>
          </a:xfrm>
          <a:prstGeom prst="rect">
            <a:avLst/>
          </a:prstGeom>
          <a:noFill/>
          <a:ln/>
        </p:spPr>
        <p:txBody>
          <a:bodyPr wrap="square" rtlCol="0" anchor="ctr"/>
          <a:lstStyle/>
          <a:p>
            <a:pPr algn="r" indent="0" marL="0">
              <a:buNone/>
            </a:pPr>
            <a:r>
              <a:rPr lang="en-US" sz="900" dirty="0">
                <a:solidFill>
                  <a:srgbClr val="5B5B6B"/>
                </a:solidFill>
                <a:latin typeface="맑은 고딕" pitchFamily="34" charset="0"/>
                <a:ea typeface="맑은 고딕" pitchFamily="34" charset="-122"/>
                <a:cs typeface="맑은 고딕" pitchFamily="34" charset="-120"/>
              </a:rPr>
              <a:t>50%</a:t>
            </a:r>
            <a:endParaRPr lang="en-US" sz="900" dirty="0"/>
          </a:p>
        </p:txBody>
      </p:sp>
      <p:sp>
        <p:nvSpPr>
          <p:cNvPr id="41" name="Text 39"/>
          <p:cNvSpPr/>
          <p:nvPr/>
        </p:nvSpPr>
        <p:spPr>
          <a:xfrm>
            <a:off x="411480" y="4919472"/>
            <a:ext cx="603504" cy="228600"/>
          </a:xfrm>
          <a:prstGeom prst="rect">
            <a:avLst/>
          </a:prstGeom>
          <a:noFill/>
          <a:ln/>
        </p:spPr>
        <p:txBody>
          <a:bodyPr wrap="square" rtlCol="0" anchor="ctr"/>
          <a:lstStyle/>
          <a:p>
            <a:pPr algn="r" indent="0" marL="0">
              <a:buNone/>
            </a:pPr>
            <a:r>
              <a:rPr lang="en-US" sz="900" dirty="0">
                <a:solidFill>
                  <a:srgbClr val="5B5B6B"/>
                </a:solidFill>
                <a:latin typeface="맑은 고딕" pitchFamily="34" charset="0"/>
                <a:ea typeface="맑은 고딕" pitchFamily="34" charset="-122"/>
                <a:cs typeface="맑은 고딕" pitchFamily="34" charset="-120"/>
              </a:rPr>
              <a:t>0%</a:t>
            </a:r>
            <a:endParaRPr lang="en-US" sz="900" dirty="0"/>
          </a:p>
        </p:txBody>
      </p:sp>
      <p:sp>
        <p:nvSpPr>
          <p:cNvPr id="42" name="Text 40"/>
          <p:cNvSpPr/>
          <p:nvPr/>
        </p:nvSpPr>
        <p:spPr>
          <a:xfrm>
            <a:off x="960120" y="1627632"/>
            <a:ext cx="1463040" cy="228600"/>
          </a:xfrm>
          <a:prstGeom prst="rect">
            <a:avLst/>
          </a:prstGeom>
          <a:noFill/>
          <a:ln/>
        </p:spPr>
        <p:txBody>
          <a:bodyPr wrap="square" rtlCol="0" anchor="ctr"/>
          <a:lstStyle/>
          <a:p>
            <a:pPr indent="0" marL="0">
              <a:buNone/>
            </a:pPr>
            <a:r>
              <a:rPr lang="en-US" sz="1000" b="1" dirty="0">
                <a:solidFill>
                  <a:srgbClr val="15202B"/>
                </a:solidFill>
                <a:latin typeface="맑은 고딕" pitchFamily="34" charset="0"/>
                <a:ea typeface="맑은 고딕" pitchFamily="34" charset="-122"/>
                <a:cs typeface="맑은 고딕" pitchFamily="34" charset="-120"/>
              </a:rPr>
              <a:t>골 확률 ↑</a:t>
            </a:r>
            <a:endParaRPr lang="en-US" sz="1000" dirty="0"/>
          </a:p>
        </p:txBody>
      </p:sp>
      <p:sp>
        <p:nvSpPr>
          <p:cNvPr id="43" name="Text 41"/>
          <p:cNvSpPr/>
          <p:nvPr/>
        </p:nvSpPr>
        <p:spPr>
          <a:xfrm>
            <a:off x="1097280" y="5120640"/>
            <a:ext cx="5715000" cy="274320"/>
          </a:xfrm>
          <a:prstGeom prst="rect">
            <a:avLst/>
          </a:prstGeom>
          <a:noFill/>
          <a:ln/>
        </p:spPr>
        <p:txBody>
          <a:bodyPr wrap="square" rtlCol="0" anchor="ctr"/>
          <a:lstStyle/>
          <a:p>
            <a:pPr algn="ctr" indent="0" marL="0">
              <a:buNone/>
            </a:pPr>
            <a:r>
              <a:rPr lang="en-US" sz="1050" dirty="0">
                <a:solidFill>
                  <a:srgbClr val="15202B"/>
                </a:solidFill>
                <a:latin typeface="맑은 고딕" pitchFamily="34" charset="0"/>
                <a:ea typeface="맑은 고딕" pitchFamily="34" charset="-122"/>
                <a:cs typeface="맑은 고딕" pitchFamily="34" charset="-120"/>
              </a:rPr>
              <a:t>← 크게 불리        총점 (더한 점수)        크게 유리 →</a:t>
            </a:r>
            <a:endParaRPr lang="en-US" sz="1050" dirty="0"/>
          </a:p>
        </p:txBody>
      </p:sp>
      <p:sp>
        <p:nvSpPr>
          <p:cNvPr id="44" name="Text 42"/>
          <p:cNvSpPr/>
          <p:nvPr/>
        </p:nvSpPr>
        <p:spPr>
          <a:xfrm>
            <a:off x="3771900" y="5120640"/>
            <a:ext cx="365760" cy="228600"/>
          </a:xfrm>
          <a:prstGeom prst="rect">
            <a:avLst/>
          </a:prstGeom>
          <a:noFill/>
          <a:ln/>
        </p:spPr>
        <p:txBody>
          <a:bodyPr wrap="square" rtlCol="0" anchor="ctr"/>
          <a:lstStyle/>
          <a:p>
            <a:pPr algn="ctr" indent="0" marL="0">
              <a:buNone/>
            </a:pPr>
            <a:r>
              <a:rPr lang="en-US" sz="900" dirty="0">
                <a:solidFill>
                  <a:srgbClr val="5B5B6B"/>
                </a:solidFill>
                <a:latin typeface="맑은 고딕" pitchFamily="34" charset="0"/>
                <a:ea typeface="맑은 고딕" pitchFamily="34" charset="-122"/>
                <a:cs typeface="맑은 고딕" pitchFamily="34" charset="-120"/>
              </a:rPr>
              <a:t>0</a:t>
            </a:r>
            <a:endParaRPr lang="en-US" sz="900" dirty="0"/>
          </a:p>
        </p:txBody>
      </p:sp>
      <p:sp>
        <p:nvSpPr>
          <p:cNvPr id="45" name="Text 43"/>
          <p:cNvSpPr/>
          <p:nvPr/>
        </p:nvSpPr>
        <p:spPr>
          <a:xfrm>
            <a:off x="4119372" y="3483864"/>
            <a:ext cx="2103120" cy="274320"/>
          </a:xfrm>
          <a:prstGeom prst="rect">
            <a:avLst/>
          </a:prstGeom>
          <a:noFill/>
          <a:ln/>
        </p:spPr>
        <p:txBody>
          <a:bodyPr wrap="square" rtlCol="0" anchor="ctr"/>
          <a:lstStyle/>
          <a:p>
            <a:pPr indent="0" marL="0">
              <a:buNone/>
            </a:pPr>
            <a:r>
              <a:rPr lang="en-US" sz="1050" b="1" dirty="0">
                <a:solidFill>
                  <a:srgbClr val="B23A48"/>
                </a:solidFill>
                <a:latin typeface="맑은 고딕" pitchFamily="34" charset="0"/>
                <a:ea typeface="맑은 고딕" pitchFamily="34" charset="-122"/>
                <a:cs typeface="맑은 고딕" pitchFamily="34" charset="-120"/>
              </a:rPr>
              <a:t>총점 0 = 반반(50%)</a:t>
            </a:r>
            <a:endParaRPr lang="en-US" sz="1050" dirty="0"/>
          </a:p>
        </p:txBody>
      </p:sp>
      <p:sp>
        <p:nvSpPr>
          <p:cNvPr id="46" name="Text 44"/>
          <p:cNvSpPr/>
          <p:nvPr/>
        </p:nvSpPr>
        <p:spPr>
          <a:xfrm>
            <a:off x="4768215" y="1887322"/>
            <a:ext cx="2468880" cy="274320"/>
          </a:xfrm>
          <a:prstGeom prst="rect">
            <a:avLst/>
          </a:prstGeom>
          <a:noFill/>
          <a:ln/>
        </p:spPr>
        <p:txBody>
          <a:bodyPr wrap="square" rtlCol="0" anchor="ctr"/>
          <a:lstStyle/>
          <a:p>
            <a:pPr indent="0" marL="0">
              <a:buNone/>
            </a:pPr>
            <a:r>
              <a:rPr lang="en-US" sz="1000" dirty="0">
                <a:solidFill>
                  <a:srgbClr val="5B5B6B"/>
                </a:solidFill>
                <a:latin typeface="맑은 고딕" pitchFamily="34" charset="0"/>
                <a:ea typeface="맑은 고딕" pitchFamily="34" charset="-122"/>
                <a:cs typeface="맑은 고딕" pitchFamily="34" charset="-120"/>
              </a:rPr>
              <a:t>여기선 이미 거의 100% →</a:t>
            </a:r>
            <a:endParaRPr lang="en-US" sz="1000" dirty="0"/>
          </a:p>
        </p:txBody>
      </p:sp>
      <p:sp>
        <p:nvSpPr>
          <p:cNvPr id="47" name="Text 45"/>
          <p:cNvSpPr/>
          <p:nvPr/>
        </p:nvSpPr>
        <p:spPr>
          <a:xfrm>
            <a:off x="1811655" y="4884725"/>
            <a:ext cx="2011680" cy="274320"/>
          </a:xfrm>
          <a:prstGeom prst="rect">
            <a:avLst/>
          </a:prstGeom>
          <a:noFill/>
          <a:ln/>
        </p:spPr>
        <p:txBody>
          <a:bodyPr wrap="square" rtlCol="0" anchor="ctr"/>
          <a:lstStyle/>
          <a:p>
            <a:pPr indent="0" marL="0">
              <a:buNone/>
            </a:pPr>
            <a:r>
              <a:rPr lang="en-US" sz="1000" dirty="0">
                <a:solidFill>
                  <a:srgbClr val="5B5B6B"/>
                </a:solidFill>
                <a:latin typeface="맑은 고딕" pitchFamily="34" charset="0"/>
                <a:ea typeface="맑은 고딕" pitchFamily="34" charset="-122"/>
                <a:cs typeface="맑은 고딕" pitchFamily="34" charset="-120"/>
              </a:rPr>
              <a:t>← 여기선 거의 0%</a:t>
            </a:r>
            <a:endParaRPr lang="en-US" sz="1000" dirty="0"/>
          </a:p>
        </p:txBody>
      </p:sp>
      <p:sp>
        <p:nvSpPr>
          <p:cNvPr id="48" name="Text 46"/>
          <p:cNvSpPr/>
          <p:nvPr/>
        </p:nvSpPr>
        <p:spPr>
          <a:xfrm>
            <a:off x="7315200" y="1389888"/>
            <a:ext cx="4309567" cy="274320"/>
          </a:xfrm>
          <a:prstGeom prst="rect">
            <a:avLst/>
          </a:prstGeom>
          <a:noFill/>
          <a:ln/>
        </p:spPr>
        <p:txBody>
          <a:bodyPr wrap="square" rtlCol="0" anchor="ctr"/>
          <a:lstStyle/>
          <a:p>
            <a:pPr indent="0" marL="0">
              <a:buNone/>
            </a:pPr>
            <a:r>
              <a:rPr lang="en-US" sz="1400" b="1" dirty="0">
                <a:solidFill>
                  <a:srgbClr val="0F6F5C"/>
                </a:solidFill>
                <a:latin typeface="맑은 고딕" pitchFamily="34" charset="0"/>
                <a:ea typeface="맑은 고딕" pitchFamily="34" charset="-122"/>
                <a:cs typeface="맑은 고딕" pitchFamily="34" charset="-120"/>
              </a:rPr>
              <a:t>이 그림 읽는 법</a:t>
            </a:r>
            <a:endParaRPr lang="en-US" sz="1400" dirty="0"/>
          </a:p>
        </p:txBody>
      </p:sp>
      <p:sp>
        <p:nvSpPr>
          <p:cNvPr id="49" name="Shape 47"/>
          <p:cNvSpPr/>
          <p:nvPr/>
        </p:nvSpPr>
        <p:spPr>
          <a:xfrm>
            <a:off x="7315200" y="1755648"/>
            <a:ext cx="4309567" cy="932688"/>
          </a:xfrm>
          <a:prstGeom prst="rect">
            <a:avLst>
              <a:gd name="adj" fmla="val 7843"/>
            </a:avLst>
          </a:prstGeom>
          <a:solidFill>
            <a:srgbClr val="EEF3F1"/>
          </a:solidFill>
          <a:ln w="12700">
            <a:solidFill>
              <a:srgbClr val="E1E7E4"/>
            </a:solidFill>
            <a:prstDash val="solid"/>
          </a:ln>
        </p:spPr>
      </p:sp>
      <p:sp>
        <p:nvSpPr>
          <p:cNvPr id="50" name="Text 48"/>
          <p:cNvSpPr/>
          <p:nvPr/>
        </p:nvSpPr>
        <p:spPr>
          <a:xfrm>
            <a:off x="7479792" y="1828800"/>
            <a:ext cx="3980383" cy="274320"/>
          </a:xfrm>
          <a:prstGeom prst="rect">
            <a:avLst/>
          </a:prstGeom>
          <a:noFill/>
          <a:ln/>
        </p:spPr>
        <p:txBody>
          <a:bodyPr wrap="square" rtlCol="0" anchor="ctr"/>
          <a:lstStyle/>
          <a:p>
            <a:pPr indent="0" marL="0">
              <a:buNone/>
            </a:pPr>
            <a:r>
              <a:rPr lang="en-US" sz="1250" b="1" dirty="0">
                <a:solidFill>
                  <a:srgbClr val="15202B"/>
                </a:solidFill>
                <a:latin typeface="맑은 고딕" pitchFamily="34" charset="0"/>
                <a:ea typeface="맑은 고딕" pitchFamily="34" charset="-122"/>
                <a:cs typeface="맑은 고딕" pitchFamily="34" charset="-120"/>
              </a:rPr>
              <a:t>가운데는 가파르다</a:t>
            </a:r>
            <a:endParaRPr lang="en-US" sz="1250" dirty="0"/>
          </a:p>
        </p:txBody>
      </p:sp>
      <p:sp>
        <p:nvSpPr>
          <p:cNvPr id="51" name="Text 49"/>
          <p:cNvSpPr/>
          <p:nvPr/>
        </p:nvSpPr>
        <p:spPr>
          <a:xfrm>
            <a:off x="7479792" y="2139696"/>
            <a:ext cx="3980383" cy="502920"/>
          </a:xfrm>
          <a:prstGeom prst="rect">
            <a:avLst/>
          </a:prstGeom>
          <a:noFill/>
          <a:ln/>
        </p:spPr>
        <p:txBody>
          <a:bodyPr wrap="square" rtlCol="0" anchor="ctr"/>
          <a:lstStyle/>
          <a:p>
            <a:pPr indent="0" marL="0">
              <a:lnSpc>
                <a:spcPct val="110000"/>
              </a:lnSpc>
              <a:buNone/>
            </a:pPr>
            <a:r>
              <a:rPr lang="en-US" sz="1050" dirty="0">
                <a:solidFill>
                  <a:srgbClr val="5B5B6B"/>
                </a:solidFill>
                <a:latin typeface="맑은 고딕" pitchFamily="34" charset="0"/>
                <a:ea typeface="맑은 고딕" pitchFamily="34" charset="-122"/>
                <a:cs typeface="맑은 고딕" pitchFamily="34" charset="-120"/>
              </a:rPr>
              <a:t>총점이 0 근처(백중세)면 작은 점수차가 확률을 크게 흔든다.</a:t>
            </a:r>
            <a:endParaRPr lang="en-US" sz="1050" dirty="0"/>
          </a:p>
        </p:txBody>
      </p:sp>
      <p:sp>
        <p:nvSpPr>
          <p:cNvPr id="52" name="Shape 50"/>
          <p:cNvSpPr/>
          <p:nvPr/>
        </p:nvSpPr>
        <p:spPr>
          <a:xfrm>
            <a:off x="7315200" y="2798064"/>
            <a:ext cx="4309567" cy="932688"/>
          </a:xfrm>
          <a:prstGeom prst="rect">
            <a:avLst>
              <a:gd name="adj" fmla="val 7843"/>
            </a:avLst>
          </a:prstGeom>
          <a:solidFill>
            <a:srgbClr val="EEF3F1"/>
          </a:solidFill>
          <a:ln w="12700">
            <a:solidFill>
              <a:srgbClr val="E1E7E4"/>
            </a:solidFill>
            <a:prstDash val="solid"/>
          </a:ln>
        </p:spPr>
      </p:sp>
      <p:sp>
        <p:nvSpPr>
          <p:cNvPr id="53" name="Text 51"/>
          <p:cNvSpPr/>
          <p:nvPr/>
        </p:nvSpPr>
        <p:spPr>
          <a:xfrm>
            <a:off x="7479792" y="2871216"/>
            <a:ext cx="3980383" cy="274320"/>
          </a:xfrm>
          <a:prstGeom prst="rect">
            <a:avLst/>
          </a:prstGeom>
          <a:noFill/>
          <a:ln/>
        </p:spPr>
        <p:txBody>
          <a:bodyPr wrap="square" rtlCol="0" anchor="ctr"/>
          <a:lstStyle/>
          <a:p>
            <a:pPr indent="0" marL="0">
              <a:buNone/>
            </a:pPr>
            <a:r>
              <a:rPr lang="en-US" sz="1250" b="1" dirty="0">
                <a:solidFill>
                  <a:srgbClr val="15202B"/>
                </a:solidFill>
                <a:latin typeface="맑은 고딕" pitchFamily="34" charset="0"/>
                <a:ea typeface="맑은 고딕" pitchFamily="34" charset="-122"/>
                <a:cs typeface="맑은 고딕" pitchFamily="34" charset="-120"/>
              </a:rPr>
              <a:t>양끝은 평평하다</a:t>
            </a:r>
            <a:endParaRPr lang="en-US" sz="1250" dirty="0"/>
          </a:p>
        </p:txBody>
      </p:sp>
      <p:sp>
        <p:nvSpPr>
          <p:cNvPr id="54" name="Text 52"/>
          <p:cNvSpPr/>
          <p:nvPr/>
        </p:nvSpPr>
        <p:spPr>
          <a:xfrm>
            <a:off x="7479792" y="3182112"/>
            <a:ext cx="3980383" cy="502920"/>
          </a:xfrm>
          <a:prstGeom prst="rect">
            <a:avLst/>
          </a:prstGeom>
          <a:noFill/>
          <a:ln/>
        </p:spPr>
        <p:txBody>
          <a:bodyPr wrap="square" rtlCol="0" anchor="ctr"/>
          <a:lstStyle/>
          <a:p>
            <a:pPr indent="0" marL="0">
              <a:lnSpc>
                <a:spcPct val="110000"/>
              </a:lnSpc>
              <a:buNone/>
            </a:pPr>
            <a:r>
              <a:rPr lang="en-US" sz="1050" dirty="0">
                <a:solidFill>
                  <a:srgbClr val="5B5B6B"/>
                </a:solidFill>
                <a:latin typeface="맑은 고딕" pitchFamily="34" charset="0"/>
                <a:ea typeface="맑은 고딕" pitchFamily="34" charset="-122"/>
                <a:cs typeface="맑은 고딕" pitchFamily="34" charset="-120"/>
              </a:rPr>
              <a:t>이미 유리/불리로 기울면 점수를 더 밀어도 확률이 거의 안 변한다.</a:t>
            </a:r>
            <a:endParaRPr lang="en-US" sz="1050" dirty="0"/>
          </a:p>
        </p:txBody>
      </p:sp>
      <p:sp>
        <p:nvSpPr>
          <p:cNvPr id="55" name="Shape 53"/>
          <p:cNvSpPr/>
          <p:nvPr/>
        </p:nvSpPr>
        <p:spPr>
          <a:xfrm>
            <a:off x="7315200" y="3840480"/>
            <a:ext cx="4309567" cy="932688"/>
          </a:xfrm>
          <a:prstGeom prst="rect">
            <a:avLst>
              <a:gd name="adj" fmla="val 7843"/>
            </a:avLst>
          </a:prstGeom>
          <a:solidFill>
            <a:srgbClr val="EEF3F1"/>
          </a:solidFill>
          <a:ln w="12700">
            <a:solidFill>
              <a:srgbClr val="E1E7E4"/>
            </a:solidFill>
            <a:prstDash val="solid"/>
          </a:ln>
        </p:spPr>
      </p:sp>
      <p:sp>
        <p:nvSpPr>
          <p:cNvPr id="56" name="Text 54"/>
          <p:cNvSpPr/>
          <p:nvPr/>
        </p:nvSpPr>
        <p:spPr>
          <a:xfrm>
            <a:off x="7479792" y="3913632"/>
            <a:ext cx="3980383" cy="274320"/>
          </a:xfrm>
          <a:prstGeom prst="rect">
            <a:avLst/>
          </a:prstGeom>
          <a:noFill/>
          <a:ln/>
        </p:spPr>
        <p:txBody>
          <a:bodyPr wrap="square" rtlCol="0" anchor="ctr"/>
          <a:lstStyle/>
          <a:p>
            <a:pPr indent="0" marL="0">
              <a:buNone/>
            </a:pPr>
            <a:r>
              <a:rPr lang="en-US" sz="1250" b="1" dirty="0">
                <a:solidFill>
                  <a:srgbClr val="15202B"/>
                </a:solidFill>
                <a:latin typeface="맑은 고딕" pitchFamily="34" charset="0"/>
                <a:ea typeface="맑은 고딕" pitchFamily="34" charset="-122"/>
                <a:cs typeface="맑은 고딕" pitchFamily="34" charset="-120"/>
              </a:rPr>
              <a:t>0%·100%엔 안 닿는다</a:t>
            </a:r>
            <a:endParaRPr lang="en-US" sz="1250" dirty="0"/>
          </a:p>
        </p:txBody>
      </p:sp>
      <p:sp>
        <p:nvSpPr>
          <p:cNvPr id="57" name="Text 55"/>
          <p:cNvSpPr/>
          <p:nvPr/>
        </p:nvSpPr>
        <p:spPr>
          <a:xfrm>
            <a:off x="7479792" y="4224528"/>
            <a:ext cx="3980383" cy="502920"/>
          </a:xfrm>
          <a:prstGeom prst="rect">
            <a:avLst/>
          </a:prstGeom>
          <a:noFill/>
          <a:ln/>
        </p:spPr>
        <p:txBody>
          <a:bodyPr wrap="square" rtlCol="0" anchor="ctr"/>
          <a:lstStyle/>
          <a:p>
            <a:pPr indent="0" marL="0">
              <a:lnSpc>
                <a:spcPct val="110000"/>
              </a:lnSpc>
              <a:buNone/>
            </a:pPr>
            <a:r>
              <a:rPr lang="en-US" sz="1050" dirty="0">
                <a:solidFill>
                  <a:srgbClr val="5B5B6B"/>
                </a:solidFill>
                <a:latin typeface="맑은 고딕" pitchFamily="34" charset="0"/>
                <a:ea typeface="맑은 고딕" pitchFamily="34" charset="-122"/>
                <a:cs typeface="맑은 고딕" pitchFamily="34" charset="-120"/>
              </a:rPr>
              <a:t>아무리 유리해도 100%, 아무리 불리해도 0%가 안 됨 = 기적과 실수의 여지.</a:t>
            </a:r>
            <a:endParaRPr lang="en-US" sz="1050" dirty="0"/>
          </a:p>
        </p:txBody>
      </p:sp>
      <p:sp>
        <p:nvSpPr>
          <p:cNvPr id="58" name="Shape 56"/>
          <p:cNvSpPr/>
          <p:nvPr/>
        </p:nvSpPr>
        <p:spPr>
          <a:xfrm>
            <a:off x="566928" y="5468112"/>
            <a:ext cx="11057839" cy="566928"/>
          </a:xfrm>
          <a:prstGeom prst="rect">
            <a:avLst>
              <a:gd name="adj" fmla="val 12903"/>
            </a:avLst>
          </a:prstGeom>
          <a:solidFill>
            <a:srgbClr val="EEF3F1"/>
          </a:solidFill>
          <a:ln/>
        </p:spPr>
      </p:sp>
      <p:sp>
        <p:nvSpPr>
          <p:cNvPr id="59" name="Text 57"/>
          <p:cNvSpPr/>
          <p:nvPr/>
        </p:nvSpPr>
        <p:spPr>
          <a:xfrm>
            <a:off x="749808" y="5468112"/>
            <a:ext cx="10692079" cy="566928"/>
          </a:xfrm>
          <a:prstGeom prst="rect">
            <a:avLst/>
          </a:prstGeom>
          <a:noFill/>
          <a:ln/>
        </p:spPr>
        <p:txBody>
          <a:bodyPr wrap="square" rtlCol="0" anchor="ctr"/>
          <a:lstStyle/>
          <a:p>
            <a:pPr indent="0" marL="0">
              <a:buNone/>
            </a:pPr>
            <a:r>
              <a:rPr lang="en-US" sz="1200" b="1" dirty="0">
                <a:solidFill>
                  <a:srgbClr val="0F6F5C"/>
                </a:solidFill>
                <a:latin typeface="맑은 고딕" pitchFamily="34" charset="0"/>
                <a:ea typeface="맑은 고딕" pitchFamily="34" charset="-122"/>
                <a:cs typeface="맑은 고딕" pitchFamily="34" charset="-120"/>
              </a:rPr>
              <a:t>축구로:  </a:t>
            </a:r>
            <a:pPr indent="0" marL="0">
              <a:buNone/>
            </a:pPr>
            <a:r>
              <a:rPr lang="en-US" sz="1150" dirty="0">
                <a:solidFill>
                  <a:srgbClr val="15202B"/>
                </a:solidFill>
                <a:latin typeface="맑은 고딕" pitchFamily="34" charset="0"/>
                <a:ea typeface="맑은 고딕" pitchFamily="34" charset="-122"/>
                <a:cs typeface="맑은 고딕" pitchFamily="34" charset="-120"/>
              </a:rPr>
              <a:t>페널티킥=총점 크게+ → 오른쪽 평평 76% · 박스 안 1대1=총점 0 근처 → 가운데 반반 · 40m 중거리 슛=총점 크게− → 왼쪽 평평 3%</a:t>
            </a:r>
            <a:endParaRPr lang="en-US" sz="1200" dirty="0"/>
          </a:p>
        </p:txBody>
      </p:sp>
      <p:sp>
        <p:nvSpPr>
          <p:cNvPr id="61" name="Text 58"/>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62" name="Text 59"/>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PRIMER 3/3</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변수 vs 계수 — 왜 상수가 섞여 있나</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25880"/>
            <a:ext cx="11057839" cy="365760"/>
          </a:xfrm>
          <a:prstGeom prst="rect">
            <a:avLst/>
          </a:prstGeom>
          <a:noFill/>
          <a:ln/>
        </p:spPr>
        <p:txBody>
          <a:bodyPr wrap="square" rtlCol="0" anchor="ctr"/>
          <a:lstStyle/>
          <a:p>
            <a:pPr indent="0" marL="0">
              <a:buNone/>
            </a:pPr>
            <a:r>
              <a:rPr lang="en-US" sz="1250" dirty="0">
                <a:solidFill>
                  <a:srgbClr val="5B5B6B"/>
                </a:solidFill>
                <a:latin typeface="맑은 고딕" pitchFamily="34" charset="0"/>
                <a:ea typeface="맑은 고딕" pitchFamily="34" charset="-122"/>
                <a:cs typeface="맑은 고딕" pitchFamily="34" charset="-120"/>
              </a:rPr>
              <a:t>다음 장부터 산식에 β(베타)가 잔뜩 나와요. 그 전에: 우리 숫자는 성격이 다른 두 종류입니다.</a:t>
            </a:r>
            <a:endParaRPr lang="en-US" sz="1250" dirty="0"/>
          </a:p>
        </p:txBody>
      </p:sp>
      <p:sp>
        <p:nvSpPr>
          <p:cNvPr id="7" name="Shape 5"/>
          <p:cNvSpPr/>
          <p:nvPr/>
        </p:nvSpPr>
        <p:spPr>
          <a:xfrm>
            <a:off x="566928" y="1783080"/>
            <a:ext cx="5349240" cy="2286000"/>
          </a:xfrm>
          <a:prstGeom prst="rect">
            <a:avLst>
              <a:gd name="adj" fmla="val 3200"/>
            </a:avLst>
          </a:prstGeom>
          <a:solidFill>
            <a:srgbClr val="F4F7F6"/>
          </a:solidFill>
          <a:ln w="12700">
            <a:solidFill>
              <a:srgbClr val="E1E7E4"/>
            </a:solidFill>
            <a:prstDash val="solid"/>
          </a:ln>
        </p:spPr>
      </p:sp>
      <p:sp>
        <p:nvSpPr>
          <p:cNvPr id="8" name="Shape 6"/>
          <p:cNvSpPr/>
          <p:nvPr/>
        </p:nvSpPr>
        <p:spPr>
          <a:xfrm>
            <a:off x="566928" y="1783080"/>
            <a:ext cx="5349240" cy="502920"/>
          </a:xfrm>
          <a:prstGeom prst="rect">
            <a:avLst>
              <a:gd name="adj" fmla="val 14545"/>
            </a:avLst>
          </a:prstGeom>
          <a:solidFill>
            <a:srgbClr val="0F6F5C"/>
          </a:solidFill>
          <a:ln/>
        </p:spPr>
      </p:sp>
      <p:sp>
        <p:nvSpPr>
          <p:cNvPr id="9" name="Text 7"/>
          <p:cNvSpPr/>
          <p:nvPr/>
        </p:nvSpPr>
        <p:spPr>
          <a:xfrm>
            <a:off x="749808" y="1783080"/>
            <a:ext cx="5029200" cy="50292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변수 (입력) — 슛마다 바뀜</a:t>
            </a:r>
            <a:endParaRPr lang="en-US" sz="1400" dirty="0"/>
          </a:p>
        </p:txBody>
      </p:sp>
      <p:sp>
        <p:nvSpPr>
          <p:cNvPr id="10" name="Text 8"/>
          <p:cNvSpPr/>
          <p:nvPr/>
        </p:nvSpPr>
        <p:spPr>
          <a:xfrm>
            <a:off x="795528" y="2432304"/>
            <a:ext cx="4937760" cy="1508760"/>
          </a:xfrm>
          <a:prstGeom prst="rect">
            <a:avLst/>
          </a:prstGeom>
          <a:noFill/>
          <a:ln/>
        </p:spPr>
        <p:txBody>
          <a:bodyPr wrap="square" rtlCol="0" anchor="t"/>
          <a:lstStyle/>
          <a:p>
            <a:pPr indent="0" marL="0">
              <a:lnSpc>
                <a:spcPct val="135000"/>
              </a:lnSpc>
              <a:buNone/>
            </a:pPr>
            <a:r>
              <a:rPr lang="en-US" sz="1250" b="1" dirty="0">
                <a:solidFill>
                  <a:srgbClr val="15202B"/>
                </a:solidFill>
                <a:latin typeface="맑은 고딕" pitchFamily="34" charset="0"/>
                <a:ea typeface="맑은 고딕" pitchFamily="34" charset="-122"/>
                <a:cs typeface="맑은 고딕" pitchFamily="34" charset="-120"/>
              </a:rPr>
              <a:t>D 거리 · θ 각도 · S_eff 슈터 실력 · d_i 수비수 거리</a:t>
            </a:r>
            <a:endParaRPr lang="en-US" sz="1250" dirty="0"/>
          </a:p>
          <a:p>
            <a:pPr indent="0" marL="0">
              <a:lnSpc>
                <a:spcPct val="135000"/>
              </a:lnSpc>
              <a:buNone/>
            </a:pPr>
            <a:r>
              <a:rPr lang="en-US" sz="1100" dirty="0">
                <a:solidFill>
                  <a:srgbClr val="B23A48"/>
                </a:solidFill>
                <a:latin typeface="맑은 고딕" pitchFamily="34" charset="0"/>
                <a:ea typeface="맑은 고딕" pitchFamily="34" charset="-122"/>
                <a:cs typeface="맑은 고딕" pitchFamily="34" charset="-120"/>
              </a:rPr>
              <a:t>(S_gk 키퍼 실력 — 세이브 항 도입 검토 중)</a:t>
            </a:r>
            <a:endParaRPr lang="en-US" sz="1250" dirty="0"/>
          </a:p>
          <a:p>
            <a:pPr indent="0" marL="0">
              <a:lnSpc>
                <a:spcPct val="135000"/>
              </a:lnSpc>
              <a:buNone/>
            </a:pPr>
            <a:r>
              <a:rPr lang="en-US" sz="1100" dirty="0">
                <a:solidFill>
                  <a:srgbClr val="5B5B6B"/>
                </a:solidFill>
                <a:latin typeface="맑은 고딕" pitchFamily="34" charset="0"/>
                <a:ea typeface="맑은 고딕" pitchFamily="34" charset="-122"/>
                <a:cs typeface="맑은 고딕" pitchFamily="34" charset="-120"/>
              </a:rPr>
              <a:t>보드 위치·players.json에서 실시간 계산 → constants.js에 없음</a:t>
            </a:r>
            <a:endParaRPr lang="en-US" sz="1250" dirty="0"/>
          </a:p>
        </p:txBody>
      </p:sp>
      <p:sp>
        <p:nvSpPr>
          <p:cNvPr id="11" name="Shape 9"/>
          <p:cNvSpPr/>
          <p:nvPr/>
        </p:nvSpPr>
        <p:spPr>
          <a:xfrm>
            <a:off x="6190488" y="1783080"/>
            <a:ext cx="5349240" cy="2286000"/>
          </a:xfrm>
          <a:prstGeom prst="rect">
            <a:avLst>
              <a:gd name="adj" fmla="val 3200"/>
            </a:avLst>
          </a:prstGeom>
          <a:solidFill>
            <a:srgbClr val="F4F7F6"/>
          </a:solidFill>
          <a:ln w="12700">
            <a:solidFill>
              <a:srgbClr val="E1E7E4"/>
            </a:solidFill>
            <a:prstDash val="solid"/>
          </a:ln>
        </p:spPr>
      </p:sp>
      <p:sp>
        <p:nvSpPr>
          <p:cNvPr id="12" name="Shape 10"/>
          <p:cNvSpPr/>
          <p:nvPr/>
        </p:nvSpPr>
        <p:spPr>
          <a:xfrm>
            <a:off x="6190488" y="1783080"/>
            <a:ext cx="5349240" cy="502920"/>
          </a:xfrm>
          <a:prstGeom prst="rect">
            <a:avLst>
              <a:gd name="adj" fmla="val 14545"/>
            </a:avLst>
          </a:prstGeom>
          <a:solidFill>
            <a:srgbClr val="15202B"/>
          </a:solidFill>
          <a:ln/>
        </p:spPr>
      </p:sp>
      <p:sp>
        <p:nvSpPr>
          <p:cNvPr id="13" name="Text 11"/>
          <p:cNvSpPr/>
          <p:nvPr/>
        </p:nvSpPr>
        <p:spPr>
          <a:xfrm>
            <a:off x="6373368" y="1783080"/>
            <a:ext cx="5029200" cy="50292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계수 (가중치) — 고정 규칙</a:t>
            </a:r>
            <a:endParaRPr lang="en-US" sz="1400" dirty="0"/>
          </a:p>
        </p:txBody>
      </p:sp>
      <p:sp>
        <p:nvSpPr>
          <p:cNvPr id="14" name="Text 12"/>
          <p:cNvSpPr/>
          <p:nvPr/>
        </p:nvSpPr>
        <p:spPr>
          <a:xfrm>
            <a:off x="6419088" y="2432304"/>
            <a:ext cx="4937760" cy="1508760"/>
          </a:xfrm>
          <a:prstGeom prst="rect">
            <a:avLst/>
          </a:prstGeom>
          <a:noFill/>
          <a:ln/>
        </p:spPr>
        <p:txBody>
          <a:bodyPr wrap="square" rtlCol="0" anchor="t"/>
          <a:lstStyle/>
          <a:p>
            <a:pPr indent="0" marL="0">
              <a:lnSpc>
                <a:spcPct val="135000"/>
              </a:lnSpc>
              <a:buNone/>
            </a:pPr>
            <a:r>
              <a:rPr lang="en-US" sz="1250" b="1" dirty="0">
                <a:solidFill>
                  <a:srgbClr val="15202B"/>
                </a:solidFill>
                <a:latin typeface="맑은 고딕" pitchFamily="34" charset="0"/>
                <a:ea typeface="맑은 고딕" pitchFamily="34" charset="-122"/>
                <a:cs typeface="맑은 고딕" pitchFamily="34" charset="-120"/>
              </a:rPr>
              <a:t>β0 · β_dist · β_ang · β_skill · β_block · R_block</a:t>
            </a:r>
            <a:endParaRPr lang="en-US" sz="1250" dirty="0"/>
          </a:p>
          <a:p>
            <a:pPr indent="0" marL="0">
              <a:lnSpc>
                <a:spcPct val="135000"/>
              </a:lnSpc>
              <a:buNone/>
            </a:pPr>
            <a:r>
              <a:rPr lang="en-US" sz="1100" dirty="0">
                <a:solidFill>
                  <a:srgbClr val="5B5B6B"/>
                </a:solidFill>
                <a:latin typeface="맑은 고딕" pitchFamily="34" charset="0"/>
                <a:ea typeface="맑은 고딕" pitchFamily="34" charset="-122"/>
                <a:cs typeface="맑은 고딕" pitchFamily="34" charset="-120"/>
              </a:rPr>
              <a:t>"각 요소가 얼마나 중요한가"라는 규칙 → 모든 슛에 동일하게 적용</a:t>
            </a:r>
            <a:endParaRPr lang="en-US" sz="1250" dirty="0"/>
          </a:p>
          <a:p>
            <a:pPr indent="0" marL="0">
              <a:lnSpc>
                <a:spcPct val="135000"/>
              </a:lnSpc>
              <a:buNone/>
            </a:pPr>
            <a:r>
              <a:rPr lang="en-US" sz="1100" dirty="0">
                <a:solidFill>
                  <a:srgbClr val="5B5B6B"/>
                </a:solidFill>
                <a:latin typeface="맑은 고딕" pitchFamily="34" charset="0"/>
                <a:ea typeface="맑은 고딕" pitchFamily="34" charset="-122"/>
                <a:cs typeface="맑은 고딕" pitchFamily="34" charset="-120"/>
              </a:rPr>
              <a:t>constants.js에 모여 있는 게 바로 이것 (가중치만!)</a:t>
            </a:r>
            <a:endParaRPr lang="en-US" sz="1250" dirty="0"/>
          </a:p>
        </p:txBody>
      </p:sp>
      <p:sp>
        <p:nvSpPr>
          <p:cNvPr id="15" name="Shape 13"/>
          <p:cNvSpPr/>
          <p:nvPr/>
        </p:nvSpPr>
        <p:spPr>
          <a:xfrm>
            <a:off x="566928" y="4251960"/>
            <a:ext cx="11057839" cy="731520"/>
          </a:xfrm>
          <a:prstGeom prst="rect">
            <a:avLst>
              <a:gd name="adj" fmla="val 10000"/>
            </a:avLst>
          </a:prstGeom>
          <a:solidFill>
            <a:srgbClr val="EEF3F1"/>
          </a:solidFill>
          <a:ln/>
        </p:spPr>
      </p:sp>
      <p:sp>
        <p:nvSpPr>
          <p:cNvPr id="16" name="Text 14"/>
          <p:cNvSpPr/>
          <p:nvPr/>
        </p:nvSpPr>
        <p:spPr>
          <a:xfrm>
            <a:off x="749808" y="4251960"/>
            <a:ext cx="10692079" cy="731520"/>
          </a:xfrm>
          <a:prstGeom prst="rect">
            <a:avLst/>
          </a:prstGeom>
          <a:noFill/>
          <a:ln/>
        </p:spPr>
        <p:txBody>
          <a:bodyPr wrap="square" rtlCol="0" anchor="ctr"/>
          <a:lstStyle/>
          <a:p>
            <a:pPr indent="0" marL="0">
              <a:lnSpc>
                <a:spcPct val="112000"/>
              </a:lnSpc>
              <a:buNone/>
            </a:pPr>
            <a:r>
              <a:rPr lang="en-US" sz="1300" b="1" dirty="0">
                <a:solidFill>
                  <a:srgbClr val="0F6F5C"/>
                </a:solidFill>
                <a:latin typeface="맑은 고딕" pitchFamily="34" charset="0"/>
                <a:ea typeface="맑은 고딕" pitchFamily="34" charset="-122"/>
                <a:cs typeface="맑은 고딕" pitchFamily="34" charset="-120"/>
              </a:rPr>
              <a:t>시험 비유:  </a:t>
            </a:r>
            <a:pPr indent="0" marL="0">
              <a:lnSpc>
                <a:spcPct val="112000"/>
              </a:lnSpc>
              <a:buNone/>
            </a:pPr>
            <a:r>
              <a:rPr lang="en-US" sz="1200" dirty="0">
                <a:solidFill>
                  <a:srgbClr val="15202B"/>
                </a:solidFill>
                <a:latin typeface="맑은 고딕" pitchFamily="34" charset="0"/>
                <a:ea typeface="맑은 고딕" pitchFamily="34" charset="-122"/>
                <a:cs typeface="맑은 고딕" pitchFamily="34" charset="-120"/>
              </a:rPr>
              <a:t>누가 몇 점 맞았나 = 학생마다 다른 변수. "이 문제 5점" = 모두 같은 배점(상수). 배점을 학생마다 바꾸면 시험이 아니죠 — β가 고정인 이유가 이겁니다.</a:t>
            </a:r>
            <a:endParaRPr lang="en-US" sz="1300" dirty="0"/>
          </a:p>
        </p:txBody>
      </p:sp>
      <p:sp>
        <p:nvSpPr>
          <p:cNvPr id="17" name="Text 15"/>
          <p:cNvSpPr/>
          <p:nvPr/>
        </p:nvSpPr>
        <p:spPr>
          <a:xfrm>
            <a:off x="566928" y="5138928"/>
            <a:ext cx="11057839" cy="320040"/>
          </a:xfrm>
          <a:prstGeom prst="rect">
            <a:avLst/>
          </a:prstGeom>
          <a:noFill/>
          <a:ln/>
        </p:spPr>
        <p:txBody>
          <a:bodyPr wrap="square" rtlCol="0" anchor="ctr"/>
          <a:lstStyle/>
          <a:p>
            <a:pPr indent="0" marL="0">
              <a:buNone/>
            </a:pPr>
            <a:r>
              <a:rPr lang="en-US" sz="1100" b="1" dirty="0">
                <a:solidFill>
                  <a:srgbClr val="15202B"/>
                </a:solidFill>
                <a:latin typeface="맑은 고딕" pitchFamily="34" charset="0"/>
                <a:ea typeface="맑은 고딕" pitchFamily="34" charset="-122"/>
                <a:cs typeface="맑은 고딕" pitchFamily="34" charset="-120"/>
              </a:rPr>
              <a:t>β도 원래는 데이터로 "학습"하는 값 </a:t>
            </a:r>
            <a:pPr indent="0" marL="0">
              <a:buNone/>
            </a:pPr>
            <a:r>
              <a:rPr lang="en-US" sz="1100" dirty="0">
                <a:solidFill>
                  <a:srgbClr val="5B5B6B"/>
                </a:solidFill>
                <a:latin typeface="맑은 고딕" pitchFamily="34" charset="0"/>
                <a:ea typeface="맑은 고딕" pitchFamily="34" charset="-122"/>
                <a:cs typeface="맑은 고딕" pitchFamily="34" charset="-120"/>
              </a:rPr>
              <a:t>— 우리는 데이터가 없어 손으로 앵커에 맞춰뒀고, 플레이테스트로 재조정한다(영원한 상수 아님).</a:t>
            </a:r>
            <a:endParaRPr lang="en-US" sz="1100" dirty="0"/>
          </a:p>
        </p:txBody>
      </p:sp>
      <p:sp>
        <p:nvSpPr>
          <p:cNvPr id="18" name="Text 16"/>
          <p:cNvSpPr/>
          <p:nvPr/>
        </p:nvSpPr>
        <p:spPr>
          <a:xfrm>
            <a:off x="566928" y="5486400"/>
            <a:ext cx="11057839" cy="320040"/>
          </a:xfrm>
          <a:prstGeom prst="rect">
            <a:avLst/>
          </a:prstGeom>
          <a:noFill/>
          <a:ln/>
        </p:spPr>
        <p:txBody>
          <a:bodyPr wrap="square" rtlCol="0" anchor="ctr"/>
          <a:lstStyle/>
          <a:p>
            <a:pPr indent="0" marL="0">
              <a:buNone/>
            </a:pPr>
            <a:r>
              <a:rPr lang="en-US" sz="1100" b="1" dirty="0">
                <a:solidFill>
                  <a:srgbClr val="B23A48"/>
                </a:solidFill>
                <a:latin typeface="맑은 고딕" pitchFamily="34" charset="0"/>
                <a:ea typeface="맑은 고딕" pitchFamily="34" charset="-122"/>
                <a:cs typeface="맑은 고딕" pitchFamily="34" charset="-120"/>
              </a:rPr>
              <a:t>단, R_block·수비강도는 원래 선수마다 달라야 함 </a:t>
            </a:r>
            <a:pPr indent="0" marL="0">
              <a:buNone/>
            </a:pPr>
            <a:r>
              <a:rPr lang="en-US" sz="1100" dirty="0">
                <a:solidFill>
                  <a:srgbClr val="5B5B6B"/>
                </a:solidFill>
                <a:latin typeface="맑은 고딕" pitchFamily="34" charset="0"/>
                <a:ea typeface="맑은 고딕" pitchFamily="34" charset="-122"/>
                <a:cs typeface="맑은 고딕" pitchFamily="34" charset="-120"/>
              </a:rPr>
              <a:t>→ tackle 스탯 들어오면 "상수 → 변수"로 승격 예정.</a:t>
            </a:r>
            <a:endParaRPr lang="en-US" sz="1100" dirty="0"/>
          </a:p>
        </p:txBody>
      </p:sp>
      <p:sp>
        <p:nvSpPr>
          <p:cNvPr id="20" name="Text 17"/>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21" name="Text 18"/>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REFERENCE</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용어 사전 — 이 기호가 뭔지 (읽어주는 용)</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417320"/>
            <a:ext cx="5440680" cy="4526280"/>
          </a:xfrm>
          <a:prstGeom prst="rect">
            <a:avLst>
              <a:gd name="adj" fmla="val 1616"/>
            </a:avLst>
          </a:prstGeom>
          <a:solidFill>
            <a:srgbClr val="F4F7F6"/>
          </a:solidFill>
          <a:ln w="12700">
            <a:solidFill>
              <a:srgbClr val="E1E7E4"/>
            </a:solidFill>
            <a:prstDash val="solid"/>
          </a:ln>
        </p:spPr>
      </p:sp>
      <p:sp>
        <p:nvSpPr>
          <p:cNvPr id="7" name="Shape 5"/>
          <p:cNvSpPr/>
          <p:nvPr/>
        </p:nvSpPr>
        <p:spPr>
          <a:xfrm>
            <a:off x="566928" y="1417320"/>
            <a:ext cx="5440680" cy="457200"/>
          </a:xfrm>
          <a:prstGeom prst="rect">
            <a:avLst>
              <a:gd name="adj" fmla="val 16000"/>
            </a:avLst>
          </a:prstGeom>
          <a:solidFill>
            <a:srgbClr val="0F6F5C"/>
          </a:solidFill>
          <a:ln/>
        </p:spPr>
      </p:sp>
      <p:sp>
        <p:nvSpPr>
          <p:cNvPr id="8" name="Text 6"/>
          <p:cNvSpPr/>
          <p:nvPr/>
        </p:nvSpPr>
        <p:spPr>
          <a:xfrm>
            <a:off x="749808" y="1417320"/>
            <a:ext cx="5029200" cy="45720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변수 — 슛마다 바뀜</a:t>
            </a:r>
            <a:endParaRPr lang="en-US" sz="1350" dirty="0"/>
          </a:p>
        </p:txBody>
      </p:sp>
      <p:sp>
        <p:nvSpPr>
          <p:cNvPr id="9" name="Text 7"/>
          <p:cNvSpPr/>
          <p:nvPr/>
        </p:nvSpPr>
        <p:spPr>
          <a:xfrm>
            <a:off x="749808" y="2029968"/>
            <a:ext cx="1280160" cy="365760"/>
          </a:xfrm>
          <a:prstGeom prst="rect">
            <a:avLst/>
          </a:prstGeom>
          <a:noFill/>
          <a:ln/>
        </p:spPr>
        <p:txBody>
          <a:bodyPr wrap="square" rtlCol="0" anchor="t"/>
          <a:lstStyle/>
          <a:p>
            <a:pPr indent="0" marL="0">
              <a:buNone/>
            </a:pPr>
            <a:r>
              <a:rPr lang="en-US" sz="1300" b="1" dirty="0">
                <a:solidFill>
                  <a:srgbClr val="0F6F5C"/>
                </a:solidFill>
                <a:latin typeface="Consolas" pitchFamily="34" charset="0"/>
                <a:ea typeface="Consolas" pitchFamily="34" charset="-122"/>
                <a:cs typeface="Consolas" pitchFamily="34" charset="-120"/>
              </a:rPr>
              <a:t>D</a:t>
            </a:r>
            <a:endParaRPr lang="en-US" sz="1300" dirty="0"/>
          </a:p>
        </p:txBody>
      </p:sp>
      <p:sp>
        <p:nvSpPr>
          <p:cNvPr id="10" name="Text 8"/>
          <p:cNvSpPr/>
          <p:nvPr/>
        </p:nvSpPr>
        <p:spPr>
          <a:xfrm>
            <a:off x="2075688" y="2029968"/>
            <a:ext cx="3749040" cy="713232"/>
          </a:xfrm>
          <a:prstGeom prst="rect">
            <a:avLst/>
          </a:prstGeom>
          <a:noFill/>
          <a:ln/>
        </p:spPr>
        <p:txBody>
          <a:bodyPr wrap="square" rtlCol="0" anchor="t"/>
          <a:lstStyle/>
          <a:p>
            <a:pPr indent="0" marL="0">
              <a:lnSpc>
                <a:spcPct val="108000"/>
              </a:lnSpc>
              <a:buNone/>
            </a:pPr>
            <a:r>
              <a:rPr lang="en-US" sz="1150" dirty="0">
                <a:solidFill>
                  <a:srgbClr val="15202B"/>
                </a:solidFill>
                <a:latin typeface="맑은 고딕" pitchFamily="34" charset="0"/>
                <a:ea typeface="맑은 고딕" pitchFamily="34" charset="-122"/>
                <a:cs typeface="맑은 고딕" pitchFamily="34" charset="-120"/>
              </a:rPr>
              <a:t>슈터→골대 중앙 거리(m). 멀수록 불리.</a:t>
            </a:r>
            <a:endParaRPr lang="en-US" sz="1150" dirty="0"/>
          </a:p>
        </p:txBody>
      </p:sp>
      <p:sp>
        <p:nvSpPr>
          <p:cNvPr id="11" name="Text 9"/>
          <p:cNvSpPr/>
          <p:nvPr/>
        </p:nvSpPr>
        <p:spPr>
          <a:xfrm>
            <a:off x="749808" y="2798064"/>
            <a:ext cx="1280160" cy="365760"/>
          </a:xfrm>
          <a:prstGeom prst="rect">
            <a:avLst/>
          </a:prstGeom>
          <a:noFill/>
          <a:ln/>
        </p:spPr>
        <p:txBody>
          <a:bodyPr wrap="square" rtlCol="0" anchor="t"/>
          <a:lstStyle/>
          <a:p>
            <a:pPr indent="0" marL="0">
              <a:buNone/>
            </a:pPr>
            <a:r>
              <a:rPr lang="en-US" sz="1300" b="1" dirty="0">
                <a:solidFill>
                  <a:srgbClr val="0F6F5C"/>
                </a:solidFill>
                <a:latin typeface="Consolas" pitchFamily="34" charset="0"/>
                <a:ea typeface="Consolas" pitchFamily="34" charset="-122"/>
                <a:cs typeface="Consolas" pitchFamily="34" charset="-120"/>
              </a:rPr>
              <a:t>θ (세타)</a:t>
            </a:r>
            <a:endParaRPr lang="en-US" sz="1300" dirty="0"/>
          </a:p>
        </p:txBody>
      </p:sp>
      <p:sp>
        <p:nvSpPr>
          <p:cNvPr id="12" name="Text 10"/>
          <p:cNvSpPr/>
          <p:nvPr/>
        </p:nvSpPr>
        <p:spPr>
          <a:xfrm>
            <a:off x="2075688" y="2798064"/>
            <a:ext cx="3749040" cy="713232"/>
          </a:xfrm>
          <a:prstGeom prst="rect">
            <a:avLst/>
          </a:prstGeom>
          <a:noFill/>
          <a:ln/>
        </p:spPr>
        <p:txBody>
          <a:bodyPr wrap="square" rtlCol="0" anchor="t"/>
          <a:lstStyle/>
          <a:p>
            <a:pPr indent="0" marL="0">
              <a:lnSpc>
                <a:spcPct val="108000"/>
              </a:lnSpc>
              <a:buNone/>
            </a:pPr>
            <a:r>
              <a:rPr lang="en-US" sz="1150" dirty="0">
                <a:solidFill>
                  <a:srgbClr val="15202B"/>
                </a:solidFill>
                <a:latin typeface="맑은 고딕" pitchFamily="34" charset="0"/>
                <a:ea typeface="맑은 고딕" pitchFamily="34" charset="-122"/>
                <a:cs typeface="맑은 고딕" pitchFamily="34" charset="-120"/>
              </a:rPr>
              <a:t>골대 양 기둥이 벌어져 보이는 각. 정면·가까울수록 커서 유리.</a:t>
            </a:r>
            <a:endParaRPr lang="en-US" sz="1150" dirty="0"/>
          </a:p>
        </p:txBody>
      </p:sp>
      <p:sp>
        <p:nvSpPr>
          <p:cNvPr id="13" name="Text 11"/>
          <p:cNvSpPr/>
          <p:nvPr/>
        </p:nvSpPr>
        <p:spPr>
          <a:xfrm>
            <a:off x="749808" y="3566160"/>
            <a:ext cx="1280160" cy="365760"/>
          </a:xfrm>
          <a:prstGeom prst="rect">
            <a:avLst/>
          </a:prstGeom>
          <a:noFill/>
          <a:ln/>
        </p:spPr>
        <p:txBody>
          <a:bodyPr wrap="square" rtlCol="0" anchor="t"/>
          <a:lstStyle/>
          <a:p>
            <a:pPr indent="0" marL="0">
              <a:buNone/>
            </a:pPr>
            <a:r>
              <a:rPr lang="en-US" sz="1300" b="1" dirty="0">
                <a:solidFill>
                  <a:srgbClr val="0F6F5C"/>
                </a:solidFill>
                <a:latin typeface="Consolas" pitchFamily="34" charset="0"/>
                <a:ea typeface="Consolas" pitchFamily="34" charset="-122"/>
                <a:cs typeface="Consolas" pitchFamily="34" charset="-120"/>
              </a:rPr>
              <a:t>S_eff</a:t>
            </a:r>
            <a:endParaRPr lang="en-US" sz="1300" dirty="0"/>
          </a:p>
        </p:txBody>
      </p:sp>
      <p:sp>
        <p:nvSpPr>
          <p:cNvPr id="14" name="Text 12"/>
          <p:cNvSpPr/>
          <p:nvPr/>
        </p:nvSpPr>
        <p:spPr>
          <a:xfrm>
            <a:off x="2075688" y="3566160"/>
            <a:ext cx="3749040" cy="713232"/>
          </a:xfrm>
          <a:prstGeom prst="rect">
            <a:avLst/>
          </a:prstGeom>
          <a:noFill/>
          <a:ln/>
        </p:spPr>
        <p:txBody>
          <a:bodyPr wrap="square" rtlCol="0" anchor="t"/>
          <a:lstStyle/>
          <a:p>
            <a:pPr indent="0" marL="0">
              <a:lnSpc>
                <a:spcPct val="108000"/>
              </a:lnSpc>
              <a:buNone/>
            </a:pPr>
            <a:r>
              <a:rPr lang="en-US" sz="1150" dirty="0">
                <a:solidFill>
                  <a:srgbClr val="15202B"/>
                </a:solidFill>
                <a:latin typeface="맑은 고딕" pitchFamily="34" charset="0"/>
                <a:ea typeface="맑은 고딕" pitchFamily="34" charset="-122"/>
                <a:cs typeface="맑은 고딕" pitchFamily="34" charset="-120"/>
              </a:rPr>
              <a:t>슈터의 슈팅+침착성 실력(0~1). 높을수록 골.</a:t>
            </a:r>
            <a:endParaRPr lang="en-US" sz="1150" dirty="0"/>
          </a:p>
        </p:txBody>
      </p:sp>
      <p:sp>
        <p:nvSpPr>
          <p:cNvPr id="15" name="Text 13"/>
          <p:cNvSpPr/>
          <p:nvPr/>
        </p:nvSpPr>
        <p:spPr>
          <a:xfrm>
            <a:off x="749808" y="4334256"/>
            <a:ext cx="1280160" cy="365760"/>
          </a:xfrm>
          <a:prstGeom prst="rect">
            <a:avLst/>
          </a:prstGeom>
          <a:noFill/>
          <a:ln/>
        </p:spPr>
        <p:txBody>
          <a:bodyPr wrap="square" rtlCol="0" anchor="t"/>
          <a:lstStyle/>
          <a:p>
            <a:pPr indent="0" marL="0">
              <a:buNone/>
            </a:pPr>
            <a:r>
              <a:rPr lang="en-US" sz="1300" b="1" dirty="0">
                <a:solidFill>
                  <a:srgbClr val="0F6F5C"/>
                </a:solidFill>
                <a:latin typeface="Consolas" pitchFamily="34" charset="0"/>
                <a:ea typeface="Consolas" pitchFamily="34" charset="-122"/>
                <a:cs typeface="Consolas" pitchFamily="34" charset="-120"/>
              </a:rPr>
              <a:t>d_i</a:t>
            </a:r>
            <a:endParaRPr lang="en-US" sz="1300" dirty="0"/>
          </a:p>
        </p:txBody>
      </p:sp>
      <p:sp>
        <p:nvSpPr>
          <p:cNvPr id="16" name="Text 14"/>
          <p:cNvSpPr/>
          <p:nvPr/>
        </p:nvSpPr>
        <p:spPr>
          <a:xfrm>
            <a:off x="2075688" y="4334256"/>
            <a:ext cx="3749040" cy="713232"/>
          </a:xfrm>
          <a:prstGeom prst="rect">
            <a:avLst/>
          </a:prstGeom>
          <a:noFill/>
          <a:ln/>
        </p:spPr>
        <p:txBody>
          <a:bodyPr wrap="square" rtlCol="0" anchor="t"/>
          <a:lstStyle/>
          <a:p>
            <a:pPr indent="0" marL="0">
              <a:lnSpc>
                <a:spcPct val="108000"/>
              </a:lnSpc>
              <a:buNone/>
            </a:pPr>
            <a:r>
              <a:rPr lang="en-US" sz="1150" dirty="0">
                <a:solidFill>
                  <a:srgbClr val="15202B"/>
                </a:solidFill>
                <a:latin typeface="맑은 고딕" pitchFamily="34" charset="0"/>
                <a:ea typeface="맑은 고딕" pitchFamily="34" charset="-122"/>
                <a:cs typeface="맑은 고딕" pitchFamily="34" charset="-120"/>
              </a:rPr>
              <a:t>i번째 수비수가 슛 경로에서 떨어진 거리(m). 가까우면 막힘.</a:t>
            </a:r>
            <a:endParaRPr lang="en-US" sz="1150" dirty="0"/>
          </a:p>
        </p:txBody>
      </p:sp>
      <p:sp>
        <p:nvSpPr>
          <p:cNvPr id="17" name="Text 15"/>
          <p:cNvSpPr/>
          <p:nvPr/>
        </p:nvSpPr>
        <p:spPr>
          <a:xfrm>
            <a:off x="749808" y="5102352"/>
            <a:ext cx="1280160" cy="365760"/>
          </a:xfrm>
          <a:prstGeom prst="rect">
            <a:avLst/>
          </a:prstGeom>
          <a:noFill/>
          <a:ln/>
        </p:spPr>
        <p:txBody>
          <a:bodyPr wrap="square" rtlCol="0" anchor="t"/>
          <a:lstStyle/>
          <a:p>
            <a:pPr indent="0" marL="0">
              <a:buNone/>
            </a:pPr>
            <a:r>
              <a:rPr lang="en-US" sz="1300" b="1" dirty="0">
                <a:solidFill>
                  <a:srgbClr val="B23A48"/>
                </a:solidFill>
                <a:latin typeface="Consolas" pitchFamily="34" charset="0"/>
                <a:ea typeface="Consolas" pitchFamily="34" charset="-122"/>
                <a:cs typeface="Consolas" pitchFamily="34" charset="-120"/>
              </a:rPr>
              <a:t>(S_gk)</a:t>
            </a:r>
            <a:endParaRPr lang="en-US" sz="1300" dirty="0"/>
          </a:p>
        </p:txBody>
      </p:sp>
      <p:sp>
        <p:nvSpPr>
          <p:cNvPr id="18" name="Text 16"/>
          <p:cNvSpPr/>
          <p:nvPr/>
        </p:nvSpPr>
        <p:spPr>
          <a:xfrm>
            <a:off x="2075688" y="5102352"/>
            <a:ext cx="3749040" cy="713232"/>
          </a:xfrm>
          <a:prstGeom prst="rect">
            <a:avLst/>
          </a:prstGeom>
          <a:noFill/>
          <a:ln/>
        </p:spPr>
        <p:txBody>
          <a:bodyPr wrap="square" rtlCol="0" anchor="t"/>
          <a:lstStyle/>
          <a:p>
            <a:pPr indent="0" marL="0">
              <a:lnSpc>
                <a:spcPct val="108000"/>
              </a:lnSpc>
              <a:buNone/>
            </a:pPr>
            <a:r>
              <a:rPr lang="en-US" sz="1150" dirty="0">
                <a:solidFill>
                  <a:srgbClr val="5B5B6B"/>
                </a:solidFill>
                <a:latin typeface="맑은 고딕" pitchFamily="34" charset="0"/>
                <a:ea typeface="맑은 고딕" pitchFamily="34" charset="-122"/>
                <a:cs typeface="맑은 고딕" pitchFamily="34" charset="-120"/>
              </a:rPr>
              <a:t>키퍼 실력 — 세이브 항 도입 검토 중.</a:t>
            </a:r>
            <a:endParaRPr lang="en-US" sz="1150" dirty="0"/>
          </a:p>
        </p:txBody>
      </p:sp>
      <p:sp>
        <p:nvSpPr>
          <p:cNvPr id="19" name="Shape 17"/>
          <p:cNvSpPr/>
          <p:nvPr/>
        </p:nvSpPr>
        <p:spPr>
          <a:xfrm>
            <a:off x="6281928" y="1417320"/>
            <a:ext cx="5342839" cy="4526280"/>
          </a:xfrm>
          <a:prstGeom prst="rect">
            <a:avLst>
              <a:gd name="adj" fmla="val 1616"/>
            </a:avLst>
          </a:prstGeom>
          <a:solidFill>
            <a:srgbClr val="F4F7F6"/>
          </a:solidFill>
          <a:ln w="12700">
            <a:solidFill>
              <a:srgbClr val="E1E7E4"/>
            </a:solidFill>
            <a:prstDash val="solid"/>
          </a:ln>
        </p:spPr>
      </p:sp>
      <p:sp>
        <p:nvSpPr>
          <p:cNvPr id="20" name="Shape 18"/>
          <p:cNvSpPr/>
          <p:nvPr/>
        </p:nvSpPr>
        <p:spPr>
          <a:xfrm>
            <a:off x="6281928" y="1417320"/>
            <a:ext cx="5342839" cy="457200"/>
          </a:xfrm>
          <a:prstGeom prst="rect">
            <a:avLst>
              <a:gd name="adj" fmla="val 16000"/>
            </a:avLst>
          </a:prstGeom>
          <a:solidFill>
            <a:srgbClr val="15202B"/>
          </a:solidFill>
          <a:ln/>
        </p:spPr>
      </p:sp>
      <p:sp>
        <p:nvSpPr>
          <p:cNvPr id="21" name="Text 19"/>
          <p:cNvSpPr/>
          <p:nvPr/>
        </p:nvSpPr>
        <p:spPr>
          <a:xfrm>
            <a:off x="6464808" y="1417320"/>
            <a:ext cx="4572000" cy="45720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계수 — 고정 규칙</a:t>
            </a:r>
            <a:endParaRPr lang="en-US" sz="1350" dirty="0"/>
          </a:p>
        </p:txBody>
      </p:sp>
      <p:sp>
        <p:nvSpPr>
          <p:cNvPr id="22" name="Text 20"/>
          <p:cNvSpPr/>
          <p:nvPr/>
        </p:nvSpPr>
        <p:spPr>
          <a:xfrm>
            <a:off x="6464808" y="2029968"/>
            <a:ext cx="1874520" cy="365760"/>
          </a:xfrm>
          <a:prstGeom prst="rect">
            <a:avLst/>
          </a:prstGeom>
          <a:noFill/>
          <a:ln/>
        </p:spPr>
        <p:txBody>
          <a:bodyPr wrap="square" rtlCol="0" anchor="t"/>
          <a:lstStyle/>
          <a:p>
            <a:pPr indent="0" marL="0">
              <a:buNone/>
            </a:pPr>
            <a:r>
              <a:rPr lang="en-US" sz="1200" b="1" dirty="0">
                <a:solidFill>
                  <a:srgbClr val="15202B"/>
                </a:solidFill>
                <a:latin typeface="Consolas" pitchFamily="34" charset="0"/>
                <a:ea typeface="Consolas" pitchFamily="34" charset="-122"/>
                <a:cs typeface="Consolas" pitchFamily="34" charset="-120"/>
              </a:rPr>
              <a:t>β0 = −0.03</a:t>
            </a:r>
            <a:endParaRPr lang="en-US" sz="1200" dirty="0"/>
          </a:p>
        </p:txBody>
      </p:sp>
      <p:sp>
        <p:nvSpPr>
          <p:cNvPr id="23" name="Text 21"/>
          <p:cNvSpPr/>
          <p:nvPr/>
        </p:nvSpPr>
        <p:spPr>
          <a:xfrm>
            <a:off x="8385048" y="2029968"/>
            <a:ext cx="3056839" cy="548640"/>
          </a:xfrm>
          <a:prstGeom prst="rect">
            <a:avLst/>
          </a:prstGeom>
          <a:noFill/>
          <a:ln/>
        </p:spPr>
        <p:txBody>
          <a:bodyPr wrap="square" rtlCol="0" anchor="t"/>
          <a:lstStyle/>
          <a:p>
            <a:pPr indent="0" marL="0">
              <a:lnSpc>
                <a:spcPct val="105000"/>
              </a:lnSpc>
              <a:buNone/>
            </a:pPr>
            <a:r>
              <a:rPr lang="en-US" sz="1150" dirty="0">
                <a:solidFill>
                  <a:srgbClr val="5B5B6B"/>
                </a:solidFill>
                <a:latin typeface="맑은 고딕" pitchFamily="34" charset="0"/>
                <a:ea typeface="맑은 고딕" pitchFamily="34" charset="-122"/>
                <a:cs typeface="맑은 고딕" pitchFamily="34" charset="-120"/>
              </a:rPr>
              <a:t>기준선(절편). 전체 난이도 손잡이.</a:t>
            </a:r>
            <a:endParaRPr lang="en-US" sz="1150" dirty="0"/>
          </a:p>
        </p:txBody>
      </p:sp>
      <p:sp>
        <p:nvSpPr>
          <p:cNvPr id="24" name="Text 22"/>
          <p:cNvSpPr/>
          <p:nvPr/>
        </p:nvSpPr>
        <p:spPr>
          <a:xfrm>
            <a:off x="6464808" y="2670048"/>
            <a:ext cx="1874520" cy="365760"/>
          </a:xfrm>
          <a:prstGeom prst="rect">
            <a:avLst/>
          </a:prstGeom>
          <a:noFill/>
          <a:ln/>
        </p:spPr>
        <p:txBody>
          <a:bodyPr wrap="square" rtlCol="0" anchor="t"/>
          <a:lstStyle/>
          <a:p>
            <a:pPr indent="0" marL="0">
              <a:buNone/>
            </a:pPr>
            <a:r>
              <a:rPr lang="en-US" sz="1200" b="1" dirty="0">
                <a:solidFill>
                  <a:srgbClr val="15202B"/>
                </a:solidFill>
                <a:latin typeface="Consolas" pitchFamily="34" charset="0"/>
                <a:ea typeface="Consolas" pitchFamily="34" charset="-122"/>
                <a:cs typeface="Consolas" pitchFamily="34" charset="-120"/>
              </a:rPr>
              <a:t>β_dist = −0.20</a:t>
            </a:r>
            <a:endParaRPr lang="en-US" sz="1200" dirty="0"/>
          </a:p>
        </p:txBody>
      </p:sp>
      <p:sp>
        <p:nvSpPr>
          <p:cNvPr id="25" name="Text 23"/>
          <p:cNvSpPr/>
          <p:nvPr/>
        </p:nvSpPr>
        <p:spPr>
          <a:xfrm>
            <a:off x="8385048" y="2670048"/>
            <a:ext cx="3056839" cy="548640"/>
          </a:xfrm>
          <a:prstGeom prst="rect">
            <a:avLst/>
          </a:prstGeom>
          <a:noFill/>
          <a:ln/>
        </p:spPr>
        <p:txBody>
          <a:bodyPr wrap="square" rtlCol="0" anchor="t"/>
          <a:lstStyle/>
          <a:p>
            <a:pPr indent="0" marL="0">
              <a:lnSpc>
                <a:spcPct val="105000"/>
              </a:lnSpc>
              <a:buNone/>
            </a:pPr>
            <a:r>
              <a:rPr lang="en-US" sz="1150" dirty="0">
                <a:solidFill>
                  <a:srgbClr val="5B5B6B"/>
                </a:solidFill>
                <a:latin typeface="맑은 고딕" pitchFamily="34" charset="0"/>
                <a:ea typeface="맑은 고딕" pitchFamily="34" charset="-122"/>
                <a:cs typeface="맑은 고딕" pitchFamily="34" charset="-120"/>
              </a:rPr>
              <a:t>거리 1m당 깎는 양.</a:t>
            </a:r>
            <a:endParaRPr lang="en-US" sz="1150" dirty="0"/>
          </a:p>
        </p:txBody>
      </p:sp>
      <p:sp>
        <p:nvSpPr>
          <p:cNvPr id="26" name="Text 24"/>
          <p:cNvSpPr/>
          <p:nvPr/>
        </p:nvSpPr>
        <p:spPr>
          <a:xfrm>
            <a:off x="6464808" y="3310128"/>
            <a:ext cx="1874520" cy="365760"/>
          </a:xfrm>
          <a:prstGeom prst="rect">
            <a:avLst/>
          </a:prstGeom>
          <a:noFill/>
          <a:ln/>
        </p:spPr>
        <p:txBody>
          <a:bodyPr wrap="square" rtlCol="0" anchor="t"/>
          <a:lstStyle/>
          <a:p>
            <a:pPr indent="0" marL="0">
              <a:buNone/>
            </a:pPr>
            <a:r>
              <a:rPr lang="en-US" sz="1200" b="1" dirty="0">
                <a:solidFill>
                  <a:srgbClr val="15202B"/>
                </a:solidFill>
                <a:latin typeface="Consolas" pitchFamily="34" charset="0"/>
                <a:ea typeface="Consolas" pitchFamily="34" charset="-122"/>
                <a:cs typeface="Consolas" pitchFamily="34" charset="-120"/>
              </a:rPr>
              <a:t>β_ang = +1.30</a:t>
            </a:r>
            <a:endParaRPr lang="en-US" sz="1200" dirty="0"/>
          </a:p>
        </p:txBody>
      </p:sp>
      <p:sp>
        <p:nvSpPr>
          <p:cNvPr id="27" name="Text 25"/>
          <p:cNvSpPr/>
          <p:nvPr/>
        </p:nvSpPr>
        <p:spPr>
          <a:xfrm>
            <a:off x="8385048" y="3310128"/>
            <a:ext cx="3056839" cy="548640"/>
          </a:xfrm>
          <a:prstGeom prst="rect">
            <a:avLst/>
          </a:prstGeom>
          <a:noFill/>
          <a:ln/>
        </p:spPr>
        <p:txBody>
          <a:bodyPr wrap="square" rtlCol="0" anchor="t"/>
          <a:lstStyle/>
          <a:p>
            <a:pPr indent="0" marL="0">
              <a:lnSpc>
                <a:spcPct val="105000"/>
              </a:lnSpc>
              <a:buNone/>
            </a:pPr>
            <a:r>
              <a:rPr lang="en-US" sz="1150" dirty="0">
                <a:solidFill>
                  <a:srgbClr val="5B5B6B"/>
                </a:solidFill>
                <a:latin typeface="맑은 고딕" pitchFamily="34" charset="0"/>
                <a:ea typeface="맑은 고딕" pitchFamily="34" charset="-122"/>
                <a:cs typeface="맑은 고딕" pitchFamily="34" charset="-120"/>
              </a:rPr>
              <a:t>각도가 벌어질수록 더해주는 양.</a:t>
            </a:r>
            <a:endParaRPr lang="en-US" sz="1150" dirty="0"/>
          </a:p>
        </p:txBody>
      </p:sp>
      <p:sp>
        <p:nvSpPr>
          <p:cNvPr id="28" name="Text 26"/>
          <p:cNvSpPr/>
          <p:nvPr/>
        </p:nvSpPr>
        <p:spPr>
          <a:xfrm>
            <a:off x="6464808" y="3950208"/>
            <a:ext cx="1874520" cy="365760"/>
          </a:xfrm>
          <a:prstGeom prst="rect">
            <a:avLst/>
          </a:prstGeom>
          <a:noFill/>
          <a:ln/>
        </p:spPr>
        <p:txBody>
          <a:bodyPr wrap="square" rtlCol="0" anchor="t"/>
          <a:lstStyle/>
          <a:p>
            <a:pPr indent="0" marL="0">
              <a:buNone/>
            </a:pPr>
            <a:r>
              <a:rPr lang="en-US" sz="1200" b="1" dirty="0">
                <a:solidFill>
                  <a:srgbClr val="15202B"/>
                </a:solidFill>
                <a:latin typeface="Consolas" pitchFamily="34" charset="0"/>
                <a:ea typeface="Consolas" pitchFamily="34" charset="-122"/>
                <a:cs typeface="Consolas" pitchFamily="34" charset="-120"/>
              </a:rPr>
              <a:t>β_skill = +2.0</a:t>
            </a:r>
            <a:endParaRPr lang="en-US" sz="1200" dirty="0"/>
          </a:p>
        </p:txBody>
      </p:sp>
      <p:sp>
        <p:nvSpPr>
          <p:cNvPr id="29" name="Text 27"/>
          <p:cNvSpPr/>
          <p:nvPr/>
        </p:nvSpPr>
        <p:spPr>
          <a:xfrm>
            <a:off x="8385048" y="3950208"/>
            <a:ext cx="3056839" cy="548640"/>
          </a:xfrm>
          <a:prstGeom prst="rect">
            <a:avLst/>
          </a:prstGeom>
          <a:noFill/>
          <a:ln/>
        </p:spPr>
        <p:txBody>
          <a:bodyPr wrap="square" rtlCol="0" anchor="t"/>
          <a:lstStyle/>
          <a:p>
            <a:pPr indent="0" marL="0">
              <a:lnSpc>
                <a:spcPct val="105000"/>
              </a:lnSpc>
              <a:buNone/>
            </a:pPr>
            <a:r>
              <a:rPr lang="en-US" sz="1150" dirty="0">
                <a:solidFill>
                  <a:srgbClr val="5B5B6B"/>
                </a:solidFill>
                <a:latin typeface="맑은 고딕" pitchFamily="34" charset="0"/>
                <a:ea typeface="맑은 고딕" pitchFamily="34" charset="-122"/>
                <a:cs typeface="맑은 고딕" pitchFamily="34" charset="-120"/>
              </a:rPr>
              <a:t>슈터 실력이 반영되는 세기.</a:t>
            </a:r>
            <a:endParaRPr lang="en-US" sz="1150" dirty="0"/>
          </a:p>
        </p:txBody>
      </p:sp>
      <p:sp>
        <p:nvSpPr>
          <p:cNvPr id="30" name="Text 28"/>
          <p:cNvSpPr/>
          <p:nvPr/>
        </p:nvSpPr>
        <p:spPr>
          <a:xfrm>
            <a:off x="6464808" y="4590288"/>
            <a:ext cx="1874520" cy="365760"/>
          </a:xfrm>
          <a:prstGeom prst="rect">
            <a:avLst/>
          </a:prstGeom>
          <a:noFill/>
          <a:ln/>
        </p:spPr>
        <p:txBody>
          <a:bodyPr wrap="square" rtlCol="0" anchor="t"/>
          <a:lstStyle/>
          <a:p>
            <a:pPr indent="0" marL="0">
              <a:buNone/>
            </a:pPr>
            <a:r>
              <a:rPr lang="en-US" sz="1200" b="1" dirty="0">
                <a:solidFill>
                  <a:srgbClr val="15202B"/>
                </a:solidFill>
                <a:latin typeface="Consolas" pitchFamily="34" charset="0"/>
                <a:ea typeface="Consolas" pitchFamily="34" charset="-122"/>
                <a:cs typeface="Consolas" pitchFamily="34" charset="-120"/>
              </a:rPr>
              <a:t>β_block = −2.5</a:t>
            </a:r>
            <a:endParaRPr lang="en-US" sz="1200" dirty="0"/>
          </a:p>
        </p:txBody>
      </p:sp>
      <p:sp>
        <p:nvSpPr>
          <p:cNvPr id="31" name="Text 29"/>
          <p:cNvSpPr/>
          <p:nvPr/>
        </p:nvSpPr>
        <p:spPr>
          <a:xfrm>
            <a:off x="8385048" y="4590288"/>
            <a:ext cx="3056839" cy="548640"/>
          </a:xfrm>
          <a:prstGeom prst="rect">
            <a:avLst/>
          </a:prstGeom>
          <a:noFill/>
          <a:ln/>
        </p:spPr>
        <p:txBody>
          <a:bodyPr wrap="square" rtlCol="0" anchor="t"/>
          <a:lstStyle/>
          <a:p>
            <a:pPr indent="0" marL="0">
              <a:lnSpc>
                <a:spcPct val="105000"/>
              </a:lnSpc>
              <a:buNone/>
            </a:pPr>
            <a:r>
              <a:rPr lang="en-US" sz="1150" dirty="0">
                <a:solidFill>
                  <a:srgbClr val="5B5B6B"/>
                </a:solidFill>
                <a:latin typeface="맑은 고딕" pitchFamily="34" charset="0"/>
                <a:ea typeface="맑은 고딕" pitchFamily="34" charset="-122"/>
                <a:cs typeface="맑은 고딕" pitchFamily="34" charset="-120"/>
              </a:rPr>
              <a:t>수비가 경로에 붙었을 때 깎는 세기.</a:t>
            </a:r>
            <a:endParaRPr lang="en-US" sz="1150" dirty="0"/>
          </a:p>
        </p:txBody>
      </p:sp>
      <p:sp>
        <p:nvSpPr>
          <p:cNvPr id="32" name="Text 30"/>
          <p:cNvSpPr/>
          <p:nvPr/>
        </p:nvSpPr>
        <p:spPr>
          <a:xfrm>
            <a:off x="6464808" y="5230368"/>
            <a:ext cx="1874520" cy="365760"/>
          </a:xfrm>
          <a:prstGeom prst="rect">
            <a:avLst/>
          </a:prstGeom>
          <a:noFill/>
          <a:ln/>
        </p:spPr>
        <p:txBody>
          <a:bodyPr wrap="square" rtlCol="0" anchor="t"/>
          <a:lstStyle/>
          <a:p>
            <a:pPr indent="0" marL="0">
              <a:buNone/>
            </a:pPr>
            <a:r>
              <a:rPr lang="en-US" sz="1200" b="1" dirty="0">
                <a:solidFill>
                  <a:srgbClr val="15202B"/>
                </a:solidFill>
                <a:latin typeface="Consolas" pitchFamily="34" charset="0"/>
                <a:ea typeface="Consolas" pitchFamily="34" charset="-122"/>
                <a:cs typeface="Consolas" pitchFamily="34" charset="-120"/>
              </a:rPr>
              <a:t>R_block = 2.0</a:t>
            </a:r>
            <a:endParaRPr lang="en-US" sz="1200" dirty="0"/>
          </a:p>
        </p:txBody>
      </p:sp>
      <p:sp>
        <p:nvSpPr>
          <p:cNvPr id="33" name="Text 31"/>
          <p:cNvSpPr/>
          <p:nvPr/>
        </p:nvSpPr>
        <p:spPr>
          <a:xfrm>
            <a:off x="8385048" y="5230368"/>
            <a:ext cx="3056839" cy="548640"/>
          </a:xfrm>
          <a:prstGeom prst="rect">
            <a:avLst/>
          </a:prstGeom>
          <a:noFill/>
          <a:ln/>
        </p:spPr>
        <p:txBody>
          <a:bodyPr wrap="square" rtlCol="0" anchor="t"/>
          <a:lstStyle/>
          <a:p>
            <a:pPr indent="0" marL="0">
              <a:lnSpc>
                <a:spcPct val="105000"/>
              </a:lnSpc>
              <a:buNone/>
            </a:pPr>
            <a:r>
              <a:rPr lang="en-US" sz="1150" dirty="0">
                <a:solidFill>
                  <a:srgbClr val="5B5B6B"/>
                </a:solidFill>
                <a:latin typeface="맑은 고딕" pitchFamily="34" charset="0"/>
                <a:ea typeface="맑은 고딕" pitchFamily="34" charset="-122"/>
                <a:cs typeface="맑은 고딕" pitchFamily="34" charset="-120"/>
              </a:rPr>
              <a:t>수비가 "위협"으로 잡히는 반경(m).</a:t>
            </a:r>
            <a:endParaRPr lang="en-US" sz="1150" dirty="0"/>
          </a:p>
        </p:txBody>
      </p:sp>
      <p:sp>
        <p:nvSpPr>
          <p:cNvPr id="35" name="Text 32"/>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36" name="Text 33"/>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MECHANIC 1 / SHOOTING</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슈팅 — 로지스틱 xG</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371600"/>
            <a:ext cx="11057839" cy="1389888"/>
          </a:xfrm>
          <a:prstGeom prst="rect">
            <a:avLst>
              <a:gd name="adj" fmla="val 3947"/>
            </a:avLst>
          </a:prstGeom>
          <a:solidFill>
            <a:srgbClr val="15202B"/>
          </a:solidFill>
          <a:ln/>
        </p:spPr>
      </p:sp>
      <p:sp>
        <p:nvSpPr>
          <p:cNvPr id="7" name="Shape 5"/>
          <p:cNvSpPr/>
          <p:nvPr/>
        </p:nvSpPr>
        <p:spPr>
          <a:xfrm>
            <a:off x="566928" y="1371600"/>
            <a:ext cx="73152" cy="1389888"/>
          </a:xfrm>
          <a:prstGeom prst="rect">
            <a:avLst/>
          </a:prstGeom>
          <a:solidFill>
            <a:srgbClr val="0F6F5C"/>
          </a:solidFill>
          <a:ln/>
        </p:spPr>
      </p:sp>
      <p:sp>
        <p:nvSpPr>
          <p:cNvPr id="8" name="Text 6"/>
          <p:cNvSpPr/>
          <p:nvPr/>
        </p:nvSpPr>
        <p:spPr>
          <a:xfrm>
            <a:off x="768096" y="1444752"/>
            <a:ext cx="10692079" cy="1243584"/>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z = β0 + β_dist·D + β_ang·θ                 // 오픈플레이 코어</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 β_skill·(S_eff − 0.70)               // 슈터 스킬</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 Σ β_block·exp(−d_i / R_block)        // 필드 블로커 (GK 제외)</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P_shot = clamp( σ(z) ,  0.02, 0.97 )</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3063240"/>
          <a:ext cx="11057839" cy="914400"/>
        </p:xfrm>
        <a:graphic>
          <a:graphicData uri="http://schemas.openxmlformats.org/drawingml/2006/table">
            <a:tbl>
              <a:tblPr/>
              <a:tblGrid>
                <a:gridCol w="914400"/>
                <a:gridCol w="1481328"/>
                <a:gridCol w="1481328"/>
                <a:gridCol w="1481328"/>
                <a:gridCol w="1481328"/>
                <a:gridCol w="1481328"/>
                <a:gridCol w="1481328"/>
                <a:gridCol w="1243584"/>
              </a:tblGrid>
              <a:tr h="292608">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계수</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β0</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β_dist</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β_ang</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β_skill</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β_block</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R_block</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페널티</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00" b="1" dirty="0">
                          <a:solidFill>
                            <a:srgbClr val="15202B"/>
                          </a:solidFill>
                          <a:latin typeface="맑은 고딕" pitchFamily="34" charset="0"/>
                          <a:ea typeface="맑은 고딕" pitchFamily="34" charset="-122"/>
                          <a:cs typeface="맑은 고딕" pitchFamily="34" charset="-120"/>
                        </a:rPr>
                        <a:t>값</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−0.03</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−0.20/m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+1.30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+2.0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−2.5</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2.0m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0.76</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0" name="Text 7"/>
          <p:cNvSpPr/>
          <p:nvPr/>
        </p:nvSpPr>
        <p:spPr>
          <a:xfrm>
            <a:off x="566928" y="3977640"/>
            <a:ext cx="5486400" cy="274320"/>
          </a:xfrm>
          <a:prstGeom prst="rect">
            <a:avLst/>
          </a:prstGeom>
          <a:noFill/>
          <a:ln/>
        </p:spPr>
        <p:txBody>
          <a:bodyPr wrap="square" rtlCol="0" anchor="ctr"/>
          <a:lstStyle/>
          <a:p>
            <a:pPr indent="0" marL="0">
              <a:buNone/>
            </a:pPr>
            <a:r>
              <a:rPr lang="en-US" sz="1250" b="1" dirty="0">
                <a:solidFill>
                  <a:srgbClr val="0F6F5C"/>
                </a:solidFill>
                <a:latin typeface="맑은 고딕" pitchFamily="34" charset="0"/>
                <a:ea typeface="맑은 고딕" pitchFamily="34" charset="-122"/>
                <a:cs typeface="맑은 고딕" pitchFamily="34" charset="-120"/>
              </a:rPr>
              <a:t>검증 · 중앙 슛 xG (스킬·블록 중립)</a:t>
            </a:r>
            <a:endParaRPr lang="en-US" sz="12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66928" y="4297680"/>
          <a:ext cx="5486400" cy="914400"/>
        </p:xfrm>
        <a:graphic>
          <a:graphicData uri="http://schemas.openxmlformats.org/drawingml/2006/table">
            <a:tbl>
              <a:tblPr/>
              <a:tblGrid>
                <a:gridCol w="1097280"/>
                <a:gridCol w="877824"/>
                <a:gridCol w="877824"/>
                <a:gridCol w="877824"/>
                <a:gridCol w="877824"/>
                <a:gridCol w="877824"/>
              </a:tblGrid>
              <a:tr h="292608">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D (m)</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6</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11</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13</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16.5</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20</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50" b="1" dirty="0">
                          <a:solidFill>
                            <a:srgbClr val="15202B"/>
                          </a:solidFill>
                          <a:latin typeface="맑은 고딕" pitchFamily="34" charset="0"/>
                          <a:ea typeface="맑은 고딕" pitchFamily="34" charset="-122"/>
                          <a:cs typeface="맑은 고딕" pitchFamily="34" charset="-120"/>
                        </a:rPr>
                        <a:t>xG</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0.55</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0.20</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0.13</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0.06</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0.03</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2" name="Shape 8"/>
          <p:cNvSpPr/>
          <p:nvPr/>
        </p:nvSpPr>
        <p:spPr>
          <a:xfrm>
            <a:off x="6400800" y="3977640"/>
            <a:ext cx="5223967" cy="2011680"/>
          </a:xfrm>
          <a:prstGeom prst="rect">
            <a:avLst>
              <a:gd name="adj" fmla="val 3636"/>
            </a:avLst>
          </a:prstGeom>
          <a:solidFill>
            <a:srgbClr val="EEF3F1"/>
          </a:solidFill>
          <a:ln w="12700">
            <a:solidFill>
              <a:srgbClr val="E1E7E4"/>
            </a:solidFill>
            <a:prstDash val="solid"/>
          </a:ln>
        </p:spPr>
      </p:sp>
      <p:sp>
        <p:nvSpPr>
          <p:cNvPr id="13" name="Text 9"/>
          <p:cNvSpPr/>
          <p:nvPr/>
        </p:nvSpPr>
        <p:spPr>
          <a:xfrm>
            <a:off x="6583680" y="4114800"/>
            <a:ext cx="4858207" cy="1783080"/>
          </a:xfrm>
          <a:prstGeom prst="rect">
            <a:avLst/>
          </a:prstGeom>
          <a:noFill/>
          <a:ln/>
        </p:spPr>
        <p:txBody>
          <a:bodyPr wrap="square" rtlCol="0" anchor="t"/>
          <a:lstStyle/>
          <a:p>
            <a:pPr indent="0" marL="0">
              <a:lnSpc>
                <a:spcPct val="115000"/>
              </a:lnSpc>
              <a:buNone/>
            </a:pPr>
            <a:r>
              <a:rPr lang="en-US" sz="1250" b="1" dirty="0">
                <a:solidFill>
                  <a:srgbClr val="0F6F5C"/>
                </a:solidFill>
                <a:latin typeface="맑은 고딕" pitchFamily="34" charset="0"/>
                <a:ea typeface="맑은 고딕" pitchFamily="34" charset="-122"/>
                <a:cs typeface="맑은 고딕" pitchFamily="34" charset="-120"/>
              </a:rPr>
              <a:t>GK 제외 = 근거화  </a:t>
            </a:r>
            <a:endParaRPr lang="en-US" sz="1250" dirty="0"/>
          </a:p>
          <a:p>
            <a:pPr indent="0" marL="0">
              <a:lnSpc>
                <a:spcPct val="115000"/>
              </a:lnSpc>
              <a:buNone/>
            </a:pPr>
            <a:r>
              <a:rPr lang="en-US" sz="1100" dirty="0">
                <a:solidFill>
                  <a:srgbClr val="15202B"/>
                </a:solidFill>
                <a:latin typeface="맑은 고딕" pitchFamily="34" charset="0"/>
                <a:ea typeface="맑은 고딕" pitchFamily="34" charset="-122"/>
                <a:cs typeface="맑은 고딕" pitchFamily="34" charset="-120"/>
              </a:rPr>
              <a:t>로지스틱 xG는 이미 "평균 키퍼" 모집단에서 학습된 값. 필드 블로커에서 GK를 빼는 것은 꼼수가 아니라 이중계상 방지.</a:t>
            </a:r>
            <a:endParaRPr lang="en-US" sz="1250" dirty="0"/>
          </a:p>
          <a:p>
            <a:pPr indent="0" marL="0">
              <a:lnSpc>
                <a:spcPct val="115000"/>
              </a:lnSpc>
              <a:buNone/>
            </a:pPr>
            <a:r>
              <a:rPr lang="en-US" sz="1250" b="1" dirty="0">
                <a:solidFill>
                  <a:srgbClr val="0F6F5C"/>
                </a:solidFill>
                <a:latin typeface="맑은 고딕" pitchFamily="34" charset="0"/>
                <a:ea typeface="맑은 고딕" pitchFamily="34" charset="-122"/>
                <a:cs typeface="맑은 고딕" pitchFamily="34" charset="-120"/>
              </a:rPr>
              <a:t>SHOT_SCALE 제거  </a:t>
            </a:r>
            <a:endParaRPr lang="en-US" sz="1250" dirty="0"/>
          </a:p>
          <a:p>
            <a:pPr indent="0" marL="0">
              <a:lnSpc>
                <a:spcPct val="115000"/>
              </a:lnSpc>
              <a:buNone/>
            </a:pPr>
            <a:r>
              <a:rPr lang="en-US" sz="1100" dirty="0">
                <a:solidFill>
                  <a:srgbClr val="15202B"/>
                </a:solidFill>
                <a:latin typeface="맑은 고딕" pitchFamily="34" charset="0"/>
                <a:ea typeface="맑은 고딕" pitchFamily="34" charset="-122"/>
                <a:cs typeface="맑은 고딕" pitchFamily="34" charset="-120"/>
              </a:rPr>
              <a:t>β0가 base rate를 직접 정하므로 배율 불필요. 11m 오픈플레이 0.20 vs 페널티 특례 0.76로 구분.</a:t>
            </a:r>
            <a:endParaRPr lang="en-US" sz="1250" dirty="0"/>
          </a:p>
        </p:txBody>
      </p:sp>
      <p:sp>
        <p:nvSpPr>
          <p:cNvPr id="15" name="Text 10"/>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6" name="Text 11"/>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MECHANIC 2 / PASSING</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패스 — 로그오즈 (리시버 지배)</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25880"/>
            <a:ext cx="11057839" cy="320040"/>
          </a:xfrm>
          <a:prstGeom prst="rect">
            <a:avLst/>
          </a:prstGeom>
          <a:noFill/>
          <a:ln/>
        </p:spPr>
        <p:txBody>
          <a:bodyPr wrap="square" rtlCol="0" anchor="ctr"/>
          <a:lstStyle/>
          <a:p>
            <a:pPr indent="0" marL="0">
              <a:buNone/>
            </a:pPr>
            <a:r>
              <a:rPr lang="en-US" sz="1250" b="1" dirty="0">
                <a:solidFill>
                  <a:srgbClr val="B23A48"/>
                </a:solidFill>
                <a:latin typeface="맑은 고딕" pitchFamily="34" charset="0"/>
                <a:ea typeface="맑은 고딕" pitchFamily="34" charset="-122"/>
                <a:cs typeface="맑은 고딕" pitchFamily="34" charset="-120"/>
              </a:rPr>
              <a:t>리서치 최대 교훈: 완성률을 지배하는 건 패스 거리가 아니라 리시버(도착점) 근처 수비수 기하.</a:t>
            </a:r>
            <a:endParaRPr lang="en-US" sz="1250" dirty="0"/>
          </a:p>
        </p:txBody>
      </p:sp>
      <p:sp>
        <p:nvSpPr>
          <p:cNvPr id="7" name="Shape 5"/>
          <p:cNvSpPr/>
          <p:nvPr/>
        </p:nvSpPr>
        <p:spPr>
          <a:xfrm>
            <a:off x="566928" y="1737360"/>
            <a:ext cx="11057839" cy="1389888"/>
          </a:xfrm>
          <a:prstGeom prst="rect">
            <a:avLst>
              <a:gd name="adj" fmla="val 3947"/>
            </a:avLst>
          </a:prstGeom>
          <a:solidFill>
            <a:srgbClr val="15202B"/>
          </a:solidFill>
          <a:ln/>
        </p:spPr>
      </p:sp>
      <p:sp>
        <p:nvSpPr>
          <p:cNvPr id="8" name="Shape 6"/>
          <p:cNvSpPr/>
          <p:nvPr/>
        </p:nvSpPr>
        <p:spPr>
          <a:xfrm>
            <a:off x="566928" y="1737360"/>
            <a:ext cx="73152" cy="1389888"/>
          </a:xfrm>
          <a:prstGeom prst="rect">
            <a:avLst/>
          </a:prstGeom>
          <a:solidFill>
            <a:srgbClr val="0F6F5C"/>
          </a:solidFill>
          <a:ln/>
        </p:spPr>
      </p:sp>
      <p:sp>
        <p:nvSpPr>
          <p:cNvPr id="9" name="Text 7"/>
          <p:cNvSpPr/>
          <p:nvPr/>
        </p:nvSpPr>
        <p:spPr>
          <a:xfrm>
            <a:off x="768096" y="1810512"/>
            <a:ext cx="10692079" cy="1243584"/>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z = Z0 + β_len·L + β_pass·(S_pass − 0.70)</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 β_recv·exp(−d_recv / R_recv)        // 리시버 근접 수비 (지배)</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 Σ β_lane·exp(−d_j / R_lane)         // 경로상 수비 (보조)</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P_pass = clamp( σ(z) )</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3429000"/>
          <a:ext cx="11057839" cy="914400"/>
        </p:xfrm>
        <a:graphic>
          <a:graphicData uri="http://schemas.openxmlformats.org/drawingml/2006/table">
            <a:tbl>
              <a:tblPr/>
              <a:tblGrid>
                <a:gridCol w="914400"/>
                <a:gridCol w="1481328"/>
                <a:gridCol w="1481328"/>
                <a:gridCol w="1481328"/>
                <a:gridCol w="1481328"/>
                <a:gridCol w="1481328"/>
                <a:gridCol w="1481328"/>
                <a:gridCol w="1243584"/>
              </a:tblGrid>
              <a:tr h="29260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계수</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Z0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β_len</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β_pass</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β_recv</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R_recv</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β_lane</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R_lane</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050" b="1" dirty="0">
                          <a:solidFill>
                            <a:srgbClr val="15202B"/>
                          </a:solidFill>
                          <a:latin typeface="맑은 고딕" pitchFamily="34" charset="0"/>
                          <a:ea typeface="맑은 고딕" pitchFamily="34" charset="-122"/>
                          <a:cs typeface="맑은 고딕" pitchFamily="34" charset="-120"/>
                        </a:rPr>
                        <a:t>값</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+2.933</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−0.0917/m</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+1.5</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−2.0</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4.0m</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−1.0</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5202B"/>
                          </a:solidFill>
                          <a:latin typeface="맑은 고딕" pitchFamily="34" charset="0"/>
                          <a:ea typeface="맑은 고딕" pitchFamily="34" charset="-122"/>
                          <a:cs typeface="맑은 고딕" pitchFamily="34" charset="-120"/>
                        </a:rPr>
                        <a:t>3.0m</a:t>
                      </a:r>
                      <a:endParaRPr lang="en-US" sz="10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1" name="Text 8"/>
          <p:cNvSpPr/>
          <p:nvPr/>
        </p:nvSpPr>
        <p:spPr>
          <a:xfrm>
            <a:off x="566928" y="4343400"/>
            <a:ext cx="2743200" cy="274320"/>
          </a:xfrm>
          <a:prstGeom prst="rect">
            <a:avLst/>
          </a:prstGeom>
          <a:noFill/>
          <a:ln/>
        </p:spPr>
        <p:txBody>
          <a:bodyPr wrap="square" rtlCol="0" anchor="ctr"/>
          <a:lstStyle/>
          <a:p>
            <a:pPr indent="0" marL="0">
              <a:buNone/>
            </a:pPr>
            <a:r>
              <a:rPr lang="en-US" sz="1250" b="1" dirty="0">
                <a:solidFill>
                  <a:srgbClr val="0F6F5C"/>
                </a:solidFill>
                <a:latin typeface="맑은 고딕" pitchFamily="34" charset="0"/>
                <a:ea typeface="맑은 고딕" pitchFamily="34" charset="-122"/>
                <a:cs typeface="맑은 고딕" pitchFamily="34" charset="-120"/>
              </a:rPr>
              <a:t>검증</a:t>
            </a:r>
            <a:endParaRPr lang="en-US" sz="12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66928" y="4663440"/>
          <a:ext cx="6675120" cy="914400"/>
        </p:xfrm>
        <a:graphic>
          <a:graphicData uri="http://schemas.openxmlformats.org/drawingml/2006/table">
            <a:tbl>
              <a:tblPr/>
              <a:tblGrid>
                <a:gridCol w="2286000"/>
                <a:gridCol w="2377440"/>
                <a:gridCol w="2011680"/>
              </a:tblGrid>
              <a:tr h="292608">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상황</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값</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P_pass</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무압박 · 스킬중립</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L=8 / 20 / 30 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0.90 / 0.75 / 0.55</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L=20m · 리시버압박</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d_recv=0.5 / 2 / 8 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0.34 / 0.47 / 0.70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bl>
          </a:graphicData>
        </a:graphic>
      </p:graphicFrame>
      <p:sp>
        <p:nvSpPr>
          <p:cNvPr id="13" name="Shape 9"/>
          <p:cNvSpPr/>
          <p:nvPr/>
        </p:nvSpPr>
        <p:spPr>
          <a:xfrm>
            <a:off x="7452360" y="4343400"/>
            <a:ext cx="4172407" cy="1600200"/>
          </a:xfrm>
          <a:prstGeom prst="rect">
            <a:avLst>
              <a:gd name="adj" fmla="val 4571"/>
            </a:avLst>
          </a:prstGeom>
          <a:solidFill>
            <a:srgbClr val="F6E9EA"/>
          </a:solidFill>
          <a:ln w="12700">
            <a:solidFill>
              <a:srgbClr val="B23A48"/>
            </a:solidFill>
            <a:prstDash val="solid"/>
          </a:ln>
        </p:spPr>
      </p:sp>
      <p:sp>
        <p:nvSpPr>
          <p:cNvPr id="14" name="Text 10"/>
          <p:cNvSpPr/>
          <p:nvPr/>
        </p:nvSpPr>
        <p:spPr>
          <a:xfrm>
            <a:off x="7607808" y="4434840"/>
            <a:ext cx="3898087" cy="1417320"/>
          </a:xfrm>
          <a:prstGeom prst="rect">
            <a:avLst/>
          </a:prstGeom>
          <a:noFill/>
          <a:ln/>
        </p:spPr>
        <p:txBody>
          <a:bodyPr wrap="square" rtlCol="0" anchor="t"/>
          <a:lstStyle/>
          <a:p>
            <a:pPr indent="0" marL="0">
              <a:lnSpc>
                <a:spcPct val="112000"/>
              </a:lnSpc>
              <a:buNone/>
            </a:pPr>
            <a:r>
              <a:rPr lang="en-US" sz="1200" b="1" dirty="0">
                <a:solidFill>
                  <a:srgbClr val="B23A48"/>
                </a:solidFill>
                <a:latin typeface="맑은 고딕" pitchFamily="34" charset="0"/>
                <a:ea typeface="맑은 고딕" pitchFamily="34" charset="-122"/>
                <a:cs typeface="맑은 고딕" pitchFamily="34" charset="-120"/>
              </a:rPr>
              <a:t>곡선 패스 (v1 ③ 재정의)  </a:t>
            </a:r>
            <a:endParaRPr lang="en-US" sz="1200" dirty="0"/>
          </a:p>
          <a:p>
            <a:pPr indent="0" marL="0">
              <a:lnSpc>
                <a:spcPct val="112000"/>
              </a:lnSpc>
              <a:buNone/>
            </a:pPr>
            <a:r>
              <a:rPr lang="en-US" sz="1050" dirty="0">
                <a:solidFill>
                  <a:srgbClr val="15202B"/>
                </a:solidFill>
                <a:latin typeface="맑은 고딕" pitchFamily="34" charset="0"/>
                <a:ea typeface="맑은 고딕" pitchFamily="34" charset="-122"/>
                <a:cs typeface="맑은 고딕" pitchFamily="34" charset="-120"/>
              </a:rPr>
              <a:t>곡선은 호 길이 L↑로 β_len 페널티가 자연히 붙음. "곡선=수비면제+κ"는 technique 스탯 확정까지 보류. 확정 시 κ=exp(−λ·S_tech) 항 부활.</a:t>
            </a:r>
            <a:endParaRPr lang="en-US" sz="1200" dirty="0"/>
          </a:p>
        </p:txBody>
      </p:sp>
      <p:sp>
        <p:nvSpPr>
          <p:cNvPr id="16" name="Text 11"/>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7" name="Text 12"/>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MECHANIC 3 / DRIBBLE</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드리블 — 1v1 (기하 지배)</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25880"/>
            <a:ext cx="11057839" cy="457200"/>
          </a:xfrm>
          <a:prstGeom prst="rect">
            <a:avLst/>
          </a:prstGeom>
          <a:noFill/>
          <a:ln/>
        </p:spPr>
        <p:txBody>
          <a:bodyPr wrap="square" rtlCol="0" anchor="ctr"/>
          <a:lstStyle/>
          <a:p>
            <a:pPr indent="0" marL="0">
              <a:lnSpc>
                <a:spcPct val="110000"/>
              </a:lnSpc>
              <a:buNone/>
            </a:pPr>
            <a:r>
              <a:rPr lang="en-US" sz="1200" dirty="0">
                <a:solidFill>
                  <a:srgbClr val="5B5B6B"/>
                </a:solidFill>
                <a:latin typeface="맑은 고딕" pitchFamily="34" charset="0"/>
                <a:ea typeface="맑은 고딕" pitchFamily="34" charset="-122"/>
                <a:cs typeface="맑은 고딕" pitchFamily="34" charset="-120"/>
              </a:rPr>
              <a:t>리서치: 1v1은 예측력 낮고(AUC≈0.69) 공격수-수비수 간격·압박이 개별 능력치보다 결과를 좌우 → 노이즈 크게, 능력치는 modifier.</a:t>
            </a:r>
            <a:endParaRPr lang="en-US" sz="1200" dirty="0"/>
          </a:p>
        </p:txBody>
      </p:sp>
      <p:sp>
        <p:nvSpPr>
          <p:cNvPr id="7" name="Shape 5"/>
          <p:cNvSpPr/>
          <p:nvPr/>
        </p:nvSpPr>
        <p:spPr>
          <a:xfrm>
            <a:off x="566928" y="1874520"/>
            <a:ext cx="11057839" cy="1389888"/>
          </a:xfrm>
          <a:prstGeom prst="rect">
            <a:avLst>
              <a:gd name="adj" fmla="val 3947"/>
            </a:avLst>
          </a:prstGeom>
          <a:solidFill>
            <a:srgbClr val="15202B"/>
          </a:solidFill>
          <a:ln/>
        </p:spPr>
      </p:sp>
      <p:sp>
        <p:nvSpPr>
          <p:cNvPr id="8" name="Shape 6"/>
          <p:cNvSpPr/>
          <p:nvPr/>
        </p:nvSpPr>
        <p:spPr>
          <a:xfrm>
            <a:off x="566928" y="1874520"/>
            <a:ext cx="73152" cy="1389888"/>
          </a:xfrm>
          <a:prstGeom prst="rect">
            <a:avLst/>
          </a:prstGeom>
          <a:solidFill>
            <a:srgbClr val="0F6F5C"/>
          </a:solidFill>
          <a:ln/>
        </p:spPr>
      </p:sp>
      <p:sp>
        <p:nvSpPr>
          <p:cNvPr id="9" name="Text 7"/>
          <p:cNvSpPr/>
          <p:nvPr/>
        </p:nvSpPr>
        <p:spPr>
          <a:xfrm>
            <a:off x="768096" y="1947672"/>
            <a:ext cx="10692079" cy="1243584"/>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z = Z0d + β_drib·(S_drib − 0.70) + β_lenD·L</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 β_def·exp(−d_def / R_def)         // 대면 수비 간격 (지배)</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P_dribble = clamp( σ(z)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S_drib = norm((pace + composure)/2)         // dribbling 스탯 생기면 교체</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3611880"/>
          <a:ext cx="11057839" cy="914400"/>
        </p:xfrm>
        <a:graphic>
          <a:graphicData uri="http://schemas.openxmlformats.org/drawingml/2006/table">
            <a:tbl>
              <a:tblPr/>
              <a:tblGrid>
                <a:gridCol w="1097280"/>
                <a:gridCol w="1993392"/>
                <a:gridCol w="1993392"/>
                <a:gridCol w="1993392"/>
                <a:gridCol w="1993392"/>
                <a:gridCol w="1984248"/>
              </a:tblGrid>
              <a:tr h="292608">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계수</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Z0d</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β_drib</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β_lenD</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β_def</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R_def</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50" b="1" dirty="0">
                          <a:solidFill>
                            <a:srgbClr val="15202B"/>
                          </a:solidFill>
                          <a:latin typeface="맑은 고딕" pitchFamily="34" charset="0"/>
                          <a:ea typeface="맑은 고딕" pitchFamily="34" charset="-122"/>
                          <a:cs typeface="맑은 고딕" pitchFamily="34" charset="-120"/>
                        </a:rPr>
                        <a:t>값</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+2.2</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+1.2 (약함)</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−0.06/m</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−2.2</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3.0m</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1" name="Text 8"/>
          <p:cNvSpPr/>
          <p:nvPr/>
        </p:nvSpPr>
        <p:spPr>
          <a:xfrm>
            <a:off x="566928" y="4526280"/>
            <a:ext cx="7315200" cy="274320"/>
          </a:xfrm>
          <a:prstGeom prst="rect">
            <a:avLst/>
          </a:prstGeom>
          <a:noFill/>
          <a:ln/>
        </p:spPr>
        <p:txBody>
          <a:bodyPr wrap="square" rtlCol="0" anchor="ctr"/>
          <a:lstStyle/>
          <a:p>
            <a:pPr indent="0" marL="0">
              <a:buNone/>
            </a:pPr>
            <a:r>
              <a:rPr lang="en-US" sz="1250" b="1" dirty="0">
                <a:solidFill>
                  <a:srgbClr val="0F6F5C"/>
                </a:solidFill>
                <a:latin typeface="맑은 고딕" pitchFamily="34" charset="0"/>
                <a:ea typeface="맑은 고딕" pitchFamily="34" charset="-122"/>
                <a:cs typeface="맑은 고딕" pitchFamily="34" charset="-120"/>
              </a:rPr>
              <a:t>검증 · 수비 1명 간격별 (L=6m, 중립 스킬)</a:t>
            </a:r>
            <a:endParaRPr lang="en-US" sz="12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66928" y="4846320"/>
          <a:ext cx="7498080" cy="914400"/>
        </p:xfrm>
        <a:graphic>
          <a:graphicData uri="http://schemas.openxmlformats.org/drawingml/2006/table">
            <a:tbl>
              <a:tblPr/>
              <a:tblGrid>
                <a:gridCol w="2011680"/>
                <a:gridCol w="1097280"/>
                <a:gridCol w="1097280"/>
                <a:gridCol w="1097280"/>
                <a:gridCol w="1097280"/>
                <a:gridCol w="1097280"/>
              </a:tblGrid>
              <a:tr h="292608">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간격 d_def (m)</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0.5</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50" b="1" dirty="0">
                          <a:solidFill>
                            <a:srgbClr val="15202B"/>
                          </a:solidFill>
                          <a:latin typeface="맑은 고딕" pitchFamily="34" charset="0"/>
                          <a:ea typeface="맑은 고딕" pitchFamily="34" charset="-122"/>
                          <a:cs typeface="맑은 고딕" pitchFamily="34" charset="-120"/>
                        </a:rPr>
                        <a:t>P_dribble</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0.49</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0.57</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0.67</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0.74</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5202B"/>
                          </a:solidFill>
                          <a:latin typeface="맑은 고딕" pitchFamily="34" charset="0"/>
                          <a:ea typeface="맑은 고딕" pitchFamily="34" charset="-122"/>
                          <a:cs typeface="맑은 고딕" pitchFamily="34" charset="-120"/>
                        </a:rPr>
                        <a:t>0.81</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3" name="Shape 9"/>
          <p:cNvSpPr/>
          <p:nvPr/>
        </p:nvSpPr>
        <p:spPr>
          <a:xfrm>
            <a:off x="8275320" y="4526280"/>
            <a:ext cx="3349447" cy="1417320"/>
          </a:xfrm>
          <a:prstGeom prst="rect">
            <a:avLst>
              <a:gd name="adj" fmla="val 5161"/>
            </a:avLst>
          </a:prstGeom>
          <a:solidFill>
            <a:srgbClr val="EEF3F1"/>
          </a:solidFill>
          <a:ln/>
        </p:spPr>
      </p:sp>
      <p:sp>
        <p:nvSpPr>
          <p:cNvPr id="14" name="Text 10"/>
          <p:cNvSpPr/>
          <p:nvPr/>
        </p:nvSpPr>
        <p:spPr>
          <a:xfrm>
            <a:off x="8430768" y="4709160"/>
            <a:ext cx="3029407" cy="1097280"/>
          </a:xfrm>
          <a:prstGeom prst="rect">
            <a:avLst/>
          </a:prstGeom>
          <a:noFill/>
          <a:ln/>
        </p:spPr>
        <p:txBody>
          <a:bodyPr wrap="square" rtlCol="0" anchor="t"/>
          <a:lstStyle/>
          <a:p>
            <a:pPr indent="0" marL="0">
              <a:lnSpc>
                <a:spcPct val="115000"/>
              </a:lnSpc>
              <a:buNone/>
            </a:pPr>
            <a:r>
              <a:rPr lang="en-US" sz="1500" b="1" dirty="0">
                <a:solidFill>
                  <a:srgbClr val="0F6F5C"/>
                </a:solidFill>
                <a:latin typeface="맑은 고딕" pitchFamily="34" charset="0"/>
                <a:ea typeface="맑은 고딕" pitchFamily="34" charset="-122"/>
                <a:cs typeface="맑은 고딕" pitchFamily="34" charset="-120"/>
              </a:rPr>
              <a:t>근접 1v1 ≈ 0.5</a:t>
            </a:r>
            <a:endParaRPr lang="en-US" sz="1500" dirty="0"/>
          </a:p>
          <a:p>
            <a:pPr indent="0" marL="0">
              <a:lnSpc>
                <a:spcPct val="115000"/>
              </a:lnSpc>
              <a:buNone/>
            </a:pPr>
            <a:r>
              <a:rPr lang="en-US" sz="1050" dirty="0">
                <a:solidFill>
                  <a:srgbClr val="15202B"/>
                </a:solidFill>
                <a:latin typeface="맑은 고딕" pitchFamily="34" charset="0"/>
                <a:ea typeface="맑은 고딕" pitchFamily="34" charset="-122"/>
                <a:cs typeface="맑은 고딕" pitchFamily="34" charset="-120"/>
              </a:rPr>
              <a:t>리서치 base rate(~50%)와 일치. 능력치 가중 β_drib는 의도적으로 약하게.</a:t>
            </a:r>
            <a:endParaRPr lang="en-US" sz="1500" dirty="0"/>
          </a:p>
        </p:txBody>
      </p:sp>
      <p:sp>
        <p:nvSpPr>
          <p:cNvPr id="16" name="Text 11"/>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7" name="Text 12"/>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SHARED</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수비 압박 — 연속 소프트 프레셔</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71600"/>
            <a:ext cx="11057839" cy="457200"/>
          </a:xfrm>
          <a:prstGeom prst="rect">
            <a:avLst/>
          </a:prstGeom>
          <a:noFill/>
          <a:ln/>
        </p:spPr>
        <p:txBody>
          <a:bodyPr wrap="square" rtlCol="0" anchor="ctr"/>
          <a:lstStyle/>
          <a:p>
            <a:pPr indent="0" marL="0">
              <a:buNone/>
            </a:pPr>
            <a:r>
              <a:rPr lang="en-US" sz="1250" dirty="0">
                <a:solidFill>
                  <a:srgbClr val="5B5B6B"/>
                </a:solidFill>
                <a:latin typeface="맑은 고딕" pitchFamily="34" charset="0"/>
                <a:ea typeface="맑은 고딕" pitchFamily="34" charset="-122"/>
                <a:cs typeface="맑은 고딕" pitchFamily="34" charset="-120"/>
              </a:rPr>
              <a:t>v1의 오라 이진판정 폐기. 모든 액션이 공통으로 쓰는 연속 감쇠로 통일 (2D-가우시안 소프트 프레셔의 1D 근사).</a:t>
            </a:r>
            <a:endParaRPr lang="en-US" sz="1250" dirty="0"/>
          </a:p>
        </p:txBody>
      </p:sp>
      <p:sp>
        <p:nvSpPr>
          <p:cNvPr id="7" name="Shape 5"/>
          <p:cNvSpPr/>
          <p:nvPr/>
        </p:nvSpPr>
        <p:spPr>
          <a:xfrm>
            <a:off x="566928" y="1920240"/>
            <a:ext cx="11057839" cy="804672"/>
          </a:xfrm>
          <a:prstGeom prst="rect">
            <a:avLst>
              <a:gd name="adj" fmla="val 6818"/>
            </a:avLst>
          </a:prstGeom>
          <a:solidFill>
            <a:srgbClr val="15202B"/>
          </a:solidFill>
          <a:ln/>
        </p:spPr>
      </p:sp>
      <p:sp>
        <p:nvSpPr>
          <p:cNvPr id="8" name="Shape 6"/>
          <p:cNvSpPr/>
          <p:nvPr/>
        </p:nvSpPr>
        <p:spPr>
          <a:xfrm>
            <a:off x="566928" y="1920240"/>
            <a:ext cx="73152" cy="804672"/>
          </a:xfrm>
          <a:prstGeom prst="rect">
            <a:avLst/>
          </a:prstGeom>
          <a:solidFill>
            <a:srgbClr val="0F6F5C"/>
          </a:solidFill>
          <a:ln/>
        </p:spPr>
      </p:sp>
      <p:sp>
        <p:nvSpPr>
          <p:cNvPr id="9" name="Text 7"/>
          <p:cNvSpPr/>
          <p:nvPr/>
        </p:nvSpPr>
        <p:spPr>
          <a:xfrm>
            <a:off x="768096" y="1993392"/>
            <a:ext cx="10692079" cy="658368"/>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pressure(d, R) = exp(−d / R)         // d: 최근접 수비 거리 → [0,1]</a:t>
            </a:r>
            <a:endParaRPr lang="en-US" sz="1250" dirty="0"/>
          </a:p>
          <a:p>
            <a:pPr algn="l" indent="0" marL="0">
              <a:lnSpc>
                <a:spcPct val="115000"/>
              </a:lnSpc>
              <a:buNone/>
            </a:pPr>
            <a:r>
              <a:rPr lang="en-US" sz="1250" dirty="0">
                <a:solidFill>
                  <a:srgbClr val="8A94A6"/>
                </a:solidFill>
                <a:latin typeface="Consolas" pitchFamily="34" charset="0"/>
                <a:ea typeface="Consolas" pitchFamily="34" charset="-122"/>
                <a:cs typeface="Consolas" pitchFamily="34" charset="-120"/>
              </a:rPr>
              <a:t>// 로그오즈에 β(&lt;0)·pressure 로 가산 → 항상 감점 방향 (v1 방향버그 해소)</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3108960"/>
          <a:ext cx="11057839" cy="914400"/>
        </p:xfrm>
        <a:graphic>
          <a:graphicData uri="http://schemas.openxmlformats.org/drawingml/2006/table">
            <a:tbl>
              <a:tblPr/>
              <a:tblGrid>
                <a:gridCol w="3291840"/>
                <a:gridCol w="1645920"/>
                <a:gridCol w="1481328"/>
                <a:gridCol w="1481328"/>
                <a:gridCol w="1481328"/>
                <a:gridCol w="1490472"/>
              </a:tblGrid>
              <a:tr h="292608">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액션</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반경 R</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d=0</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d=1</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d=2</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d=4</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슛 블록 (R=2.0)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2.0m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×0.08</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×0.22</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×0.40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×0.71</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패스 리시버 (R=4.0)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4.0m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지배 레버</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드리블/경로 (R=3.0)</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3.0m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1" name="Shape 8"/>
          <p:cNvSpPr/>
          <p:nvPr/>
        </p:nvSpPr>
        <p:spPr>
          <a:xfrm>
            <a:off x="566928" y="5029200"/>
            <a:ext cx="11057839" cy="914400"/>
          </a:xfrm>
          <a:prstGeom prst="rect">
            <a:avLst>
              <a:gd name="adj" fmla="val 8000"/>
            </a:avLst>
          </a:prstGeom>
          <a:solidFill>
            <a:srgbClr val="EEF3F1"/>
          </a:solidFill>
          <a:ln/>
        </p:spPr>
      </p:sp>
      <p:sp>
        <p:nvSpPr>
          <p:cNvPr id="12" name="Text 9"/>
          <p:cNvSpPr/>
          <p:nvPr/>
        </p:nvSpPr>
        <p:spPr>
          <a:xfrm>
            <a:off x="749808" y="5102352"/>
            <a:ext cx="10692079" cy="777240"/>
          </a:xfrm>
          <a:prstGeom prst="rect">
            <a:avLst/>
          </a:prstGeom>
          <a:noFill/>
          <a:ln/>
        </p:spPr>
        <p:txBody>
          <a:bodyPr wrap="square" rtlCol="0" anchor="ctr"/>
          <a:lstStyle/>
          <a:p>
            <a:pPr indent="0" marL="0">
              <a:lnSpc>
                <a:spcPct val="110000"/>
              </a:lnSpc>
              <a:buNone/>
            </a:pPr>
            <a:r>
              <a:rPr lang="en-US" sz="1250" b="1" dirty="0">
                <a:solidFill>
                  <a:srgbClr val="0F6F5C"/>
                </a:solidFill>
                <a:latin typeface="맑은 고딕" pitchFamily="34" charset="0"/>
                <a:ea typeface="맑은 고딕" pitchFamily="34" charset="-122"/>
                <a:cs typeface="맑은 고딕" pitchFamily="34" charset="-120"/>
              </a:rPr>
              <a:t>tackle 스탯 반영 (데이터 대기)  </a:t>
            </a:r>
            <a:endParaRPr lang="en-US" sz="1250" dirty="0"/>
          </a:p>
          <a:p>
            <a:pPr indent="0" marL="0">
              <a:lnSpc>
                <a:spcPct val="110000"/>
              </a:lnSpc>
              <a:buNone/>
            </a:pPr>
            <a:r>
              <a:rPr lang="en-US" sz="1150" dirty="0">
                <a:solidFill>
                  <a:srgbClr val="15202B"/>
                </a:solidFill>
                <a:latin typeface="맑은 고딕" pitchFamily="34" charset="0"/>
                <a:ea typeface="맑은 고딕" pitchFamily="34" charset="-122"/>
                <a:cs typeface="맑은 고딕" pitchFamily="34" charset="-120"/>
              </a:rPr>
              <a:t>전용 tackle 스탯 확정 시 β_* → β_*·norm(tackle) 로 스케일 (강한 수비수일수록 페널티 ↑). 현재는 전원 동일(decisions 대체).</a:t>
            </a:r>
            <a:endParaRPr lang="en-US" sz="1250" dirty="0"/>
          </a:p>
        </p:txBody>
      </p:sp>
      <p:sp>
        <p:nvSpPr>
          <p:cNvPr id="14" name="Text 10"/>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5" name="Text 11"/>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MECHANIC 4 / SEQUENCE</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시퀀스 — 판정 ∏ vs 보상 xT</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25880"/>
            <a:ext cx="11057839" cy="365760"/>
          </a:xfrm>
          <a:prstGeom prst="rect">
            <a:avLst/>
          </a:prstGeom>
          <a:noFill/>
          <a:ln/>
        </p:spPr>
        <p:txBody>
          <a:bodyPr wrap="square" rtlCol="0" anchor="ctr"/>
          <a:lstStyle/>
          <a:p>
            <a:pPr indent="0" marL="0">
              <a:buNone/>
            </a:pPr>
            <a:r>
              <a:rPr lang="en-US" sz="1250" dirty="0">
                <a:solidFill>
                  <a:srgbClr val="5B5B6B"/>
                </a:solidFill>
                <a:latin typeface="맑은 고딕" pitchFamily="34" charset="0"/>
                <a:ea typeface="맑은 고딕" pitchFamily="34" charset="-122"/>
                <a:cs typeface="맑은 고딕" pitchFamily="34" charset="-120"/>
              </a:rPr>
              <a:t>문헌은 순수 곱 ∏P를 명시적 기각. 그러나 이는 "판정"이 아니라 "가치평가" 층위 → 두 관심사를 분리.</a:t>
            </a:r>
            <a:endParaRPr lang="en-US" sz="1250" dirty="0"/>
          </a:p>
        </p:txBody>
      </p:sp>
      <p:sp>
        <p:nvSpPr>
          <p:cNvPr id="7" name="Shape 5"/>
          <p:cNvSpPr/>
          <p:nvPr/>
        </p:nvSpPr>
        <p:spPr>
          <a:xfrm>
            <a:off x="566928" y="1783080"/>
            <a:ext cx="5349240" cy="2926080"/>
          </a:xfrm>
          <a:prstGeom prst="rect">
            <a:avLst>
              <a:gd name="adj" fmla="val 2500"/>
            </a:avLst>
          </a:prstGeom>
          <a:solidFill>
            <a:srgbClr val="F4F7F6"/>
          </a:solidFill>
          <a:ln w="12700">
            <a:solidFill>
              <a:srgbClr val="E1E7E4"/>
            </a:solidFill>
            <a:prstDash val="solid"/>
          </a:ln>
        </p:spPr>
      </p:sp>
      <p:sp>
        <p:nvSpPr>
          <p:cNvPr id="8" name="Shape 6"/>
          <p:cNvSpPr/>
          <p:nvPr/>
        </p:nvSpPr>
        <p:spPr>
          <a:xfrm>
            <a:off x="566928" y="1783080"/>
            <a:ext cx="5349240" cy="548640"/>
          </a:xfrm>
          <a:prstGeom prst="rect">
            <a:avLst>
              <a:gd name="adj" fmla="val 13333"/>
            </a:avLst>
          </a:prstGeom>
          <a:solidFill>
            <a:srgbClr val="15202B"/>
          </a:solidFill>
          <a:ln/>
        </p:spPr>
      </p:sp>
      <p:sp>
        <p:nvSpPr>
          <p:cNvPr id="9" name="Text 7"/>
          <p:cNvSpPr/>
          <p:nvPr/>
        </p:nvSpPr>
        <p:spPr>
          <a:xfrm>
            <a:off x="749808" y="1783080"/>
            <a:ext cx="5029200" cy="5486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 판정 층 — 유지</a:t>
            </a:r>
            <a:endParaRPr lang="en-US" sz="1500" dirty="0"/>
          </a:p>
        </p:txBody>
      </p:sp>
      <p:sp>
        <p:nvSpPr>
          <p:cNvPr id="10" name="Text 8"/>
          <p:cNvSpPr/>
          <p:nvPr/>
        </p:nvSpPr>
        <p:spPr>
          <a:xfrm>
            <a:off x="795528" y="2468880"/>
            <a:ext cx="4937760" cy="2103120"/>
          </a:xfrm>
          <a:prstGeom prst="rect">
            <a:avLst/>
          </a:prstGeom>
          <a:noFill/>
          <a:ln/>
        </p:spPr>
        <p:txBody>
          <a:bodyPr wrap="square" rtlCol="0" anchor="t"/>
          <a:lstStyle/>
          <a:p>
            <a:pPr indent="0" marL="0">
              <a:lnSpc>
                <a:spcPct val="120000"/>
              </a:lnSpc>
              <a:buNone/>
            </a:pPr>
            <a:r>
              <a:rPr lang="en-US" sz="1200" dirty="0">
                <a:solidFill>
                  <a:srgbClr val="15202B"/>
                </a:solidFill>
                <a:latin typeface="맑은 고딕" pitchFamily="34" charset="0"/>
                <a:ea typeface="맑은 고딕" pitchFamily="34" charset="-122"/>
                <a:cs typeface="맑은 고딕" pitchFamily="34" charset="-120"/>
              </a:rPr>
              <a:t>각 액션을 순서대로 clamp(P_k)로 굴리고 첫 실패에서 중단.</a:t>
            </a:r>
            <a:endParaRPr lang="en-US" sz="1200" dirty="0"/>
          </a:p>
          <a:p>
            <a:pPr indent="0" marL="0">
              <a:lnSpc>
                <a:spcPct val="120000"/>
              </a:lnSpc>
              <a:buNone/>
            </a:pPr>
            <a:r>
              <a:rPr lang="en-US" sz="1100" dirty="0">
                <a:solidFill>
                  <a:srgbClr val="5B5B6B"/>
                </a:solidFill>
                <a:latin typeface="맑은 고딕" pitchFamily="34" charset="0"/>
                <a:ea typeface="맑은 고딕" pitchFamily="34" charset="-122"/>
                <a:cs typeface="맑은 고딕" pitchFamily="34" charset="-120"/>
              </a:rPr>
              <a:t>= 물리적으로 정직한 ∏(생존확률).</a:t>
            </a:r>
            <a:endParaRPr lang="en-US" sz="1200" dirty="0"/>
          </a:p>
          <a:p>
            <a:pPr indent="0" marL="0">
              <a:lnSpc>
                <a:spcPct val="120000"/>
              </a:lnSpc>
              <a:buNone/>
            </a:pPr>
            <a:endParaRPr lang="en-US" sz="1200" dirty="0"/>
          </a:p>
          <a:p>
            <a:pPr indent="0" marL="0">
              <a:lnSpc>
                <a:spcPct val="120000"/>
              </a:lnSpc>
              <a:buNone/>
            </a:pPr>
            <a:r>
              <a:rPr lang="en-US" sz="1250" b="1" dirty="0">
                <a:solidFill>
                  <a:srgbClr val="0F6F5C"/>
                </a:solidFill>
                <a:latin typeface="맑은 고딕" pitchFamily="34" charset="0"/>
                <a:ea typeface="맑은 고딕" pitchFamily="34" charset="-122"/>
                <a:cs typeface="맑은 고딕" pitchFamily="34" charset="-120"/>
              </a:rPr>
              <a:t>+ 수비 붕괴 계수로 조건부 보정</a:t>
            </a:r>
            <a:endParaRPr lang="en-US" sz="1200" dirty="0"/>
          </a:p>
          <a:p>
            <a:pPr indent="0" marL="0">
              <a:lnSpc>
                <a:spcPct val="120000"/>
              </a:lnSpc>
              <a:buNone/>
            </a:pPr>
            <a:r>
              <a:rPr lang="en-US" sz="1100" dirty="0">
                <a:solidFill>
                  <a:srgbClr val="5B5B6B"/>
                </a:solidFill>
                <a:latin typeface="맑은 고딕" pitchFamily="34" charset="0"/>
                <a:ea typeface="맑은 고딕" pitchFamily="34" charset="-122"/>
                <a:cs typeface="맑은 고딕" pitchFamily="34" charset="-120"/>
              </a:rPr>
              <a:t>연속 성공 시 다음 액션 성공률 ↑ (독립가정 → 성공상관 반영).</a:t>
            </a:r>
            <a:endParaRPr lang="en-US" sz="1200" dirty="0"/>
          </a:p>
          <a:p>
            <a:pPr indent="0" marL="0">
              <a:lnSpc>
                <a:spcPct val="120000"/>
              </a:lnSpc>
              <a:buNone/>
            </a:pPr>
            <a:endParaRPr lang="en-US" sz="1200" dirty="0"/>
          </a:p>
          <a:p>
            <a:pPr indent="0" marL="0">
              <a:lnSpc>
                <a:spcPct val="120000"/>
              </a:lnSpc>
              <a:buNone/>
            </a:pPr>
            <a:r>
              <a:rPr lang="en-US" sz="1050" dirty="0">
                <a:solidFill>
                  <a:srgbClr val="B23A48"/>
                </a:solidFill>
                <a:latin typeface="맑은 고딕" pitchFamily="34" charset="0"/>
                <a:ea typeface="맑은 고딕" pitchFamily="34" charset="-122"/>
                <a:cs typeface="맑은 고딕" pitchFamily="34" charset="-120"/>
              </a:rPr>
              <a:t>억지 P^(1/n) 지수 뭉개기는 폐기 — 메커니즘 있는 보정으로 대체.</a:t>
            </a:r>
            <a:endParaRPr lang="en-US" sz="1200" dirty="0"/>
          </a:p>
        </p:txBody>
      </p:sp>
      <p:sp>
        <p:nvSpPr>
          <p:cNvPr id="11" name="Shape 9"/>
          <p:cNvSpPr/>
          <p:nvPr/>
        </p:nvSpPr>
        <p:spPr>
          <a:xfrm>
            <a:off x="6190488" y="1783080"/>
            <a:ext cx="5349240" cy="2926080"/>
          </a:xfrm>
          <a:prstGeom prst="rect">
            <a:avLst>
              <a:gd name="adj" fmla="val 2500"/>
            </a:avLst>
          </a:prstGeom>
          <a:solidFill>
            <a:srgbClr val="F4F7F6"/>
          </a:solidFill>
          <a:ln w="12700">
            <a:solidFill>
              <a:srgbClr val="E1E7E4"/>
            </a:solidFill>
            <a:prstDash val="solid"/>
          </a:ln>
        </p:spPr>
      </p:sp>
      <p:sp>
        <p:nvSpPr>
          <p:cNvPr id="12" name="Shape 10"/>
          <p:cNvSpPr/>
          <p:nvPr/>
        </p:nvSpPr>
        <p:spPr>
          <a:xfrm>
            <a:off x="6190488" y="1783080"/>
            <a:ext cx="5349240" cy="548640"/>
          </a:xfrm>
          <a:prstGeom prst="rect">
            <a:avLst>
              <a:gd name="adj" fmla="val 13333"/>
            </a:avLst>
          </a:prstGeom>
          <a:solidFill>
            <a:srgbClr val="0F6F5C"/>
          </a:solidFill>
          <a:ln/>
        </p:spPr>
      </p:sp>
      <p:sp>
        <p:nvSpPr>
          <p:cNvPr id="13" name="Text 11"/>
          <p:cNvSpPr/>
          <p:nvPr/>
        </p:nvSpPr>
        <p:spPr>
          <a:xfrm>
            <a:off x="6373368" y="1783080"/>
            <a:ext cx="5029200" cy="5486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(b) 보상 층 — 신규 (xT)</a:t>
            </a:r>
            <a:endParaRPr lang="en-US" sz="1500" dirty="0"/>
          </a:p>
        </p:txBody>
      </p:sp>
      <p:sp>
        <p:nvSpPr>
          <p:cNvPr id="14" name="Text 12"/>
          <p:cNvSpPr/>
          <p:nvPr/>
        </p:nvSpPr>
        <p:spPr>
          <a:xfrm>
            <a:off x="6419088" y="2468880"/>
            <a:ext cx="4937760" cy="2103120"/>
          </a:xfrm>
          <a:prstGeom prst="rect">
            <a:avLst/>
          </a:prstGeom>
          <a:noFill/>
          <a:ln/>
        </p:spPr>
        <p:txBody>
          <a:bodyPr wrap="square" rtlCol="0" anchor="t"/>
          <a:lstStyle/>
          <a:p>
            <a:pPr indent="0" marL="0">
              <a:lnSpc>
                <a:spcPct val="120000"/>
              </a:lnSpc>
              <a:buNone/>
            </a:pPr>
            <a:r>
              <a:rPr lang="en-US" sz="1200" dirty="0">
                <a:solidFill>
                  <a:srgbClr val="15202B"/>
                </a:solidFill>
                <a:latin typeface="맑은 고딕" pitchFamily="34" charset="0"/>
                <a:ea typeface="맑은 고딕" pitchFamily="34" charset="-122"/>
                <a:cs typeface="맑은 고딕" pitchFamily="34" charset="-120"/>
              </a:rPr>
              <a:t>"긴 전개=손해" 체감 문제는 보정식이 아니라 가치 크레딧으로.</a:t>
            </a:r>
            <a:endParaRPr lang="en-US" sz="1200" dirty="0"/>
          </a:p>
          <a:p>
            <a:pPr indent="0" marL="0">
              <a:lnSpc>
                <a:spcPct val="120000"/>
              </a:lnSpc>
              <a:buNone/>
            </a:pPr>
            <a:r>
              <a:rPr lang="en-US" sz="1100" dirty="0">
                <a:solidFill>
                  <a:srgbClr val="5B5B6B"/>
                </a:solidFill>
                <a:latin typeface="맑은 고딕" pitchFamily="34" charset="0"/>
                <a:ea typeface="맑은 고딕" pitchFamily="34" charset="-122"/>
                <a:cs typeface="맑은 고딕" pitchFamily="34" charset="-120"/>
              </a:rPr>
              <a:t>16×12 존 xT 그리드 프리컴퓨트 → 각 스텝을 xT델타로 채점.</a:t>
            </a:r>
            <a:endParaRPr lang="en-US" sz="1200" dirty="0"/>
          </a:p>
          <a:p>
            <a:pPr indent="0" marL="0">
              <a:lnSpc>
                <a:spcPct val="120000"/>
              </a:lnSpc>
              <a:buNone/>
            </a:pPr>
            <a:endParaRPr lang="en-US" sz="1200" dirty="0"/>
          </a:p>
          <a:p>
            <a:pPr indent="0" marL="0">
              <a:lnSpc>
                <a:spcPct val="120000"/>
              </a:lnSpc>
              <a:buNone/>
            </a:pPr>
            <a:r>
              <a:rPr lang="en-US" sz="1200" b="1" dirty="0">
                <a:solidFill>
                  <a:srgbClr val="0F6F5C"/>
                </a:solidFill>
                <a:latin typeface="맑은 고딕" pitchFamily="34" charset="0"/>
                <a:ea typeface="맑은 고딕" pitchFamily="34" charset="-122"/>
                <a:cs typeface="맑은 고딕" pitchFamily="34" charset="-120"/>
              </a:rPr>
              <a:t>실패해도 전진 가치는 부분 인정</a:t>
            </a:r>
            <a:endParaRPr lang="en-US" sz="1200" dirty="0"/>
          </a:p>
          <a:p>
            <a:pPr indent="0" marL="0">
              <a:lnSpc>
                <a:spcPct val="120000"/>
              </a:lnSpc>
              <a:buNone/>
            </a:pPr>
            <a:r>
              <a:rPr lang="en-US" sz="1100" dirty="0">
                <a:solidFill>
                  <a:srgbClr val="5B5B6B"/>
                </a:solidFill>
                <a:latin typeface="맑은 고딕" pitchFamily="34" charset="0"/>
                <a:ea typeface="맑은 고딕" pitchFamily="34" charset="-122"/>
                <a:cs typeface="맑은 고딕" pitchFamily="34" charset="-120"/>
              </a:rPr>
              <a:t>→ 튜토리얼/스테이지 "설계 점수"로 표시·보상.</a:t>
            </a:r>
            <a:endParaRPr lang="en-US" sz="1200" dirty="0"/>
          </a:p>
        </p:txBody>
      </p:sp>
      <p:sp>
        <p:nvSpPr>
          <p:cNvPr id="15" name="Shape 13"/>
          <p:cNvSpPr/>
          <p:nvPr/>
        </p:nvSpPr>
        <p:spPr>
          <a:xfrm>
            <a:off x="566928" y="4892040"/>
            <a:ext cx="11057839" cy="804672"/>
          </a:xfrm>
          <a:prstGeom prst="rect">
            <a:avLst>
              <a:gd name="adj" fmla="val 6818"/>
            </a:avLst>
          </a:prstGeom>
          <a:solidFill>
            <a:srgbClr val="15202B"/>
          </a:solidFill>
          <a:ln/>
        </p:spPr>
      </p:sp>
      <p:sp>
        <p:nvSpPr>
          <p:cNvPr id="16" name="Shape 14"/>
          <p:cNvSpPr/>
          <p:nvPr/>
        </p:nvSpPr>
        <p:spPr>
          <a:xfrm>
            <a:off x="566928" y="4892040"/>
            <a:ext cx="73152" cy="804672"/>
          </a:xfrm>
          <a:prstGeom prst="rect">
            <a:avLst/>
          </a:prstGeom>
          <a:solidFill>
            <a:srgbClr val="0F6F5C"/>
          </a:solidFill>
          <a:ln/>
        </p:spPr>
      </p:sp>
      <p:sp>
        <p:nvSpPr>
          <p:cNvPr id="17" name="Text 15"/>
          <p:cNvSpPr/>
          <p:nvPr/>
        </p:nvSpPr>
        <p:spPr>
          <a:xfrm>
            <a:off x="768096" y="4965192"/>
            <a:ext cx="10692079" cy="658368"/>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z_k += β_flow · (직전 연속 성공 수)         // 수비 붕괴 보정 (조건부)</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PlanScore = Σ ( xT[도착] − xT[출발] )       // 표시·보상, 판정과 독립</a:t>
            </a:r>
            <a:endParaRPr lang="en-US" sz="1250" dirty="0"/>
          </a:p>
        </p:txBody>
      </p:sp>
      <p:sp>
        <p:nvSpPr>
          <p:cNvPr id="18" name="Text 16"/>
          <p:cNvSpPr/>
          <p:nvPr/>
        </p:nvSpPr>
        <p:spPr>
          <a:xfrm>
            <a:off x="566928" y="5897880"/>
            <a:ext cx="11057839" cy="457200"/>
          </a:xfrm>
          <a:prstGeom prst="rect">
            <a:avLst/>
          </a:prstGeom>
          <a:noFill/>
          <a:ln/>
        </p:spPr>
        <p:txBody>
          <a:bodyPr wrap="square" rtlCol="0" anchor="ctr"/>
          <a:lstStyle/>
          <a:p>
            <a:pPr indent="0" marL="0">
              <a:lnSpc>
                <a:spcPct val="105000"/>
              </a:lnSpc>
              <a:buNone/>
            </a:pPr>
            <a:r>
              <a:rPr lang="en-US" sz="1050" i="1" dirty="0">
                <a:solidFill>
                  <a:srgbClr val="5B5B6B"/>
                </a:solidFill>
                <a:latin typeface="맑은 고딕" pitchFamily="34" charset="0"/>
                <a:ea typeface="맑은 고딕" pitchFamily="34" charset="-122"/>
                <a:cs typeface="맑은 고딕" pitchFamily="34" charset="-120"/>
              </a:rPr>
              <a:t>수비 붕괴 계수 β_flow=0.25 (연속 성공당 로그오즈 +, 상한 2.0) — 성공이 쌓일수록 수비가 흔들려 다음이 쉬워지는 효과. 긴 전개의 과도한 ∏P 붕괴를 조건부로 보정. 밸런싱 대상.</a:t>
            </a:r>
            <a:endParaRPr lang="en-US" sz="1050" dirty="0"/>
          </a:p>
        </p:txBody>
      </p:sp>
      <p:sp>
        <p:nvSpPr>
          <p:cNvPr id="20" name="Text 17"/>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21" name="Text 18"/>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MECHANIC 5 / MATCHING</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궤적 매칭 — 가우시안 커널</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417320"/>
            <a:ext cx="11057839" cy="1097280"/>
          </a:xfrm>
          <a:prstGeom prst="rect">
            <a:avLst>
              <a:gd name="adj" fmla="val 5000"/>
            </a:avLst>
          </a:prstGeom>
          <a:solidFill>
            <a:srgbClr val="15202B"/>
          </a:solidFill>
          <a:ln/>
        </p:spPr>
      </p:sp>
      <p:sp>
        <p:nvSpPr>
          <p:cNvPr id="7" name="Shape 5"/>
          <p:cNvSpPr/>
          <p:nvPr/>
        </p:nvSpPr>
        <p:spPr>
          <a:xfrm>
            <a:off x="566928" y="1417320"/>
            <a:ext cx="73152" cy="1097280"/>
          </a:xfrm>
          <a:prstGeom prst="rect">
            <a:avLst/>
          </a:prstGeom>
          <a:solidFill>
            <a:srgbClr val="0F6F5C"/>
          </a:solidFill>
          <a:ln/>
        </p:spPr>
      </p:sp>
      <p:sp>
        <p:nvSpPr>
          <p:cNvPr id="8" name="Text 6"/>
          <p:cNvSpPr/>
          <p:nvPr/>
        </p:nvSpPr>
        <p:spPr>
          <a:xfrm>
            <a:off x="768096" y="1490472"/>
            <a:ext cx="10692079" cy="950976"/>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s_k = exp(−d_k² / (2σ²))          // d_k: 유저점 k의 최근접 정답점 거리</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Match% = (Σ s_k / n) · 100</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σ = 3.0 m  (확정)</a:t>
            </a:r>
            <a:endParaRPr lang="en-US" sz="1250" dirty="0"/>
          </a:p>
        </p:txBody>
      </p:sp>
      <p:sp>
        <p:nvSpPr>
          <p:cNvPr id="9" name="Text 7"/>
          <p:cNvSpPr/>
          <p:nvPr/>
        </p:nvSpPr>
        <p:spPr>
          <a:xfrm>
            <a:off x="566928" y="3063240"/>
            <a:ext cx="5486400" cy="274320"/>
          </a:xfrm>
          <a:prstGeom prst="rect">
            <a:avLst/>
          </a:prstGeom>
          <a:noFill/>
          <a:ln/>
        </p:spPr>
        <p:txBody>
          <a:bodyPr wrap="square" rtlCol="0" anchor="ctr"/>
          <a:lstStyle/>
          <a:p>
            <a:pPr indent="0" marL="0">
              <a:buNone/>
            </a:pPr>
            <a:r>
              <a:rPr lang="en-US" sz="1300" b="1" dirty="0">
                <a:solidFill>
                  <a:srgbClr val="0F6F5C"/>
                </a:solidFill>
                <a:latin typeface="맑은 고딕" pitchFamily="34" charset="0"/>
                <a:ea typeface="맑은 고딕" pitchFamily="34" charset="-122"/>
                <a:cs typeface="맑은 고딕" pitchFamily="34" charset="-120"/>
              </a:rPr>
              <a:t>σ=3m 신뢰도 곡선</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3383280"/>
          <a:ext cx="5669280" cy="914400"/>
        </p:xfrm>
        <a:graphic>
          <a:graphicData uri="http://schemas.openxmlformats.org/drawingml/2006/table">
            <a:tbl>
              <a:tblPr/>
              <a:tblGrid>
                <a:gridCol w="1828800"/>
                <a:gridCol w="960120"/>
                <a:gridCol w="960120"/>
                <a:gridCol w="960120"/>
                <a:gridCol w="960120"/>
              </a:tblGrid>
              <a:tr h="292608">
                <a:tc>
                  <a:txBody>
                    <a:bodyP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편차 d (m)</a:t>
                      </a:r>
                      <a:endParaRPr lang="en-US" sz="12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1</a:t>
                      </a:r>
                      <a:endParaRPr lang="en-US" sz="12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2</a:t>
                      </a:r>
                      <a:endParaRPr lang="en-US" sz="12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3</a:t>
                      </a:r>
                      <a:endParaRPr lang="en-US" sz="12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5</a:t>
                      </a:r>
                      <a:endParaRPr lang="en-US" sz="12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200" b="1" dirty="0">
                          <a:solidFill>
                            <a:srgbClr val="15202B"/>
                          </a:solidFill>
                          <a:latin typeface="맑은 고딕" pitchFamily="34" charset="0"/>
                          <a:ea typeface="맑은 고딕" pitchFamily="34" charset="-122"/>
                          <a:cs typeface="맑은 고딕" pitchFamily="34" charset="-120"/>
                        </a:rPr>
                        <a:t>신뢰도 s</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202B"/>
                          </a:solidFill>
                          <a:latin typeface="맑은 고딕" pitchFamily="34" charset="0"/>
                          <a:ea typeface="맑은 고딕" pitchFamily="34" charset="-122"/>
                          <a:cs typeface="맑은 고딕" pitchFamily="34" charset="-120"/>
                        </a:rPr>
                        <a:t>0.95</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202B"/>
                          </a:solidFill>
                          <a:latin typeface="맑은 고딕" pitchFamily="34" charset="0"/>
                          <a:ea typeface="맑은 고딕" pitchFamily="34" charset="-122"/>
                          <a:cs typeface="맑은 고딕" pitchFamily="34" charset="-120"/>
                        </a:rPr>
                        <a:t>0.80</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202B"/>
                          </a:solidFill>
                          <a:latin typeface="맑은 고딕" pitchFamily="34" charset="0"/>
                          <a:ea typeface="맑은 고딕" pitchFamily="34" charset="-122"/>
                          <a:cs typeface="맑은 고딕" pitchFamily="34" charset="-120"/>
                        </a:rPr>
                        <a:t>0.61</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202B"/>
                          </a:solidFill>
                          <a:latin typeface="맑은 고딕" pitchFamily="34" charset="0"/>
                          <a:ea typeface="맑은 고딕" pitchFamily="34" charset="-122"/>
                          <a:cs typeface="맑은 고딕" pitchFamily="34" charset="-120"/>
                        </a:rPr>
                        <a:t>0.25</a:t>
                      </a:r>
                      <a:endParaRPr lang="en-US" sz="12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66928" y="4480560"/>
          <a:ext cx="5669280" cy="914400"/>
        </p:xfrm>
        <a:graphic>
          <a:graphicData uri="http://schemas.openxmlformats.org/drawingml/2006/table">
            <a:tbl>
              <a:tblPr/>
              <a:tblGrid>
                <a:gridCol w="1828800"/>
                <a:gridCol w="3840480"/>
              </a:tblGrid>
              <a:tr h="292608">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σ 선택</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감각</a:t>
                      </a:r>
                      <a:endParaRPr lang="en-US" sz="115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σ = 2m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엄격 (정밀 재현 요구)</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σ = 3m ✓</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기본 — 2σ=6m가 실패 임계 근처</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σ = 4m</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202B"/>
                          </a:solidFill>
                          <a:latin typeface="맑은 고딕" pitchFamily="34" charset="0"/>
                          <a:ea typeface="맑은 고딕" pitchFamily="34" charset="-122"/>
                          <a:cs typeface="맑은 고딕" pitchFamily="34" charset="-120"/>
                        </a:rPr>
                        <a:t>관대 (경계 좌절 감소)</a:t>
                      </a:r>
                      <a:endParaRPr lang="en-US" sz="110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12" name="Shape 8"/>
          <p:cNvSpPr/>
          <p:nvPr/>
        </p:nvSpPr>
        <p:spPr>
          <a:xfrm>
            <a:off x="6492240" y="3063240"/>
            <a:ext cx="5132527" cy="2926080"/>
          </a:xfrm>
          <a:prstGeom prst="rect">
            <a:avLst>
              <a:gd name="adj" fmla="val 2500"/>
            </a:avLst>
          </a:prstGeom>
          <a:solidFill>
            <a:srgbClr val="EEF3F1"/>
          </a:solidFill>
          <a:ln w="12700">
            <a:solidFill>
              <a:srgbClr val="E1E7E4"/>
            </a:solidFill>
            <a:prstDash val="solid"/>
          </a:ln>
        </p:spPr>
      </p:sp>
      <p:sp>
        <p:nvSpPr>
          <p:cNvPr id="13" name="Text 9"/>
          <p:cNvSpPr/>
          <p:nvPr/>
        </p:nvSpPr>
        <p:spPr>
          <a:xfrm>
            <a:off x="6675120" y="3200400"/>
            <a:ext cx="4766767" cy="2651760"/>
          </a:xfrm>
          <a:prstGeom prst="rect">
            <a:avLst/>
          </a:prstGeom>
          <a:noFill/>
          <a:ln/>
        </p:spPr>
        <p:txBody>
          <a:bodyPr wrap="square" rtlCol="0" anchor="t"/>
          <a:lstStyle/>
          <a:p>
            <a:pPr indent="0" marL="0">
              <a:lnSpc>
                <a:spcPct val="115000"/>
              </a:lnSpc>
              <a:buNone/>
            </a:pPr>
            <a:r>
              <a:rPr lang="en-US" sz="1400" b="1" dirty="0">
                <a:solidFill>
                  <a:srgbClr val="0F6F5C"/>
                </a:solidFill>
                <a:latin typeface="맑은 고딕" pitchFamily="34" charset="0"/>
                <a:ea typeface="맑은 고딕" pitchFamily="34" charset="-122"/>
                <a:cs typeface="맑은 고딕" pitchFamily="34" charset="-120"/>
              </a:rPr>
              <a:t>적용 규칙</a:t>
            </a:r>
            <a:endParaRPr lang="en-US" sz="1400" dirty="0"/>
          </a:p>
          <a:p>
            <a:pPr indent="0" marL="0">
              <a:lnSpc>
                <a:spcPct val="115000"/>
              </a:lnSpc>
              <a:buNone/>
            </a:pPr>
            <a:endParaRPr lang="en-US" sz="1400" dirty="0"/>
          </a:p>
          <a:p>
            <a:pPr indent="0" marL="0">
              <a:lnSpc>
                <a:spcPct val="115000"/>
              </a:lnSpc>
              <a:buNone/>
            </a:pPr>
            <a:r>
              <a:rPr lang="en-US" sz="1200" dirty="0">
                <a:solidFill>
                  <a:srgbClr val="15202B"/>
                </a:solidFill>
                <a:latin typeface="맑은 고딕" pitchFamily="34" charset="0"/>
                <a:ea typeface="맑은 고딕" pitchFamily="34" charset="-122"/>
                <a:cs typeface="맑은 고딕" pitchFamily="34" charset="-120"/>
              </a:rPr>
              <a:t>· 1m 등간격 리샘플링 ($1 Recognizer 방식)</a:t>
            </a:r>
            <a:endParaRPr lang="en-US" sz="1400" dirty="0"/>
          </a:p>
          <a:p>
            <a:pPr indent="0" marL="0">
              <a:lnSpc>
                <a:spcPct val="115000"/>
              </a:lnSpc>
              <a:buNone/>
            </a:pPr>
            <a:r>
              <a:rPr lang="en-US" sz="1200" dirty="0">
                <a:solidFill>
                  <a:srgbClr val="15202B"/>
                </a:solidFill>
                <a:latin typeface="맑은 고딕" pitchFamily="34" charset="0"/>
                <a:ea typeface="맑은 고딕" pitchFamily="34" charset="-122"/>
                <a:cs typeface="맑은 고딕" pitchFamily="34" charset="-120"/>
              </a:rPr>
              <a:t>· 정답·유저 궤적 동일 간격 필수 (다르면 Match% 왜곡)</a:t>
            </a:r>
            <a:endParaRPr lang="en-US" sz="1400" dirty="0"/>
          </a:p>
          <a:p>
            <a:pPr indent="0" marL="0">
              <a:lnSpc>
                <a:spcPct val="115000"/>
              </a:lnSpc>
              <a:buNone/>
            </a:pPr>
            <a:r>
              <a:rPr lang="en-US" sz="1200" dirty="0">
                <a:solidFill>
                  <a:srgbClr val="15202B"/>
                </a:solidFill>
                <a:latin typeface="맑은 고딕" pitchFamily="34" charset="0"/>
                <a:ea typeface="맑은 고딕" pitchFamily="34" charset="-122"/>
                <a:cs typeface="맑은 고딕" pitchFamily="34" charset="-120"/>
              </a:rPr>
              <a:t>· 임계: ≥90% 완전재현 · 70~90% 부분 · &lt;70% 일반</a:t>
            </a:r>
            <a:endParaRPr lang="en-US" sz="1400" dirty="0"/>
          </a:p>
          <a:p>
            <a:pPr indent="0" marL="0">
              <a:lnSpc>
                <a:spcPct val="115000"/>
              </a:lnSpc>
              <a:buNone/>
            </a:pPr>
            <a:endParaRPr lang="en-US" sz="1400" dirty="0"/>
          </a:p>
          <a:p>
            <a:pPr indent="0" marL="0">
              <a:lnSpc>
                <a:spcPct val="115000"/>
              </a:lnSpc>
              <a:buNone/>
            </a:pPr>
            <a:r>
              <a:rPr lang="en-US" sz="1100" dirty="0">
                <a:solidFill>
                  <a:srgbClr val="5B5B6B"/>
                </a:solidFill>
                <a:latin typeface="맑은 고딕" pitchFamily="34" charset="0"/>
                <a:ea typeface="맑은 고딕" pitchFamily="34" charset="-122"/>
                <a:cs typeface="맑은 고딕" pitchFamily="34" charset="-120"/>
              </a:rPr>
              <a:t>용도: 튜토리얼 스테이지(안정환 골든골 재현 등) 채점. match.js 함수는 구현 완료, UI 연결만 남음.</a:t>
            </a:r>
            <a:endParaRPr lang="en-US" sz="1400" dirty="0"/>
          </a:p>
        </p:txBody>
      </p:sp>
      <p:sp>
        <p:nvSpPr>
          <p:cNvPr id="15" name="Text 10"/>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6" name="Text 11"/>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HANDOFF</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변경 매트릭스 — 현행 → 확정</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7839" cy="914400"/>
        </p:xfrm>
        <a:graphic>
          <a:graphicData uri="http://schemas.openxmlformats.org/drawingml/2006/table">
            <a:tbl>
              <a:tblPr/>
              <a:tblGrid>
                <a:gridCol w="1234440"/>
                <a:gridCol w="3383280"/>
                <a:gridCol w="3520440"/>
                <a:gridCol w="1051560"/>
                <a:gridCol w="1865376"/>
              </a:tblGrid>
              <a:tr h="292608">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메커닉</a:t>
                      </a:r>
                      <a:endParaRPr lang="en-US" sz="108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현행 (구현)</a:t>
                      </a:r>
                      <a:endParaRPr lang="en-US" sz="108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확정 (v2)</a:t>
                      </a:r>
                      <a:endParaRPr lang="en-US" sz="108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변경</a:t>
                      </a:r>
                      <a:endParaRPr lang="en-US" sz="108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담당</a:t>
                      </a:r>
                      <a:endParaRPr lang="en-US" sz="108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0F6F5C"/>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슈팅</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S_eff·f_dist·f_angle·f_block·SHOT_SCALE</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로지스틱 z 가법 → σ(z), 페널티 특례</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재작성</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계산+프론트</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패스</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acc·e^(−α/vis·L)·경로수비</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로그오즈 + 리시버 지배항</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재작성</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계산+프론트</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드리블</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(pace+comp)/2·e^(−αL)·수비</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로그오즈 1v1, 기하 지배</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재계수</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계산+프론트</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수비압박</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오라 e^(−βτ(R−d)) 방향수정본</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연속 pressure=e^(−d/R) 로그오즈항</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통일</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계산</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시퀀스</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순수 ∏P, 첫실패 중단</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판정=∏+수비붕괴 보정, 보상=xT 델타 분리</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보정·분리</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계산+프론트</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매칭</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exp(−d²/2σ²), σ=4, UI 미연결</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σ=3 확정, UI 연결(튜토리얼)</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연결</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프론트</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EEF3F1"/>
                    </a:solidFill>
                  </a:tcPr>
                </a:tc>
              </a:tr>
              <a:tr h="292608">
                <a:tc>
                  <a:txBody>
                    <a:bodyPr/>
                    <a:lstStyle/>
                    <a:p>
                      <a:pPr algn="l" indent="0" marL="0">
                        <a:buNone/>
                      </a:pPr>
                      <a:r>
                        <a:rPr lang="en-US" sz="1030" b="1" dirty="0">
                          <a:solidFill>
                            <a:srgbClr val="15202B"/>
                          </a:solidFill>
                          <a:latin typeface="맑은 고딕" pitchFamily="34" charset="0"/>
                          <a:ea typeface="맑은 고딕" pitchFamily="34" charset="-122"/>
                          <a:cs typeface="맑은 고딕" pitchFamily="34" charset="-120"/>
                        </a:rPr>
                        <a:t>clamp</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슛만 min0.95</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전역 clamp(0.02, 0.97)</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추가</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15202B"/>
                          </a:solidFill>
                          <a:latin typeface="맑은 고딕" pitchFamily="34" charset="0"/>
                          <a:ea typeface="맑은 고딕" pitchFamily="34" charset="-122"/>
                          <a:cs typeface="맑은 고딕" pitchFamily="34" charset="-120"/>
                        </a:rPr>
                        <a:t>계산</a:t>
                      </a:r>
                      <a:endParaRPr lang="en-US" sz="1030" dirty="0">
                        <a:latin typeface="맑은 고딕" charset="0"/>
                        <a:ea typeface="맑은 고딕" charset="0"/>
                        <a:cs typeface="맑은 고딕" charset="0"/>
                      </a:endParaRPr>
                    </a:p>
                  </a:txBody>
                  <a:tcPr marL="63500" marR="63500" marT="38100" marB="38100" anchor="ctr">
                    <a:lnL w="6350" cap="flat" cmpd="sng" algn="ctr">
                      <a:solidFill>
                        <a:srgbClr val="DDE4E1"/>
                      </a:solidFill>
                      <a:prstDash val="solid"/>
                      <a:round/>
                      <a:headEnd type="none" w="med" len="med"/>
                      <a:tailEnd type="none" w="med" len="med"/>
                    </a:lnL>
                    <a:lnR w="6350" cap="flat" cmpd="sng" algn="ctr">
                      <a:solidFill>
                        <a:srgbClr val="DDE4E1"/>
                      </a:solidFill>
                      <a:prstDash val="solid"/>
                      <a:round/>
                      <a:headEnd type="none" w="med" len="med"/>
                      <a:tailEnd type="none" w="med" len="med"/>
                    </a:lnR>
                    <a:lnT w="6350" cap="flat" cmpd="sng" algn="ctr">
                      <a:solidFill>
                        <a:srgbClr val="DDE4E1"/>
                      </a:solidFill>
                      <a:prstDash val="solid"/>
                      <a:round/>
                      <a:headEnd type="none" w="med" len="med"/>
                      <a:tailEnd type="none" w="med" len="med"/>
                    </a:lnT>
                    <a:lnB w="6350" cap="flat" cmpd="sng" algn="ctr">
                      <a:solidFill>
                        <a:srgbClr val="DDE4E1"/>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9" name="Text 5"/>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HANDOFF</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constants.js — 확정 초기값</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Text 4"/>
          <p:cNvSpPr/>
          <p:nvPr/>
        </p:nvSpPr>
        <p:spPr>
          <a:xfrm>
            <a:off x="566928" y="1325880"/>
            <a:ext cx="10972800" cy="274320"/>
          </a:xfrm>
          <a:prstGeom prst="rect">
            <a:avLst/>
          </a:prstGeom>
          <a:noFill/>
          <a:ln/>
        </p:spPr>
        <p:txBody>
          <a:bodyPr wrap="square" rtlCol="0" anchor="ctr"/>
          <a:lstStyle/>
          <a:p>
            <a:pPr indent="0" marL="0">
              <a:buNone/>
            </a:pPr>
            <a:r>
              <a:rPr lang="en-US" sz="1200" dirty="0">
                <a:solidFill>
                  <a:srgbClr val="5B5B6B"/>
                </a:solidFill>
                <a:latin typeface="맑은 고딕" pitchFamily="34" charset="0"/>
                <a:ea typeface="맑은 고딕" pitchFamily="34" charset="-122"/>
                <a:cs typeface="맑은 고딕" pitchFamily="34" charset="-120"/>
              </a:rPr>
              <a:t>모든 매직넘버는 이 한 파일. 전부 밸런싱 대상(플레이테스트로 조정).</a:t>
            </a:r>
            <a:endParaRPr lang="en-US" sz="1200" dirty="0"/>
          </a:p>
        </p:txBody>
      </p:sp>
      <p:sp>
        <p:nvSpPr>
          <p:cNvPr id="7" name="Shape 5"/>
          <p:cNvSpPr/>
          <p:nvPr/>
        </p:nvSpPr>
        <p:spPr>
          <a:xfrm>
            <a:off x="566928" y="1737360"/>
            <a:ext cx="11057839" cy="3438144"/>
          </a:xfrm>
          <a:prstGeom prst="rect">
            <a:avLst>
              <a:gd name="adj" fmla="val 1596"/>
            </a:avLst>
          </a:prstGeom>
          <a:solidFill>
            <a:srgbClr val="15202B"/>
          </a:solidFill>
          <a:ln/>
        </p:spPr>
      </p:sp>
      <p:sp>
        <p:nvSpPr>
          <p:cNvPr id="8" name="Shape 6"/>
          <p:cNvSpPr/>
          <p:nvPr/>
        </p:nvSpPr>
        <p:spPr>
          <a:xfrm>
            <a:off x="566928" y="1737360"/>
            <a:ext cx="73152" cy="3438144"/>
          </a:xfrm>
          <a:prstGeom prst="rect">
            <a:avLst/>
          </a:prstGeom>
          <a:solidFill>
            <a:srgbClr val="0F6F5C"/>
          </a:solidFill>
          <a:ln/>
        </p:spPr>
      </p:sp>
      <p:sp>
        <p:nvSpPr>
          <p:cNvPr id="9" name="Text 7"/>
          <p:cNvSpPr/>
          <p:nvPr/>
        </p:nvSpPr>
        <p:spPr>
          <a:xfrm>
            <a:off x="768096" y="1810512"/>
            <a:ext cx="10692079" cy="3291840"/>
          </a:xfrm>
          <a:prstGeom prst="rect">
            <a:avLst/>
          </a:prstGeom>
          <a:noFill/>
          <a:ln/>
        </p:spPr>
        <p:txBody>
          <a:bodyPr wrap="square" rtlCol="0" anchor="ctr"/>
          <a:lstStyle/>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export const K =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STAT_FLOOR: 0.3,  P_MIN: 0.02,  P_MAX: 0.97,</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GOAL: { x: 120, y: 40, postA: 43.66, postB: 36.34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SHOT: { B0: -0.03, B_DIST: -0.20, B_ANG: 1.30,</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B_SKILL: 2.0, SEFF0: 0.70, B_BLOCK: -2.5, R_BLOCK: 2.0, PENALTY_XG: 0.76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PASS: { Z0: 2.933, B_LEN: -0.0917, B_PASS: 1.5,</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B_RECV: -2.0, R_RECV: 4.0, B_LANE: -1.0, R_LANE: 3.0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DRIB: { Z0: 2.2, B_SKILL: 1.2, B_LEN: -0.06, B_DEF: -2.2, R_DEF: 3.0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SEQ:  { FLOW: 0.25, FLOW_MAX: 2.0 },  // 수비 붕괴 계수 (연속성공 보정)</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  MATCH:{ SIGMA: 3.0, RESAMPLE_M: 1.0, FULL: 90, PARTIAL: 70 },</a:t>
            </a:r>
            <a:endParaRPr lang="en-US" sz="1250" dirty="0"/>
          </a:p>
          <a:p>
            <a:pPr algn="l" indent="0" marL="0">
              <a:lnSpc>
                <a:spcPct val="115000"/>
              </a:lnSpc>
              <a:buNone/>
            </a:pPr>
            <a:r>
              <a:rPr lang="en-US" sz="1250" dirty="0">
                <a:solidFill>
                  <a:srgbClr val="E8EEEA"/>
                </a:solidFill>
                <a:latin typeface="Consolas" pitchFamily="34" charset="0"/>
                <a:ea typeface="Consolas" pitchFamily="34" charset="-122"/>
                <a:cs typeface="Consolas" pitchFamily="34" charset="-120"/>
              </a:rPr>
              <a:t>}</a:t>
            </a:r>
            <a:endParaRPr lang="en-US" sz="1250" dirty="0"/>
          </a:p>
        </p:txBody>
      </p:sp>
      <p:sp>
        <p:nvSpPr>
          <p:cNvPr id="11" name="Text 8"/>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12" name="Text 9"/>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28016" cy="475488"/>
          </a:xfrm>
          <a:prstGeom prst="rect">
            <a:avLst/>
          </a:prstGeom>
          <a:solidFill>
            <a:srgbClr val="0F6F5C"/>
          </a:solidFill>
          <a:ln/>
        </p:spPr>
      </p:sp>
      <p:sp>
        <p:nvSpPr>
          <p:cNvPr id="3" name="Text 1"/>
          <p:cNvSpPr/>
          <p:nvPr/>
        </p:nvSpPr>
        <p:spPr>
          <a:xfrm>
            <a:off x="822960" y="38404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NEXT</a:t>
            </a:r>
            <a:endParaRPr lang="en-US" sz="1100" dirty="0"/>
          </a:p>
        </p:txBody>
      </p:sp>
      <p:sp>
        <p:nvSpPr>
          <p:cNvPr id="4" name="Text 2"/>
          <p:cNvSpPr/>
          <p:nvPr/>
        </p:nvSpPr>
        <p:spPr>
          <a:xfrm>
            <a:off x="813816" y="576072"/>
            <a:ext cx="10972800" cy="502920"/>
          </a:xfrm>
          <a:prstGeom prst="rect">
            <a:avLst/>
          </a:prstGeom>
          <a:noFill/>
          <a:ln/>
        </p:spPr>
        <p:txBody>
          <a:bodyPr wrap="square" rtlCol="0" anchor="ctr"/>
          <a:lstStyle/>
          <a:p>
            <a:pPr indent="0" marL="0">
              <a:buNone/>
            </a:pPr>
            <a:r>
              <a:rPr lang="en-US" sz="2500" b="1" dirty="0">
                <a:solidFill>
                  <a:srgbClr val="15202B"/>
                </a:solidFill>
                <a:latin typeface="맑은 고딕" pitchFamily="34" charset="0"/>
                <a:ea typeface="맑은 고딕" pitchFamily="34" charset="-122"/>
                <a:cs typeface="맑은 고딕" pitchFamily="34" charset="-120"/>
              </a:rPr>
              <a:t>담당별 액션 &amp; 로드맵</a:t>
            </a:r>
            <a:endParaRPr lang="en-US" sz="2500" dirty="0"/>
          </a:p>
        </p:txBody>
      </p:sp>
      <p:sp>
        <p:nvSpPr>
          <p:cNvPr id="5" name="Shape 3"/>
          <p:cNvSpPr/>
          <p:nvPr/>
        </p:nvSpPr>
        <p:spPr>
          <a:xfrm>
            <a:off x="566928" y="1207008"/>
            <a:ext cx="11057839" cy="0"/>
          </a:xfrm>
          <a:prstGeom prst="line">
            <a:avLst/>
          </a:prstGeom>
          <a:noFill/>
          <a:ln w="12700">
            <a:solidFill>
              <a:srgbClr val="E1E7E4"/>
            </a:solidFill>
            <a:prstDash val="solid"/>
          </a:ln>
        </p:spPr>
      </p:sp>
      <p:sp>
        <p:nvSpPr>
          <p:cNvPr id="6" name="Shape 4"/>
          <p:cNvSpPr/>
          <p:nvPr/>
        </p:nvSpPr>
        <p:spPr>
          <a:xfrm>
            <a:off x="566928" y="1508760"/>
            <a:ext cx="3503066" cy="2651760"/>
          </a:xfrm>
          <a:prstGeom prst="rect">
            <a:avLst>
              <a:gd name="adj" fmla="val 2759"/>
            </a:avLst>
          </a:prstGeom>
          <a:solidFill>
            <a:srgbClr val="F4F7F6"/>
          </a:solidFill>
          <a:ln w="12700">
            <a:solidFill>
              <a:srgbClr val="E1E7E4"/>
            </a:solidFill>
            <a:prstDash val="solid"/>
          </a:ln>
        </p:spPr>
      </p:sp>
      <p:sp>
        <p:nvSpPr>
          <p:cNvPr id="7" name="Shape 5"/>
          <p:cNvSpPr/>
          <p:nvPr/>
        </p:nvSpPr>
        <p:spPr>
          <a:xfrm>
            <a:off x="566928" y="1508760"/>
            <a:ext cx="3503066" cy="548640"/>
          </a:xfrm>
          <a:prstGeom prst="rect">
            <a:avLst>
              <a:gd name="adj" fmla="val 13333"/>
            </a:avLst>
          </a:prstGeom>
          <a:solidFill>
            <a:srgbClr val="0F6F5C"/>
          </a:solidFill>
          <a:ln/>
        </p:spPr>
      </p:sp>
      <p:sp>
        <p:nvSpPr>
          <p:cNvPr id="8" name="Text 6"/>
          <p:cNvSpPr/>
          <p:nvPr/>
        </p:nvSpPr>
        <p:spPr>
          <a:xfrm>
            <a:off x="566928" y="1508760"/>
            <a:ext cx="3503066" cy="548640"/>
          </a:xfrm>
          <a:prstGeom prst="rect">
            <a:avLst/>
          </a:prstGeom>
          <a:noFill/>
          <a:ln/>
        </p:spPr>
        <p:txBody>
          <a:bodyPr wrap="square"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데이터 담당</a:t>
            </a:r>
            <a:endParaRPr lang="en-US" sz="1500" dirty="0"/>
          </a:p>
        </p:txBody>
      </p:sp>
      <p:sp>
        <p:nvSpPr>
          <p:cNvPr id="9" name="Text 7"/>
          <p:cNvSpPr/>
          <p:nvPr/>
        </p:nvSpPr>
        <p:spPr>
          <a:xfrm>
            <a:off x="795528" y="2194560"/>
            <a:ext cx="3045866" cy="1828800"/>
          </a:xfrm>
          <a:prstGeom prst="rect">
            <a:avLst/>
          </a:prstGeom>
          <a:noFill/>
          <a:ln/>
        </p:spPr>
        <p:txBody>
          <a:bodyPr wrap="square" rtlCol="0" anchor="t"/>
          <a:lstStyle/>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필요 스탯 추가: vision · tackle · technique · finishing/heading · dribbling</a:t>
            </a:r>
            <a:endParaRPr lang="en-US" sz="1100" dirty="0"/>
          </a:p>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0~100 스케일 유지, 팀 배열 순서=슬롯 순서 규칙 유지</a:t>
            </a:r>
            <a:endParaRPr lang="en-US" sz="1100" dirty="0"/>
          </a:p>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추가 즉시 임시대체 해제·정식 항 활성</a:t>
            </a:r>
            <a:endParaRPr lang="en-US" sz="1100" dirty="0"/>
          </a:p>
        </p:txBody>
      </p:sp>
      <p:sp>
        <p:nvSpPr>
          <p:cNvPr id="10" name="Shape 8"/>
          <p:cNvSpPr/>
          <p:nvPr/>
        </p:nvSpPr>
        <p:spPr>
          <a:xfrm>
            <a:off x="4344314" y="1508760"/>
            <a:ext cx="3503066" cy="2651760"/>
          </a:xfrm>
          <a:prstGeom prst="rect">
            <a:avLst>
              <a:gd name="adj" fmla="val 2759"/>
            </a:avLst>
          </a:prstGeom>
          <a:solidFill>
            <a:srgbClr val="F4F7F6"/>
          </a:solidFill>
          <a:ln w="12700">
            <a:solidFill>
              <a:srgbClr val="E1E7E4"/>
            </a:solidFill>
            <a:prstDash val="solid"/>
          </a:ln>
        </p:spPr>
      </p:sp>
      <p:sp>
        <p:nvSpPr>
          <p:cNvPr id="11" name="Shape 9"/>
          <p:cNvSpPr/>
          <p:nvPr/>
        </p:nvSpPr>
        <p:spPr>
          <a:xfrm>
            <a:off x="4344314" y="1508760"/>
            <a:ext cx="3503066" cy="548640"/>
          </a:xfrm>
          <a:prstGeom prst="rect">
            <a:avLst>
              <a:gd name="adj" fmla="val 13333"/>
            </a:avLst>
          </a:prstGeom>
          <a:solidFill>
            <a:srgbClr val="0F6F5C"/>
          </a:solidFill>
          <a:ln/>
        </p:spPr>
      </p:sp>
      <p:sp>
        <p:nvSpPr>
          <p:cNvPr id="12" name="Text 10"/>
          <p:cNvSpPr/>
          <p:nvPr/>
        </p:nvSpPr>
        <p:spPr>
          <a:xfrm>
            <a:off x="4344314" y="1508760"/>
            <a:ext cx="3503066" cy="548640"/>
          </a:xfrm>
          <a:prstGeom prst="rect">
            <a:avLst/>
          </a:prstGeom>
          <a:noFill/>
          <a:ln/>
        </p:spPr>
        <p:txBody>
          <a:bodyPr wrap="square"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프론트 담당</a:t>
            </a:r>
            <a:endParaRPr lang="en-US" sz="1500" dirty="0"/>
          </a:p>
        </p:txBody>
      </p:sp>
      <p:sp>
        <p:nvSpPr>
          <p:cNvPr id="13" name="Text 11"/>
          <p:cNvSpPr/>
          <p:nvPr/>
        </p:nvSpPr>
        <p:spPr>
          <a:xfrm>
            <a:off x="4572914" y="2194560"/>
            <a:ext cx="3045866" cy="1828800"/>
          </a:xfrm>
          <a:prstGeom prst="rect">
            <a:avLst/>
          </a:prstGeom>
          <a:noFill/>
          <a:ln/>
        </p:spPr>
        <p:txBody>
          <a:bodyPr wrap="square" rtlCol="0" anchor="t"/>
          <a:lstStyle/>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resolve.js 함수 3개 교체 (시그니처 불변 → UI 무손상)</a:t>
            </a:r>
            <a:endParaRPr lang="en-US" sz="1100" dirty="0"/>
          </a:p>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매칭 match.js UI 연결 (튜토리얼 스테이지)</a:t>
            </a:r>
            <a:endParaRPr lang="en-US" sz="1100" dirty="0"/>
          </a:p>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PlanScore(xT 델타) 표시 UI</a:t>
            </a:r>
            <a:endParaRPr lang="en-US" sz="1100" dirty="0"/>
          </a:p>
        </p:txBody>
      </p:sp>
      <p:sp>
        <p:nvSpPr>
          <p:cNvPr id="14" name="Shape 12"/>
          <p:cNvSpPr/>
          <p:nvPr/>
        </p:nvSpPr>
        <p:spPr>
          <a:xfrm>
            <a:off x="8121701" y="1508760"/>
            <a:ext cx="3503066" cy="2651760"/>
          </a:xfrm>
          <a:prstGeom prst="rect">
            <a:avLst>
              <a:gd name="adj" fmla="val 2759"/>
            </a:avLst>
          </a:prstGeom>
          <a:solidFill>
            <a:srgbClr val="F4F7F6"/>
          </a:solidFill>
          <a:ln w="12700">
            <a:solidFill>
              <a:srgbClr val="E1E7E4"/>
            </a:solidFill>
            <a:prstDash val="solid"/>
          </a:ln>
        </p:spPr>
      </p:sp>
      <p:sp>
        <p:nvSpPr>
          <p:cNvPr id="15" name="Shape 13"/>
          <p:cNvSpPr/>
          <p:nvPr/>
        </p:nvSpPr>
        <p:spPr>
          <a:xfrm>
            <a:off x="8121701" y="1508760"/>
            <a:ext cx="3503066" cy="548640"/>
          </a:xfrm>
          <a:prstGeom prst="rect">
            <a:avLst>
              <a:gd name="adj" fmla="val 13333"/>
            </a:avLst>
          </a:prstGeom>
          <a:solidFill>
            <a:srgbClr val="0F6F5C"/>
          </a:solidFill>
          <a:ln/>
        </p:spPr>
      </p:sp>
      <p:sp>
        <p:nvSpPr>
          <p:cNvPr id="16" name="Text 14"/>
          <p:cNvSpPr/>
          <p:nvPr/>
        </p:nvSpPr>
        <p:spPr>
          <a:xfrm>
            <a:off x="8121701" y="1508760"/>
            <a:ext cx="3503066" cy="548640"/>
          </a:xfrm>
          <a:prstGeom prst="rect">
            <a:avLst/>
          </a:prstGeom>
          <a:noFill/>
          <a:ln/>
        </p:spPr>
        <p:txBody>
          <a:bodyPr wrap="square"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계산 담당</a:t>
            </a:r>
            <a:endParaRPr lang="en-US" sz="1500" dirty="0"/>
          </a:p>
        </p:txBody>
      </p:sp>
      <p:sp>
        <p:nvSpPr>
          <p:cNvPr id="17" name="Text 15"/>
          <p:cNvSpPr/>
          <p:nvPr/>
        </p:nvSpPr>
        <p:spPr>
          <a:xfrm>
            <a:off x="8350301" y="2194560"/>
            <a:ext cx="3045866" cy="1828800"/>
          </a:xfrm>
          <a:prstGeom prst="rect">
            <a:avLst/>
          </a:prstGeom>
          <a:noFill/>
          <a:ln/>
        </p:spPr>
        <p:txBody>
          <a:bodyPr wrap="square" rtlCol="0" anchor="t"/>
          <a:lstStyle/>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constants.js 확정값 반영 + 전역 clamp</a:t>
            </a:r>
            <a:endParaRPr lang="en-US" sz="1100" dirty="0"/>
          </a:p>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xT 16×12 그리드 프리컴퓨트</a:t>
            </a:r>
            <a:endParaRPr lang="en-US" sz="1100" dirty="0"/>
          </a:p>
          <a:p>
            <a:pPr marL="152400" indent="-152400">
              <a:lnSpc>
                <a:spcPct val="110000"/>
              </a:lnSpc>
              <a:spcAft>
                <a:spcPts val="800"/>
              </a:spcAft>
              <a:buSzPct val="100000"/>
              <a:buChar char="•"/>
            </a:pPr>
            <a:r>
              <a:rPr lang="en-US" sz="1100" dirty="0">
                <a:solidFill>
                  <a:srgbClr val="15202B"/>
                </a:solidFill>
                <a:latin typeface="맑은 고딕" pitchFamily="34" charset="0"/>
                <a:ea typeface="맑은 고딕" pitchFamily="34" charset="-122"/>
                <a:cs typeface="맑은 고딕" pitchFamily="34" charset="-120"/>
              </a:rPr>
              <a:t>플레이테스트로 β 밸런싱</a:t>
            </a:r>
            <a:endParaRPr lang="en-US" sz="1100" dirty="0"/>
          </a:p>
        </p:txBody>
      </p:sp>
      <p:sp>
        <p:nvSpPr>
          <p:cNvPr id="18" name="Shape 16"/>
          <p:cNvSpPr/>
          <p:nvPr/>
        </p:nvSpPr>
        <p:spPr>
          <a:xfrm>
            <a:off x="566928" y="4389120"/>
            <a:ext cx="11057839" cy="1554480"/>
          </a:xfrm>
          <a:prstGeom prst="rect">
            <a:avLst>
              <a:gd name="adj" fmla="val 4706"/>
            </a:avLst>
          </a:prstGeom>
          <a:solidFill>
            <a:srgbClr val="EEF3F1"/>
          </a:solidFill>
          <a:ln/>
        </p:spPr>
      </p:sp>
      <p:sp>
        <p:nvSpPr>
          <p:cNvPr id="19" name="Text 17"/>
          <p:cNvSpPr/>
          <p:nvPr/>
        </p:nvSpPr>
        <p:spPr>
          <a:xfrm>
            <a:off x="795528" y="4480560"/>
            <a:ext cx="5486400" cy="320040"/>
          </a:xfrm>
          <a:prstGeom prst="rect">
            <a:avLst/>
          </a:prstGeom>
          <a:noFill/>
          <a:ln/>
        </p:spPr>
        <p:txBody>
          <a:bodyPr wrap="square" rtlCol="0" anchor="ctr"/>
          <a:lstStyle/>
          <a:p>
            <a:pPr indent="0" marL="0">
              <a:buNone/>
            </a:pPr>
            <a:r>
              <a:rPr lang="en-US" sz="1400" b="1" dirty="0">
                <a:solidFill>
                  <a:srgbClr val="0F6F5C"/>
                </a:solidFill>
                <a:latin typeface="맑은 고딕" pitchFamily="34" charset="0"/>
                <a:ea typeface="맑은 고딕" pitchFamily="34" charset="-122"/>
                <a:cs typeface="맑은 고딕" pitchFamily="34" charset="-120"/>
              </a:rPr>
              <a:t>로드맵</a:t>
            </a:r>
            <a:endParaRPr lang="en-US" sz="1400" dirty="0"/>
          </a:p>
        </p:txBody>
      </p:sp>
      <p:sp>
        <p:nvSpPr>
          <p:cNvPr id="20" name="Text 18"/>
          <p:cNvSpPr/>
          <p:nvPr/>
        </p:nvSpPr>
        <p:spPr>
          <a:xfrm>
            <a:off x="795528" y="4800600"/>
            <a:ext cx="10600639" cy="1051560"/>
          </a:xfrm>
          <a:prstGeom prst="rect">
            <a:avLst/>
          </a:prstGeom>
          <a:noFill/>
          <a:ln/>
        </p:spPr>
        <p:txBody>
          <a:bodyPr wrap="square" rtlCol="0" anchor="t"/>
          <a:lstStyle/>
          <a:p>
            <a:pPr indent="0" marL="0">
              <a:lnSpc>
                <a:spcPct val="125000"/>
              </a:lnSpc>
              <a:buNone/>
            </a:pPr>
            <a:r>
              <a:rPr lang="en-US" sz="1200" b="1" dirty="0">
                <a:solidFill>
                  <a:srgbClr val="15202B"/>
                </a:solidFill>
                <a:latin typeface="맑은 고딕" pitchFamily="34" charset="0"/>
                <a:ea typeface="맑은 고딕" pitchFamily="34" charset="-122"/>
                <a:cs typeface="맑은 고딕" pitchFamily="34" charset="-120"/>
              </a:rPr>
              <a:t>즉시 (제출 전)  </a:t>
            </a:r>
            <a:pPr indent="0" marL="0">
              <a:lnSpc>
                <a:spcPct val="125000"/>
              </a:lnSpc>
              <a:buNone/>
            </a:pPr>
            <a:r>
              <a:rPr lang="en-US" sz="1150" dirty="0">
                <a:solidFill>
                  <a:srgbClr val="5B5B6B"/>
                </a:solidFill>
                <a:latin typeface="맑은 고딕" pitchFamily="34" charset="0"/>
                <a:ea typeface="맑은 고딕" pitchFamily="34" charset="-122"/>
                <a:cs typeface="맑은 고딕" pitchFamily="34" charset="-120"/>
              </a:rPr>
              <a:t>슈팅 로지스틱 이관 · 전역 clamp · 패스 리시버항 · 드리블 재계수 · σ=3 → constants.js
</a:t>
            </a:r>
            <a:pPr indent="0" marL="0">
              <a:lnSpc>
                <a:spcPct val="125000"/>
              </a:lnSpc>
              <a:buNone/>
            </a:pPr>
            <a:r>
              <a:rPr lang="en-US" sz="1200" b="1" dirty="0">
                <a:solidFill>
                  <a:srgbClr val="15202B"/>
                </a:solidFill>
                <a:latin typeface="맑은 고딕" pitchFamily="34" charset="0"/>
                <a:ea typeface="맑은 고딕" pitchFamily="34" charset="-122"/>
                <a:cs typeface="맑은 고딕" pitchFamily="34" charset="-120"/>
              </a:rPr>
              <a:t>차기  </a:t>
            </a:r>
            <a:pPr indent="0" marL="0">
              <a:lnSpc>
                <a:spcPct val="125000"/>
              </a:lnSpc>
              <a:buNone/>
            </a:pPr>
            <a:r>
              <a:rPr lang="en-US" sz="1150" dirty="0">
                <a:solidFill>
                  <a:srgbClr val="5B5B6B"/>
                </a:solidFill>
                <a:latin typeface="맑은 고딕" pitchFamily="34" charset="0"/>
                <a:ea typeface="맑은 고딕" pitchFamily="34" charset="-122"/>
                <a:cs typeface="맑은 고딕" pitchFamily="34" charset="-120"/>
              </a:rPr>
              <a:t>xT 그리드 + PlanScore 표시 · 궤적 매칭 튜토리얼 연결
</a:t>
            </a:r>
            <a:pPr indent="0" marL="0">
              <a:lnSpc>
                <a:spcPct val="125000"/>
              </a:lnSpc>
              <a:buNone/>
            </a:pPr>
            <a:r>
              <a:rPr lang="en-US" sz="1200" b="1" dirty="0">
                <a:solidFill>
                  <a:srgbClr val="15202B"/>
                </a:solidFill>
                <a:latin typeface="맑은 고딕" pitchFamily="34" charset="0"/>
                <a:ea typeface="맑은 고딕" pitchFamily="34" charset="-122"/>
                <a:cs typeface="맑은 고딕" pitchFamily="34" charset="-120"/>
              </a:rPr>
              <a:t>보류 (데이터 대기)  </a:t>
            </a:r>
            <a:pPr indent="0" marL="0">
              <a:lnSpc>
                <a:spcPct val="125000"/>
              </a:lnSpc>
              <a:buNone/>
            </a:pPr>
            <a:r>
              <a:rPr lang="en-US" sz="1150" dirty="0">
                <a:solidFill>
                  <a:srgbClr val="5B5B6B"/>
                </a:solidFill>
                <a:latin typeface="맑은 고딕" pitchFamily="34" charset="0"/>
                <a:ea typeface="맑은 고딕" pitchFamily="34" charset="-122"/>
                <a:cs typeface="맑은 고딕" pitchFamily="34" charset="-120"/>
              </a:rPr>
              <a:t>곡선 κ 트릭샷 항 · tackle 스탯 스케일 · finishing/heading 슛 분기</a:t>
            </a:r>
            <a:endParaRPr lang="en-US" sz="1200" dirty="0"/>
          </a:p>
        </p:txBody>
      </p:sp>
      <p:sp>
        <p:nvSpPr>
          <p:cNvPr id="22" name="Text 19"/>
          <p:cNvSpPr/>
          <p:nvPr/>
        </p:nvSpPr>
        <p:spPr>
          <a:xfrm>
            <a:off x="566928" y="6473952"/>
            <a:ext cx="7315200" cy="274320"/>
          </a:xfrm>
          <a:prstGeom prst="rect">
            <a:avLst/>
          </a:prstGeom>
          <a:noFill/>
          <a:ln/>
        </p:spPr>
        <p:txBody>
          <a:bodyPr wrap="square" rtlCol="0" anchor="ctr"/>
          <a:lstStyle/>
          <a:p>
            <a:pPr algn="l" indent="0" marL="0">
              <a:buNone/>
            </a:pPr>
            <a:r>
              <a:rPr lang="en-US" sz="800" dirty="0">
                <a:solidFill>
                  <a:srgbClr val="8A94A6"/>
                </a:solidFill>
                <a:latin typeface="맑은 고딕" pitchFamily="34" charset="0"/>
                <a:ea typeface="맑은 고딕" pitchFamily="34" charset="-122"/>
                <a:cs typeface="맑은 고딕" pitchFamily="34" charset="-120"/>
              </a:rPr>
              <a:t>터치라인 확률 엔진 v2</a:t>
            </a:r>
            <a:pPr algn="l" indent="0" marL="0">
              <a:buNone/>
            </a:pPr>
            <a:r>
              <a:rPr lang="en-US" sz="800" dirty="0">
                <a:solidFill>
                  <a:srgbClr val="8A94A6"/>
                </a:solidFill>
                <a:latin typeface="맑은 고딕" pitchFamily="34" charset="0"/>
                <a:ea typeface="맑은 고딕" pitchFamily="34" charset="-122"/>
                <a:cs typeface="맑은 고딕" pitchFamily="34" charset="-120"/>
              </a:rPr>
              <a:t>   ·   팀 내부 핸드오프</a:t>
            </a:r>
            <a:endParaRPr lang="en-US" sz="800" dirty="0"/>
          </a:p>
        </p:txBody>
      </p:sp>
      <p:sp>
        <p:nvSpPr>
          <p:cNvPr id="23" name="Text 20"/>
          <p:cNvSpPr/>
          <p:nvPr/>
        </p:nvSpPr>
        <p:spPr>
          <a:xfrm>
            <a:off x="11185855" y="6473952"/>
            <a:ext cx="457200" cy="274320"/>
          </a:xfrm>
          <a:prstGeom prst="rect">
            <a:avLst/>
          </a:prstGeom>
          <a:noFill/>
          <a:ln/>
        </p:spPr>
        <p:txBody>
          <a:bodyPr wrap="square" rtlCol="0" anchor="ctr"/>
          <a:lstStyle/>
          <a:p>
            <a:pPr algn="r" indent="0" marL="0">
              <a:buNone/>
            </a:pPr>
            <a:r>
              <a:rPr lang="en-US" sz="900" dirty="0">
                <a:solidFill>
                  <a:srgbClr val="8A94A6"/>
                </a:solidFill>
                <a:latin typeface="맑은 고딕" pitchFamily="34" charset="0"/>
                <a:ea typeface="맑은 고딕" pitchFamily="34" charset="-122"/>
                <a:cs typeface="맑은 고딕"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202B"/>
        </a:solidFill>
      </p:bgPr>
    </p:bg>
    <p:spTree>
      <p:nvGrpSpPr>
        <p:cNvPr id="1" name=""/>
        <p:cNvGrpSpPr/>
        <p:nvPr/>
      </p:nvGrpSpPr>
      <p:grpSpPr>
        <a:xfrm>
          <a:off x="0" y="0"/>
          <a:ext cx="0" cy="0"/>
          <a:chOff x="0" y="0"/>
          <a:chExt cx="0" cy="0"/>
        </a:xfrm>
      </p:grpSpPr>
      <p:sp>
        <p:nvSpPr>
          <p:cNvPr id="3" name="Shape 0"/>
          <p:cNvSpPr/>
          <p:nvPr/>
        </p:nvSpPr>
        <p:spPr>
          <a:xfrm>
            <a:off x="566928" y="548640"/>
            <a:ext cx="128016" cy="475488"/>
          </a:xfrm>
          <a:prstGeom prst="rect">
            <a:avLst/>
          </a:prstGeom>
          <a:solidFill>
            <a:srgbClr val="0F6F5C"/>
          </a:solidFill>
          <a:ln/>
        </p:spPr>
      </p:sp>
      <p:sp>
        <p:nvSpPr>
          <p:cNvPr id="4" name="Text 1"/>
          <p:cNvSpPr/>
          <p:nvPr/>
        </p:nvSpPr>
        <p:spPr>
          <a:xfrm>
            <a:off x="822960" y="475488"/>
            <a:ext cx="10058400" cy="228600"/>
          </a:xfrm>
          <a:prstGeom prst="rect">
            <a:avLst/>
          </a:prstGeom>
          <a:noFill/>
          <a:ln/>
        </p:spPr>
        <p:txBody>
          <a:bodyPr wrap="square" rtlCol="0" anchor="ctr"/>
          <a:lstStyle/>
          <a:p>
            <a:pPr indent="0" marL="0">
              <a:buNone/>
            </a:pPr>
            <a:r>
              <a:rPr lang="en-US" sz="1100" b="1" spc="200" kern="0" dirty="0">
                <a:solidFill>
                  <a:srgbClr val="0F6F5C"/>
                </a:solidFill>
                <a:latin typeface="맑은 고딕" pitchFamily="34" charset="0"/>
                <a:ea typeface="맑은 고딕" pitchFamily="34" charset="-122"/>
                <a:cs typeface="맑은 고딕" pitchFamily="34" charset="-120"/>
              </a:rPr>
              <a:t>LIMITS &amp; SOURCES</a:t>
            </a:r>
            <a:endParaRPr lang="en-US" sz="1100" dirty="0"/>
          </a:p>
        </p:txBody>
      </p:sp>
      <p:sp>
        <p:nvSpPr>
          <p:cNvPr id="5" name="Text 2"/>
          <p:cNvSpPr/>
          <p:nvPr/>
        </p:nvSpPr>
        <p:spPr>
          <a:xfrm>
            <a:off x="813816" y="667512"/>
            <a:ext cx="10972800" cy="502920"/>
          </a:xfrm>
          <a:prstGeom prst="rect">
            <a:avLst/>
          </a:prstGeom>
          <a:noFill/>
          <a:ln/>
        </p:spPr>
        <p:txBody>
          <a:bodyPr wrap="square" rtlCol="0" anchor="ctr"/>
          <a:lstStyle/>
          <a:p>
            <a:pPr indent="0" marL="0">
              <a:buNone/>
            </a:pPr>
            <a:r>
              <a:rPr lang="en-US" sz="2500" b="1" dirty="0">
                <a:solidFill>
                  <a:srgbClr val="FFFFFF"/>
                </a:solidFill>
                <a:latin typeface="맑은 고딕" pitchFamily="34" charset="0"/>
                <a:ea typeface="맑은 고딕" pitchFamily="34" charset="-122"/>
                <a:cs typeface="맑은 고딕" pitchFamily="34" charset="-120"/>
              </a:rPr>
              <a:t>리서치 공백 &amp; 출처</a:t>
            </a:r>
            <a:endParaRPr lang="en-US" sz="2500" dirty="0"/>
          </a:p>
        </p:txBody>
      </p:sp>
      <p:sp>
        <p:nvSpPr>
          <p:cNvPr id="6" name="Text 3"/>
          <p:cNvSpPr/>
          <p:nvPr/>
        </p:nvSpPr>
        <p:spPr>
          <a:xfrm>
            <a:off x="612648" y="1554480"/>
            <a:ext cx="11057839" cy="1920240"/>
          </a:xfrm>
          <a:prstGeom prst="rect">
            <a:avLst/>
          </a:prstGeom>
          <a:noFill/>
          <a:ln/>
        </p:spPr>
        <p:txBody>
          <a:bodyPr wrap="square" rtlCol="0" anchor="t"/>
          <a:lstStyle/>
          <a:p>
            <a:pPr indent="0" marL="0">
              <a:lnSpc>
                <a:spcPct val="125000"/>
              </a:lnSpc>
              <a:buNone/>
            </a:pPr>
            <a:r>
              <a:rPr lang="en-US" sz="1400" b="1" dirty="0">
                <a:solidFill>
                  <a:srgbClr val="B23A48"/>
                </a:solidFill>
                <a:latin typeface="맑은 고딕" pitchFamily="34" charset="0"/>
                <a:ea typeface="맑은 고딕" pitchFamily="34" charset="-122"/>
                <a:cs typeface="맑은 고딕" pitchFamily="34" charset="-120"/>
              </a:rPr>
              <a:t>정직하게 남기는 한계</a:t>
            </a:r>
            <a:endParaRPr lang="en-US" sz="1400" dirty="0"/>
          </a:p>
          <a:p>
            <a:pPr indent="0" marL="0">
              <a:lnSpc>
                <a:spcPct val="125000"/>
              </a:lnSpc>
              <a:buNone/>
            </a:pPr>
            <a:r>
              <a:rPr lang="en-US" sz="1200" dirty="0">
                <a:solidFill>
                  <a:srgbClr val="D6E3DE"/>
                </a:solidFill>
                <a:latin typeface="맑은 고딕" pitchFamily="34" charset="0"/>
                <a:ea typeface="맑은 고딕" pitchFamily="34" charset="-122"/>
                <a:cs typeface="맑은 고딕" pitchFamily="34" charset="-120"/>
              </a:rPr>
              <a:t>· FM 1~20→확률 매핑: 검증 통과 주장 0건. 하한 0.3은 게임디자인 floor(문헌 근거 아님).</a:t>
            </a:r>
            <a:endParaRPr lang="en-US" sz="1400" dirty="0"/>
          </a:p>
          <a:p>
            <a:pPr indent="0" marL="0">
              <a:lnSpc>
                <a:spcPct val="125000"/>
              </a:lnSpc>
              <a:buNone/>
            </a:pPr>
            <a:r>
              <a:rPr lang="en-US" sz="1200" dirty="0">
                <a:solidFill>
                  <a:srgbClr val="D6E3DE"/>
                </a:solidFill>
                <a:latin typeface="맑은 고딕" pitchFamily="34" charset="0"/>
                <a:ea typeface="맑은 고딕" pitchFamily="34" charset="-122"/>
                <a:cs typeface="맑은 고딕" pitchFamily="34" charset="-120"/>
              </a:rPr>
              <a:t>· 드리블 리그평균 %·능력치 곡선 미확보. base rate ~50%는 근사.</a:t>
            </a:r>
            <a:endParaRPr lang="en-US" sz="1400" dirty="0"/>
          </a:p>
          <a:p>
            <a:pPr indent="0" marL="0">
              <a:lnSpc>
                <a:spcPct val="125000"/>
              </a:lnSpc>
              <a:buNone/>
            </a:pPr>
            <a:r>
              <a:rPr lang="en-US" sz="1200" dirty="0">
                <a:solidFill>
                  <a:srgbClr val="D6E3DE"/>
                </a:solidFill>
                <a:latin typeface="맑은 고딕" pitchFamily="34" charset="0"/>
                <a:ea typeface="맑은 고딕" pitchFamily="34" charset="-122"/>
                <a:cs typeface="맑은 고딕" pitchFamily="34" charset="-120"/>
              </a:rPr>
              <a:t>· xG β는 우리 피치 앵커 fit값 (논문 복붙 아님) → 플레이테스트로 조정.</a:t>
            </a:r>
            <a:endParaRPr lang="en-US" sz="1400" dirty="0"/>
          </a:p>
          <a:p>
            <a:pPr indent="0" marL="0">
              <a:lnSpc>
                <a:spcPct val="125000"/>
              </a:lnSpc>
              <a:buNone/>
            </a:pPr>
            <a:r>
              <a:rPr lang="en-US" sz="1200" dirty="0">
                <a:solidFill>
                  <a:srgbClr val="D6E3DE"/>
                </a:solidFill>
                <a:latin typeface="맑은 고딕" pitchFamily="34" charset="0"/>
                <a:ea typeface="맑은 고딕" pitchFamily="34" charset="-122"/>
                <a:cs typeface="맑은 고딕" pitchFamily="34" charset="-120"/>
              </a:rPr>
              <a:t>· σ=0.45s 인터셉트(물리 타임스케일)는 소프트 프레셔로 흡수, 도입 보류.</a:t>
            </a:r>
            <a:endParaRPr lang="en-US" sz="1400" dirty="0"/>
          </a:p>
        </p:txBody>
      </p:sp>
      <p:sp>
        <p:nvSpPr>
          <p:cNvPr id="7" name="Text 4"/>
          <p:cNvSpPr/>
          <p:nvPr/>
        </p:nvSpPr>
        <p:spPr>
          <a:xfrm>
            <a:off x="612648" y="3657600"/>
            <a:ext cx="5486400" cy="274320"/>
          </a:xfrm>
          <a:prstGeom prst="rect">
            <a:avLst/>
          </a:prstGeom>
          <a:noFill/>
          <a:ln/>
        </p:spPr>
        <p:txBody>
          <a:bodyPr wrap="square" rtlCol="0" anchor="ctr"/>
          <a:lstStyle/>
          <a:p>
            <a:pPr indent="0" marL="0">
              <a:buNone/>
            </a:pPr>
            <a:r>
              <a:rPr lang="en-US" sz="1300" b="1" dirty="0">
                <a:solidFill>
                  <a:srgbClr val="0F6F5C"/>
                </a:solidFill>
                <a:latin typeface="맑은 고딕" pitchFamily="34" charset="0"/>
                <a:ea typeface="맑은 고딕" pitchFamily="34" charset="-122"/>
                <a:cs typeface="맑은 고딕" pitchFamily="34" charset="-120"/>
              </a:rPr>
              <a:t>핵심 출처</a:t>
            </a:r>
            <a:endParaRPr lang="en-US" sz="1300" dirty="0"/>
          </a:p>
        </p:txBody>
      </p:sp>
      <p:sp>
        <p:nvSpPr>
          <p:cNvPr id="8" name="Text 5"/>
          <p:cNvSpPr/>
          <p:nvPr/>
        </p:nvSpPr>
        <p:spPr>
          <a:xfrm>
            <a:off x="612648" y="3977640"/>
            <a:ext cx="11057839" cy="2103120"/>
          </a:xfrm>
          <a:prstGeom prst="rect">
            <a:avLst/>
          </a:prstGeom>
          <a:noFill/>
          <a:ln/>
        </p:spPr>
        <p:txBody>
          <a:bodyPr wrap="square" rtlCol="0" anchor="t"/>
          <a:lstStyle/>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Wikipedia / mckayjohns / metricgate — xG 로지스틱, 페널티 0.76</a:t>
            </a:r>
            <a:endParaRPr lang="en-US" sz="1050" dirty="0"/>
          </a:p>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American Soccer Analysis — xPass 75% 기준선</a:t>
            </a:r>
            <a:endParaRPr lang="en-US" sz="1050" dirty="0"/>
          </a:p>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StatsBomb xPass · Hudl xPass360 · Anzer-Bauer(AUC 0.934) — 소프트 프레셔</a:t>
            </a:r>
            <a:endParaRPr lang="en-US" sz="1050" dirty="0"/>
          </a:p>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Spearman et al. MIT Sloan 2017 — 인터셉트 로지스틱</a:t>
            </a:r>
            <a:endParaRPr lang="en-US" sz="1050" dirty="0"/>
          </a:p>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Oonk et al. 2025 (J. Sports Sci.) — 1v1 상호작용</a:t>
            </a:r>
            <a:endParaRPr lang="en-US" sz="1050" dirty="0"/>
          </a:p>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Karun Singh xT · Fernández EPV 2021 — 가법 가치</a:t>
            </a:r>
            <a:endParaRPr lang="en-US" sz="1050" dirty="0"/>
          </a:p>
          <a:p>
            <a:pPr marL="127000" indent="-127000">
              <a:lnSpc>
                <a:spcPct val="105000"/>
              </a:lnSpc>
              <a:spcAft>
                <a:spcPts val="400"/>
              </a:spcAft>
              <a:buSzPct val="100000"/>
              <a:buChar char="•"/>
            </a:pPr>
            <a:r>
              <a:rPr lang="en-US" sz="1050" dirty="0">
                <a:solidFill>
                  <a:srgbClr val="8A94A6"/>
                </a:solidFill>
                <a:latin typeface="맑은 고딕" pitchFamily="34" charset="0"/>
                <a:ea typeface="맑은 고딕" pitchFamily="34" charset="-122"/>
                <a:cs typeface="맑은 고딕" pitchFamily="34" charset="-120"/>
              </a:rPr>
              <a:t>Wobbrock $1 Recognizer — 궤적 리샘플·매칭</a:t>
            </a:r>
            <a:endParaRPr lang="en-US" sz="1050" dirty="0"/>
          </a:p>
        </p:txBody>
      </p:sp>
      <p:sp>
        <p:nvSpPr>
          <p:cNvPr id="9" name="Text 6"/>
          <p:cNvSpPr/>
          <p:nvPr/>
        </p:nvSpPr>
        <p:spPr>
          <a:xfrm>
            <a:off x="612648" y="6172200"/>
            <a:ext cx="10972800" cy="274320"/>
          </a:xfrm>
          <a:prstGeom prst="rect">
            <a:avLst/>
          </a:prstGeom>
          <a:noFill/>
          <a:ln/>
        </p:spPr>
        <p:txBody>
          <a:bodyPr wrap="square" rtlCol="0" anchor="ctr"/>
          <a:lstStyle/>
          <a:p>
            <a:pPr indent="0" marL="0">
              <a:buNone/>
            </a:pPr>
            <a:r>
              <a:rPr lang="en-US" sz="1000" i="1" dirty="0">
                <a:solidFill>
                  <a:srgbClr val="3A4A55"/>
                </a:solidFill>
                <a:latin typeface="맑은 고딕" pitchFamily="34" charset="0"/>
                <a:ea typeface="맑은 고딕" pitchFamily="34" charset="-122"/>
                <a:cs typeface="맑은 고딕" pitchFamily="34" charset="-120"/>
              </a:rPr>
              <a:t>딥리서치 하네스 · 109 에이전트 · 26 소스 · 적대적 3표 검증 · 계수 node 검증</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2026-07-18T03:21:00Z</dcterms:created>
  <dcterms:modified xsi:type="dcterms:W3CDTF">2026-07-18T03:21:00Z</dcterms:modified>
</cp:coreProperties>
</file>